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9ff2433-58fd-3a3e-33c5-897aead918d5}">
          <p14:sldIdLst>
            <p14:sldId id="256"/>
            <p14:sldId id="257"/>
          </p14:sldIdLst>
        </p14:section>
        <p14:section name="Background" id="{42e342b0-e69d-3e09-cf37-d7507e6fa28d}">
          <p14:sldIdLst>
            <p14:sldId id="258"/>
            <p14:sldId id="259"/>
            <p14:sldId id="260"/>
          </p14:sldIdLst>
        </p14:section>
        <p14:section name="Method" id="{fcdd7b7d-7fa4-a2f4-0cc7-d9ea1f94ee96}">
          <p14:sldIdLst>
            <p14:sldId id="261"/>
            <p14:sldId id="262"/>
          </p14:sldIdLst>
        </p14:section>
        <p14:section name="Results" id="{01c3f8a8-2273-f52f-881f-4dfdec296084}">
          <p14:sldIdLst>
            <p14:sldId id="263"/>
            <p14:sldId id="264"/>
            <p14:sldId id="265"/>
            <p14:sldId id="266"/>
          </p14:sldIdLst>
        </p14:section>
        <p14:section name="Close" id="{e81f357b-381f-8611-f97b-5a5a47e9ae9d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10847457627118644"/>
          <c:w val="1"/>
          <c:h val="0.73898305084745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9C0E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A2433"/>
                    </a:solidFill>
                    <a:latin typeface="Char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E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83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4F9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explanation</c:v>
                  </c:pt>
                  <c:pt idx="1">
                    <c:v>Confidence score</c:v>
                  </c:pt>
                  <c:pt idx="2">
                    <c:v>Reasons</c:v>
                  </c:pt>
                  <c:pt idx="3">
                    <c:v>Reasons + confidence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52</c:v>
                </c:pt>
                <c:pt idx="2">
                  <c:v>63</c:v>
                </c:pt>
                <c:pt idx="3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1A2433"/>
                  </a:solidFill>
                  <a:latin typeface="Char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5F6B7A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65264"/>
                </a:solidFill>
                <a:latin typeface="Serave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 w="12700" cap="flat">
            <a:solidFill>
              <a:srgbClr val="5F6B7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Seravek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970" cy="4063959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61970" y="761970"/>
            <a:ext cx="8889980" cy="254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440"/>
              </a:lnSpc>
              <a:buNone/>
              <a:defRPr lang="en-US" sz="1200" b="1" spc="150" kern="0" dirty="0">
                <a:solidFill>
                  <a:srgbClr val="A9C0E0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A9C0E0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EVENT · YEAR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1970" y="1143000"/>
            <a:ext cx="10159990" cy="215899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5616"/>
              </a:lnSpc>
              <a:buNone/>
              <a:defRPr lang="en-US" sz="52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Talk title</a:t>
            </a:r>
            <a:endParaRPr lang="en-US" sz="5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61970" y="3460730"/>
            <a:ext cx="10159990" cy="3810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280"/>
              </a:lnSpc>
              <a:buNone/>
              <a:defRPr lang="en-US" sz="1900" dirty="0">
                <a:solidFill>
                  <a:srgbClr val="DCE6F2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DCE6F2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Subtitle</a:t>
            </a:r>
            <a:endParaRPr lang="en-US" sz="1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61970" y="4572000"/>
            <a:ext cx="7619970" cy="6985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320"/>
              </a:lnSpc>
              <a:buNone/>
              <a:defRPr lang="en-US" sz="16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Affiliation</a:t>
            </a:r>
            <a:endParaRPr lang="en-US" sz="16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61970" y="5715000"/>
            <a:ext cx="7619970" cy="25402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560"/>
              </a:lnSpc>
              <a:buNone/>
              <a:defRPr lang="en-US" sz="13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Occasion · date</a:t>
            </a:r>
            <a:endParaRPr lang="en-US" sz="1300" dirty="0"/>
          </a:p>
        </p:txBody>
      </p:sp>
      <p:sp>
        <p:nvSpPr>
          <p:cNvPr id="8" name="Text 1"/>
          <p:cNvSpPr/>
          <p:nvPr>
            <p:ph idx="106" hasCustomPrompt="1"/>
          </p:nvPr>
        </p:nvSpPr>
        <p:spPr>
          <a:xfrm>
            <a:off x="9144000" y="4572000"/>
            <a:ext cx="2286000" cy="1270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Logo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D4F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5B83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A9C0E0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761970" y="1587490"/>
            <a:ext cx="3810030" cy="127001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9000"/>
              </a:lnSpc>
              <a:buNone/>
              <a:defRPr lang="en-US" sz="9000" b="1" dirty="0">
                <a:solidFill>
                  <a:srgbClr val="A9C0E0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A9C0E0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761970" y="2984510"/>
            <a:ext cx="10159990" cy="10159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6825"/>
              </a:lnSpc>
              <a:buNone/>
              <a:defRPr lang="en-US" sz="6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6825"/>
              </a:lnSpc>
              <a:buNone/>
            </a:pPr>
            <a:r>
              <a:rPr lang="en-US" sz="6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Section title</a:t>
            </a:r>
            <a:endParaRPr lang="en-US" sz="65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1970" y="4190970"/>
            <a:ext cx="8889980" cy="761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730"/>
              </a:lnSpc>
              <a:buNone/>
              <a:defRPr lang="en-US" sz="2100" dirty="0">
                <a:solidFill>
                  <a:srgbClr val="DCE6F2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DCE6F2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What this part answers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C0E0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70" y="1904970"/>
            <a:ext cx="5206959" cy="4063959"/>
          </a:xfrm>
          <a:prstGeom prst="rect">
            <a:avLst/>
          </a:prstGeom>
          <a:solidFill>
            <a:srgbClr val="F3F6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970" y="1904970"/>
            <a:ext cx="5206959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23041" y="1904970"/>
            <a:ext cx="5206959" cy="4063959"/>
          </a:xfrm>
          <a:prstGeom prst="rect">
            <a:avLst/>
          </a:prstGeom>
          <a:solidFill>
            <a:srgbClr val="F3F6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23041" y="1904970"/>
            <a:ext cx="5206959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117580" y="2540020"/>
            <a:ext cx="44958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117580" y="3619470"/>
            <a:ext cx="449583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5"/>
              </a:lnSpc>
              <a:buNone/>
              <a:def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Column text</a:t>
            </a:r>
            <a:endParaRPr lang="en-US" sz="1500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578559" y="2540020"/>
            <a:ext cx="44958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530"/>
              </a:lnSpc>
              <a:buNone/>
              <a:defRPr lang="en-US" sz="22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Column heading</a:t>
            </a:r>
            <a:endParaRPr lang="en-US" sz="2200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578559" y="3619470"/>
            <a:ext cx="4495830" cy="16510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75"/>
              </a:lnSpc>
              <a:buNone/>
              <a:def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Column text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6" name="Text 3"/>
          <p:cNvSpPr/>
          <p:nvPr>
            <p:ph idx="104" hasCustomPrompt="1"/>
          </p:nvPr>
        </p:nvSpPr>
        <p:spPr>
          <a:xfrm>
            <a:off x="761970" y="1904970"/>
            <a:ext cx="7112020" cy="4000500"/>
          </a:xfrm>
          <a:prstGeom prst="rect">
            <a:avLst/>
          </a:prstGeom>
          <a:noFill/>
          <a:ln w="12700">
            <a:solidFill>
              <a:srgbClr val="E1E6EE"/>
            </a:solidFill>
          </a:ln>
        </p:spPr>
        <p:txBody>
          <a:bodyPr wrap="square" rtlCol="0" lIns="0" tIns="0" rIns="0" bIns="0" anchor="t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255020" y="2286000"/>
            <a:ext cx="3174980" cy="330199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2100"/>
              </a:lnSpc>
              <a:buNone/>
              <a:defRPr lang="en-US" sz="14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Caption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761970" y="1587490"/>
            <a:ext cx="6349959" cy="215899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15000"/>
              </a:lnSpc>
              <a:buNone/>
              <a:defRPr lang="en-US" sz="150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68%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985010" y="1904970"/>
            <a:ext cx="4444990" cy="152403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2875"/>
              </a:lnSpc>
              <a:buNone/>
              <a:defRPr lang="en-US" sz="23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What the number means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1970" y="2095530"/>
            <a:ext cx="63459" cy="2413010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1143000" y="2031980"/>
            <a:ext cx="9905970" cy="1904970"/>
          </a:xfrm>
          <a:prstGeom prst="rect">
            <a:avLst/>
          </a:prstGeom>
          <a:noFill/>
          <a:ln/>
        </p:spPr>
        <p:txBody>
          <a:bodyPr wrap="square" rtlCol="0" lIns="0" tIns="0" rIns="0" bIns="0" anchor="ctr"/>
          <a:lstStyle>
            <a:lvl1pPr algn="l" indent="0" marL="0">
              <a:lnSpc>
                <a:spcPts val="5290"/>
              </a:lnSpc>
              <a:buNone/>
              <a:defRPr lang="en-US" sz="4600" i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5290"/>
              </a:lnSpc>
              <a:buNone/>
            </a:pPr>
            <a:r>
              <a:rPr lang="en-US" sz="4600" i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Quote</a:t>
            </a:r>
            <a:endParaRPr lang="en-US" sz="4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143000" y="4127510"/>
            <a:ext cx="9525030" cy="279441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1800"/>
              </a:lnSpc>
              <a:buNone/>
              <a:def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— Source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558790"/>
            <a:ext cx="457200" cy="50841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1970" y="628650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1970" y="6388090"/>
            <a:ext cx="825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 · Trust in algorithmic advice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300"/>
              </a:lnSpc>
              <a:buNone/>
              <a:def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761970" y="1904970"/>
            <a:ext cx="10668030" cy="419097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-355600" marL="355600">
              <a:lnSpc>
                <a:spcPts val="2100"/>
              </a:lnSpc>
              <a:spcAft>
                <a:spcPts val="1200"/>
              </a:spcAft>
              <a:buNone/>
              <a:def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defRPr>
            </a:lvl1pPr>
          </a:lstStyle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Author, A. (Year). Title. Journal, Volume(Issue),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970" cy="4063959"/>
          </a:xfrm>
          <a:prstGeom prst="rect">
            <a:avLst/>
          </a:prstGeom>
          <a:solidFill>
            <a:srgbClr val="1D4F9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61970" y="1460480"/>
            <a:ext cx="10159990" cy="1270010"/>
          </a:xfrm>
          <a:prstGeom prst="rect">
            <a:avLst/>
          </a:prstGeom>
          <a:noFill/>
          <a:ln/>
        </p:spPr>
        <p:txBody>
          <a:bodyPr wrap="square" rtlCol="0" lIns="0" tIns="0" rIns="0" bIns="0" anchor="b"/>
          <a:lstStyle>
            <a:lvl1pPr algn="l" indent="0" marL="0">
              <a:lnSpc>
                <a:spcPts val="7500"/>
              </a:lnSpc>
              <a:buNone/>
              <a:defRPr lang="en-US" sz="7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1970" y="2920959"/>
            <a:ext cx="10159990" cy="571500"/>
          </a:xfrm>
          <a:prstGeom prst="rect">
            <a:avLst/>
          </a:prstGeom>
          <a:noFill/>
          <a:ln/>
        </p:spPr>
        <p:txBody>
          <a:bodyPr wrap="square" rtlCol="0" lIns="0" tIns="0" rIns="0" bIns="0" anchor="t"/>
          <a:lstStyle>
            <a:lvl1pPr algn="l" indent="0" marL="0">
              <a:lnSpc>
                <a:spcPts val="3840"/>
              </a:lnSpc>
              <a:buNone/>
              <a:defRPr lang="en-US" sz="3200" dirty="0">
                <a:solidFill>
                  <a:srgbClr val="A9C0E0"/>
                </a:solidFill>
                <a:latin typeface="Charter" pitchFamily="34" charset="0"/>
                <a:ea typeface="Charter" pitchFamily="34" charset="-122"/>
                <a:cs typeface="Charter" pitchFamily="34" charset="-120"/>
              </a:defRPr>
            </a:lvl1pPr>
          </a:lstStyle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A9C0E0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Questions?</a:t>
            </a: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61970" y="761970"/>
            <a:ext cx="888998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spc="150" kern="0" dirty="0">
                <a:solidFill>
                  <a:srgbClr val="A9C0E0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CONFERENCE NAME · 2026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761970" y="1143000"/>
            <a:ext cx="10159990" cy="2158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5616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When do people trust an algorithm?</a:t>
            </a:r>
            <a:endParaRPr lang="en-US" sz="5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761970" y="3460730"/>
            <a:ext cx="1015999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DCE6F2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Three online experiments on explanations and advice-taking</a:t>
            </a:r>
            <a:endParaRPr lang="en-US" sz="19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761970" y="4572000"/>
            <a:ext cx="761997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 Name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Department of Psychology, University Name</a:t>
            </a:r>
            <a:endParaRPr lang="en-US" sz="1600" dirty="0"/>
          </a:p>
        </p:txBody>
      </p:sp>
      <p:sp>
        <p:nvSpPr>
          <p:cNvPr id="6" name="Text 1"/>
          <p:cNvSpPr/>
          <p:nvPr>
            <p:ph idx="105" type="body" hasCustomPrompt="1"/>
          </p:nvPr>
        </p:nvSpPr>
        <p:spPr>
          <a:xfrm>
            <a:off x="761970" y="5715000"/>
            <a:ext cx="7619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Thesis defense · 18 October 2026</a:t>
            </a:r>
            <a:endParaRPr lang="en-US" sz="1300" dirty="0"/>
          </a:p>
        </p:txBody>
      </p:sp>
      <p:sp>
        <p:nvSpPr>
          <p:cNvPr id="7" name="Text 1"/>
          <p:cNvSpPr/>
          <p:nvPr>
            <p:ph idx="106" hasCustomPrompt="1"/>
          </p:nvPr>
        </p:nvSpPr>
        <p:spPr>
          <a:xfrm>
            <a:off x="9144000" y="4572000"/>
            <a:ext cx="2286000" cy="127001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Today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61970" y="1904970"/>
            <a:ext cx="82552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714500" y="1904970"/>
            <a:ext cx="571500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The puzzle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66041" y="1904970"/>
            <a:ext cx="4063959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Aversion and appreciation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1970" y="2794041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970" y="2920959"/>
            <a:ext cx="82552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714500" y="2920959"/>
            <a:ext cx="571500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Three experiments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66041" y="2920959"/>
            <a:ext cx="4063959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N = 3,412 online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1970" y="381003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1970" y="3937041"/>
            <a:ext cx="82552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714500" y="3937041"/>
            <a:ext cx="571500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What we found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66041" y="3937041"/>
            <a:ext cx="4063959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Reasons raise advice-taking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1970" y="482602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1970" y="4953030"/>
            <a:ext cx="82552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04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4953030"/>
            <a:ext cx="571500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366041" y="4953030"/>
            <a:ext cx="4063959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For design and policy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1970" y="5842010"/>
            <a:ext cx="10668030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61970" y="1587490"/>
            <a:ext cx="381003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dirty="0">
                <a:solidFill>
                  <a:srgbClr val="A9C0E0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761970" y="2984510"/>
            <a:ext cx="10159990" cy="10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6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The puzzle</a:t>
            </a:r>
            <a:endParaRPr lang="en-US" sz="65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761970" y="4190970"/>
            <a:ext cx="88899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DCE6F2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Why do people follow some algorithms and ignore others?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C0E0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Two findings that don’t fit together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7580" y="2222541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50" kern="0" dirty="0">
                <a:solidFill>
                  <a:srgbClr val="1D4F91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AVERSION</a:t>
            </a:r>
            <a:endParaRPr lang="en-US" sz="1100" dirty="0"/>
          </a:p>
        </p:txBody>
      </p:sp>
      <p:sp>
        <p:nvSpPr>
          <p:cNvPr id="4" name="Text 7"/>
          <p:cNvSpPr/>
          <p:nvPr>
            <p:ph idx="108" type="body" hasCustomPrompt="1"/>
          </p:nvPr>
        </p:nvSpPr>
        <p:spPr>
          <a:xfrm>
            <a:off x="1117580" y="2540020"/>
            <a:ext cx="44958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People abandon algorithms after seeing them err</a:t>
            </a:r>
            <a:endParaRPr lang="en-US" sz="2200" dirty="0"/>
          </a:p>
        </p:txBody>
      </p:sp>
      <p:sp>
        <p:nvSpPr>
          <p:cNvPr id="5" name="Text 7"/>
          <p:cNvSpPr/>
          <p:nvPr>
            <p:ph idx="109" type="body" hasCustomPrompt="1"/>
          </p:nvPr>
        </p:nvSpPr>
        <p:spPr>
          <a:xfrm>
            <a:off x="1117580" y="3619470"/>
            <a:ext cx="449583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After watching a forecasting algorithm make mistakes, people chose it less often, even when it still outperformed a human forecaster.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7580" y="5524530"/>
            <a:ext cx="44958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Dietvorst, Simmons &amp; Massey (2015)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78559" y="2222541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50" kern="0" dirty="0">
                <a:solidFill>
                  <a:srgbClr val="1D4F91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APPRECIATION</a:t>
            </a:r>
            <a:endParaRPr lang="en-US" sz="1100" dirty="0"/>
          </a:p>
        </p:txBody>
      </p:sp>
      <p:sp>
        <p:nvSpPr>
          <p:cNvPr id="8" name="Text 7"/>
          <p:cNvSpPr/>
          <p:nvPr>
            <p:ph idx="110" type="body" hasCustomPrompt="1"/>
          </p:nvPr>
        </p:nvSpPr>
        <p:spPr>
          <a:xfrm>
            <a:off x="6578559" y="2540020"/>
            <a:ext cx="44958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People prefer algorithmic to human advice</a:t>
            </a:r>
            <a:endParaRPr lang="en-US" sz="2200" dirty="0"/>
          </a:p>
        </p:txBody>
      </p:sp>
      <p:sp>
        <p:nvSpPr>
          <p:cNvPr id="9" name="Text 7"/>
          <p:cNvSpPr/>
          <p:nvPr>
            <p:ph idx="111" type="body" hasCustomPrompt="1"/>
          </p:nvPr>
        </p:nvSpPr>
        <p:spPr>
          <a:xfrm>
            <a:off x="6578559" y="3619470"/>
            <a:ext cx="4495830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In estimation and forecasting tasks, people weighted advice more when they thought it came from an algorithm than from a person.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78559" y="5524530"/>
            <a:ext cx="44958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i="1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Logg, Minson &amp; Moore (2019)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Our predictions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1970" y="1968520"/>
            <a:ext cx="698510" cy="698510"/>
          </a:xfrm>
          <a:prstGeom prst="rect">
            <a:avLst/>
          </a:prstGeom>
          <a:solidFill>
            <a:srgbClr val="1D4F9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1970" y="1968520"/>
            <a:ext cx="6985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777959" y="1968520"/>
            <a:ext cx="9652041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Advice that explains its reasoning is followed more often.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777959" y="2952780"/>
            <a:ext cx="9652041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970" y="3238530"/>
            <a:ext cx="698510" cy="698510"/>
          </a:xfrm>
          <a:prstGeom prst="rect">
            <a:avLst/>
          </a:prstGeom>
          <a:solidFill>
            <a:srgbClr val="1D4F9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1970" y="3238530"/>
            <a:ext cx="6985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777959" y="3238530"/>
            <a:ext cx="9652041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 confidence score adds to the effect of the reasons.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777959" y="4222791"/>
            <a:ext cx="9652041" cy="0"/>
          </a:xfrm>
          <a:prstGeom prst="line">
            <a:avLst/>
          </a:prstGeom>
          <a:noFill/>
          <a:ln w="12700">
            <a:solidFill>
              <a:srgbClr val="E1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70" y="4508541"/>
            <a:ext cx="698510" cy="698510"/>
          </a:xfrm>
          <a:prstGeom prst="rect">
            <a:avLst/>
          </a:prstGeom>
          <a:solidFill>
            <a:srgbClr val="1D4F9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1970" y="4508541"/>
            <a:ext cx="69851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77959" y="4508541"/>
            <a:ext cx="9652041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The effect holds after people see the algorithm err.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How each session 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2400300"/>
            <a:ext cx="2120859" cy="0"/>
          </a:xfrm>
          <a:prstGeom prst="line">
            <a:avLst/>
          </a:prstGeom>
          <a:noFill/>
          <a:ln w="25400">
            <a:solidFill>
              <a:srgbClr val="A9C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970" y="2095530"/>
            <a:ext cx="609630" cy="609630"/>
          </a:xfrm>
          <a:prstGeom prst="ellipse">
            <a:avLst/>
          </a:prstGeom>
          <a:solidFill>
            <a:srgbClr val="1D4F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970" y="209553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970" y="2920959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Consent and demographics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61970" y="3746480"/>
            <a:ext cx="24764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2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02090" y="2400300"/>
            <a:ext cx="2120859" cy="0"/>
          </a:xfrm>
          <a:prstGeom prst="line">
            <a:avLst/>
          </a:prstGeom>
          <a:noFill/>
          <a:ln w="25400">
            <a:solidFill>
              <a:srgbClr val="A9C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2459" y="2095530"/>
            <a:ext cx="609630" cy="609630"/>
          </a:xfrm>
          <a:prstGeom prst="ellipse">
            <a:avLst/>
          </a:prstGeom>
          <a:solidFill>
            <a:srgbClr val="1D4F9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92459" y="209553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92459" y="2920959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Practice trials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92459" y="3746480"/>
            <a:ext cx="24764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5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32580" y="2400300"/>
            <a:ext cx="2120859" cy="0"/>
          </a:xfrm>
          <a:prstGeom prst="line">
            <a:avLst/>
          </a:prstGeom>
          <a:noFill/>
          <a:ln w="25400">
            <a:solidFill>
              <a:srgbClr val="A9C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3041" y="2095530"/>
            <a:ext cx="609630" cy="609630"/>
          </a:xfrm>
          <a:prstGeom prst="ellipse">
            <a:avLst/>
          </a:prstGeom>
          <a:solidFill>
            <a:srgbClr val="1D4F9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23041" y="209553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223041" y="2920959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Advice task, 24 trials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223041" y="3746480"/>
            <a:ext cx="24764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15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53530" y="2095530"/>
            <a:ext cx="609630" cy="609630"/>
          </a:xfrm>
          <a:prstGeom prst="ellipse">
            <a:avLst/>
          </a:prstGeom>
          <a:solidFill>
            <a:srgbClr val="1D4F9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53530" y="2095530"/>
            <a:ext cx="60963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953530" y="2920959"/>
            <a:ext cx="24764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Debrief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953530" y="3746480"/>
            <a:ext cx="24764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3 min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1970" y="4635459"/>
            <a:ext cx="761997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spc="150" kern="0" dirty="0">
                <a:solidFill>
                  <a:srgbClr val="1D4F91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SESSION TIME · 25 MINUTES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1970" y="5016490"/>
            <a:ext cx="828081" cy="381030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1970" y="5016490"/>
            <a:ext cx="82808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615470" y="5016490"/>
            <a:ext cx="2108241" cy="381030"/>
          </a:xfrm>
          <a:prstGeom prst="rect">
            <a:avLst/>
          </a:prstGeom>
          <a:solidFill>
            <a:srgbClr val="A9C0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15470" y="5016490"/>
            <a:ext cx="2108241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749040" y="5016490"/>
            <a:ext cx="6375380" cy="381030"/>
          </a:xfrm>
          <a:prstGeom prst="rect">
            <a:avLst/>
          </a:prstGeom>
          <a:solidFill>
            <a:srgbClr val="1D4F9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49040" y="5016490"/>
            <a:ext cx="637538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149840" y="5016490"/>
            <a:ext cx="1254740" cy="381030"/>
          </a:xfrm>
          <a:prstGeom prst="rect">
            <a:avLst/>
          </a:prstGeom>
          <a:solidFill>
            <a:srgbClr val="5B83B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5016490"/>
            <a:ext cx="125474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61970" y="5499110"/>
            <a:ext cx="127001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525030" y="5499110"/>
            <a:ext cx="190497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25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What participants saw</a:t>
            </a:r>
            <a:endParaRPr lang="en-US" sz="3000" dirty="0"/>
          </a:p>
        </p:txBody>
      </p:sp>
      <p:pic>
        <p:nvPicPr>
          <p:cNvPr id="3" name="Image 0" descr="Advice screen from the study">    </p:cNvPr>
          <p:cNvPicPr>
            <a:picLocks noChangeAspect="1"/>
          </p:cNvPicPr>
          <p:nvPr>
            <p:ph idx="104" hasCustomPrompt="1"/>
          </p:nvPr>
        </p:nvPicPr>
        <p:blipFill>
          <a:blip r:embed="rId1"/>
          <a:srcRect l="0" r="0" t="0" b="0"/>
          <a:stretch/>
        </p:blipFill>
        <p:spPr>
          <a:xfrm>
            <a:off x="761970" y="1904970"/>
            <a:ext cx="7112020" cy="4000500"/>
          </a:xfrm>
          <a:prstGeom prst="rect">
            <a:avLst/>
          </a:prstGeom>
          <a:ln w="12700">
            <a:solidFill>
              <a:srgbClr val="E1E6EE"/>
            </a:solidFill>
          </a:ln>
        </p:spPr>
      </p:pic>
      <p:sp>
        <p:nvSpPr>
          <p:cNvPr id="4" name="Text 1"/>
          <p:cNvSpPr txBox="1"/>
          <p:nvPr/>
        </p:nvSpPr>
        <p:spPr>
          <a:xfrm>
            <a:off x="8255020" y="1904970"/>
            <a:ext cx="317498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Figure 2.</a:t>
            </a:r>
            <a:endParaRPr lang="en-US" sz="16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8255020" y="2286000"/>
            <a:ext cx="3174980" cy="330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The advice screen in the Reasons + confidence condition. On each trial, participants followed the recommendation or chose for themselves.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761970" y="1587490"/>
            <a:ext cx="6349959" cy="215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68%</a:t>
            </a:r>
            <a:endParaRPr lang="en-US" sz="15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6985010" y="1904970"/>
            <a:ext cx="4444990" cy="1524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of choices followed the algorithm when it explained its reasoning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61970" y="4317980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Reasons + confidence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61970" y="4597420"/>
            <a:ext cx="8635959" cy="279441"/>
          </a:xfrm>
          <a:prstGeom prst="rect">
            <a:avLst/>
          </a:prstGeom>
          <a:solidFill>
            <a:srgbClr val="1D4F9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25030" y="4597420"/>
            <a:ext cx="1270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4F91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68%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1970" y="5080041"/>
            <a:ext cx="4444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No explanation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1970" y="5359390"/>
            <a:ext cx="5206959" cy="279441"/>
          </a:xfrm>
          <a:prstGeom prst="rect">
            <a:avLst/>
          </a:prstGeom>
          <a:solidFill>
            <a:srgbClr val="A9C0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96030" y="5359390"/>
            <a:ext cx="127001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652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41%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61970" y="5842010"/>
            <a:ext cx="1015999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Study 2, N = 1,204 · sample 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Each layer of explanation raised advice-taking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61970" y="1841510"/>
            <a:ext cx="1015999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% of trials on which the advice was followed</a:t>
            </a:r>
            <a:endParaRPr lang="en-US" sz="1300" dirty="0"/>
          </a:p>
        </p:txBody>
      </p:sp>
      <p:graphicFrame>
        <p:nvGraphicFramePr>
          <p:cNvPr id="4" name="Bar chart" descr=""/>
          <p:cNvGraphicFramePr/>
          <p:nvPr/>
        </p:nvGraphicFramePr>
        <p:xfrm>
          <a:off x="761970" y="2222541"/>
          <a:ext cx="10668030" cy="3746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Mixed-effects logistic regression</a:t>
            </a:r>
            <a:endParaRPr lang="en-US" sz="3000" dirty="0"/>
          </a:p>
        </p:txBody>
      </p:sp>
      <p:graphicFrame>
        <p:nvGraphicFramePr>
          <p:cNvPr id="11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970" y="1904970"/>
          <a:ext cx="10668030" cy="914400"/>
        </p:xfrm>
        <a:graphic>
          <a:graphicData uri="http://schemas.openxmlformats.org/drawingml/2006/table">
            <a:tbl>
              <a:tblPr/>
              <a:tblGrid>
                <a:gridCol w="5333970"/>
                <a:gridCol w="1777959"/>
                <a:gridCol w="1777959"/>
                <a:gridCol w="1777959"/>
              </a:tblGrid>
              <a:tr h="533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Predictor</a:t>
                      </a:r>
                      <a:endParaRPr lang="en-US" sz="13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b</a:t>
                      </a:r>
                      <a:endParaRPr lang="en-US" sz="13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SE</a:t>
                      </a:r>
                      <a:endParaRPr lang="en-US" sz="13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p</a:t>
                      </a:r>
                      <a:endParaRPr lang="en-US" sz="13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Reasons (vs none)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0.94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0.12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&lt; .001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Confidence score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0.41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0.11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&lt; .001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Reasons × confidence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0.18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0.15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.23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1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Error observed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A2433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−0.62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0.14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465264"/>
                          </a:solidFill>
                          <a:latin typeface="Seravek" pitchFamily="34" charset="0"/>
                          <a:ea typeface="Seravek" pitchFamily="34" charset="-122"/>
                          <a:cs typeface="Seravek" pitchFamily="34" charset="-120"/>
                        </a:rPr>
                        <a:t>&lt; .001</a:t>
                      </a:r>
                      <a:endParaRPr lang="en-US" sz="1700" dirty="0">
                        <a:latin typeface="Seravek" charset="0"/>
                        <a:ea typeface="Seravek" charset="0"/>
                        <a:cs typeface="Seravek" charset="0"/>
                      </a:endParaRPr>
                    </a:p>
                  </a:txBody>
                  <a:tcPr marL="165141" marR="165141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D4F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1970" y="5270510"/>
            <a:ext cx="10668030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5F6B7A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Note. Random intercepts for participants and items. Sample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1143000" y="2031980"/>
            <a:ext cx="9905970" cy="1904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90"/>
              </a:lnSpc>
              <a:buNone/>
            </a:pPr>
            <a:r>
              <a:rPr lang="en-US" sz="4600" i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I’d follow it if it told me why.</a:t>
            </a:r>
            <a:endParaRPr lang="en-US" sz="4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43000" y="4127510"/>
            <a:ext cx="9525030" cy="27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— Participant 214, open response (sample)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761970" y="736641"/>
            <a:ext cx="1066803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A243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761970" y="1904970"/>
            <a:ext cx="10668030" cy="419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Burton, J. W., Stein, M.-K., &amp; Jensen, T. B. (2020). 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 systematic review of algorithm aversion in augmented decision making. </a:t>
            </a:r>
            <a:r>
              <a:rPr lang="en-US" sz="1400" i="1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Journal of Behavioral Decision Making, 33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(2), 220–239.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Castelo, N., Bos, M. W., &amp; Lehmann, D. R. (2019). 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Task-dependent algorithm aversion. </a:t>
            </a:r>
            <a:r>
              <a:rPr lang="en-US" sz="1400" i="1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Journal of Marketing Research, 56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(5), 809–825.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Dietvorst, B. J., Simmons, J. P., &amp; Massey, C. (2015). 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Algorithm aversion: People erroneously avoid algorithms after seeing them err. </a:t>
            </a:r>
            <a:r>
              <a:rPr lang="en-US" sz="1400" i="1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Journal of Experimental Psychology: General, 144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(1), 114–126.</a:t>
            </a:r>
            <a:endParaRPr lang="en-US" sz="1400" dirty="0"/>
          </a:p>
          <a:p>
            <a:pPr algn="l" indent="-355600" marL="35560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Logg, J. M., Minson, J. A., &amp; Moore, D. A. (2019). 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Algorithm appreciation: People prefer algorithmic to human judgment. </a:t>
            </a:r>
            <a:r>
              <a:rPr lang="en-US" sz="1400" i="1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Organizational Behavior and Human Decision Processes, 151</a:t>
            </a:r>
            <a:r>
              <a:rPr lang="en-US" sz="14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, 90–103.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59990" y="6388090"/>
            <a:ext cx="127001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B7A"/>
                </a:solidFill>
                <a:latin typeface="Seravek"/>
                <a:ea typeface="Seravek"/>
                <a:cs typeface="Seravek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61970" y="1460480"/>
            <a:ext cx="10159990" cy="1270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Thank you</a:t>
            </a:r>
            <a:endParaRPr lang="en-US" sz="75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61970" y="2920959"/>
            <a:ext cx="101599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A9C0E0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61970" y="4572000"/>
            <a:ext cx="7619970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A2433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speaker@university.edu</a:t>
            </a:r>
            <a:endParaRPr lang="en-US" sz="1700" dirty="0"/>
          </a:p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465264"/>
                </a:solidFill>
                <a:latin typeface="Seravek" pitchFamily="34" charset="0"/>
                <a:ea typeface="Seravek" pitchFamily="34" charset="-122"/>
                <a:cs typeface="Seravek" pitchFamily="34" charset="-120"/>
              </a:rPr>
              <a:t>yourlab.org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ittee">
  <a:themeElements>
    <a:clrScheme name="Committee">
      <a:dk1>
        <a:srgbClr val="1A2433"/>
      </a:dk1>
      <a:lt1>
        <a:srgbClr val="FFFFFF"/>
      </a:lt1>
      <a:dk2>
        <a:srgbClr val="1D4F91"/>
      </a:dk2>
      <a:lt2>
        <a:srgbClr val="F3F6FB"/>
      </a:lt2>
      <a:accent1>
        <a:srgbClr val="1D4F91"/>
      </a:accent1>
      <a:accent2>
        <a:srgbClr val="5B83BC"/>
      </a:accent2>
      <a:accent3>
        <a:srgbClr val="A9C0E0"/>
      </a:accent3>
      <a:accent4>
        <a:srgbClr val="C2410C"/>
      </a:accent4>
      <a:accent5>
        <a:srgbClr val="2F855A"/>
      </a:accent5>
      <a:accent6>
        <a:srgbClr val="6B46C1"/>
      </a:accent6>
      <a:hlink>
        <a:srgbClr val="1D4F91"/>
      </a:hlink>
      <a:folHlink>
        <a:srgbClr val="5B4B8A"/>
      </a:folHlink>
    </a:clrScheme>
    <a:fontScheme name="Committee">
      <a:majorFont>
        <a:latin typeface="Char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rave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Committee template</dc:title>
  <dc:subject>PptxGenJS Presentation</dc:subject>
  <dc:creator>Template</dc:creator>
  <cp:lastModifiedBy>Template</cp:lastModifiedBy>
  <cp:revision>1</cp:revision>
  <dcterms:created xsi:type="dcterms:W3CDTF">2026-10-18T17:11:37Z</dcterms:created>
  <dcterms:modified xsi:type="dcterms:W3CDTF">2026-10-18T17:11:37Z</dcterms:modified>
</cp:coreProperties>
</file>
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e938b90-fce5-28ec-b2cd-dda8c7384503}">
          <p14:sldIdLst>
            <p14:sldId id="256"/>
            <p14:sldId id="257"/>
          </p14:sldIdLst>
        </p14:section>
        <p14:section name="Background" id="{20480483-5929-0c09-467f-26322c733bf5}">
          <p14:sldIdLst>
            <p14:sldId id="258"/>
            <p14:sldId id="259"/>
          </p14:sldIdLst>
        </p14:section>
        <p14:section name="Method" id="{307c4f5f-0063-421b-b517-01e2b267696f}">
          <p14:sldIdLst>
            <p14:sldId id="260"/>
            <p14:sldId id="261"/>
            <p14:sldId id="262"/>
          </p14:sldIdLst>
        </p14:section>
        <p14:section name="Results" id="{91f952a3-ec43-2aa8-a88f-b18723a3f77b}">
          <p14:sldIdLst>
            <p14:sldId id="263"/>
            <p14:sldId id="264"/>
            <p14:sldId id="265"/>
            <p14:sldId id="266"/>
          </p14:sldIdLst>
        </p14:section>
        <p14:section name="Close" id="{cbc000b8-3ee9-e9d1-72a8-61650a655c9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12307692307692308"/>
          <c:w val="1"/>
          <c:h val="0.703846153846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9FAFB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explanation</c:v>
                  </c:pt>
                  <c:pt idx="1">
                    <c:v>Confidence score</c:v>
                  </c:pt>
                  <c:pt idx="2">
                    <c:v>Reasons</c:v>
                  </c:pt>
                  <c:pt idx="3">
                    <c:v>Reasons + confidence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F9FAFB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64748B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BD5E1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Big-number-image-1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Big-numb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Big-number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Big-number-image-1.jpe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Big-number-image-1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15300" y="1384310"/>
            <a:ext cx="2692359" cy="2692359"/>
          </a:xfrm>
          <a:prstGeom prst="ellipse">
            <a:avLst/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317500" dist="127000" dir="5400000">
              <a:srgbClr val="050A19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home/claude/tpl/assets/ranranli/tulip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 rot="-480000">
            <a:off x="6642110" y="3086100"/>
            <a:ext cx="1270010" cy="2540020"/>
          </a:xfrm>
          <a:prstGeom prst="rect">
            <a:avLst/>
          </a:prstGeom>
        </p:spPr>
      </p:pic>
      <p:sp>
        <p:nvSpPr>
          <p:cNvPr id="9" name="Text 6"/>
          <p:cNvSpPr/>
          <p:nvPr>
            <p:ph idx="107" type="body" hasCustomPrompt="1"/>
          </p:nvPr>
        </p:nvSpPr>
        <p:spPr>
          <a:xfrm>
            <a:off x="761970" y="1904970"/>
            <a:ext cx="6349959" cy="2158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· YEAR</a:t>
            </a:r>
            <a:endParaRPr lang="en-US" sz="1100" dirty="0"/>
          </a:p>
        </p:txBody>
      </p:sp>
      <p:sp>
        <p:nvSpPr>
          <p:cNvPr id="10" name="Text 6"/>
          <p:cNvSpPr/>
          <p:nvPr>
            <p:ph idx="108" type="title" hasCustomPrompt="1"/>
          </p:nvPr>
        </p:nvSpPr>
        <p:spPr>
          <a:xfrm>
            <a:off x="761970" y="2222541"/>
            <a:ext cx="6476970" cy="2095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4968"/>
              </a:lnSpc>
              <a:buNone/>
              <a:defRPr lang="en-US" sz="46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4968"/>
              </a:lnSpc>
              <a:buNone/>
            </a:pPr>
            <a:r>
              <a:rPr lang="en-US" sz="46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Talk title</a:t>
            </a:r>
            <a:endParaRPr lang="en-US" sz="4600" dirty="0"/>
          </a:p>
        </p:txBody>
      </p:sp>
      <p:sp>
        <p:nvSpPr>
          <p:cNvPr id="11" name="Text 6"/>
          <p:cNvSpPr/>
          <p:nvPr>
            <p:ph idx="109" type="body" hasCustomPrompt="1"/>
          </p:nvPr>
        </p:nvSpPr>
        <p:spPr>
          <a:xfrm>
            <a:off x="761970" y="4444990"/>
            <a:ext cx="558799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30"/>
              </a:lnSpc>
              <a:buNone/>
              <a:defRPr lang="en-US" sz="1800" b="1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Subtitle</a:t>
            </a:r>
            <a:endParaRPr lang="en-US" sz="1800" dirty="0">
              <a:gradFill rotWithShape="1">
                <a:gsLst>
                  <a:gs pos="0">
                    <a:srgbClr val="D1FAE5"/>
                  </a:gs>
                  <a:gs pos="33333">
                    <a:srgbClr val="6EE7B7"/>
                  </a:gs>
                  <a:gs pos="66667">
                    <a:srgbClr val="93C5FD"/>
                  </a:gs>
                  <a:gs pos="100000">
                    <a:srgbClr val="F0ABFC"/>
                  </a:gs>
                </a:gsLst>
                <a:lin ang="0" scaled="0"/>
              </a:gradFill>
            </a:endParaRPr>
          </a:p>
        </p:txBody>
      </p:sp>
      <p:sp>
        <p:nvSpPr>
          <p:cNvPr id="12" name="Text 6"/>
          <p:cNvSpPr/>
          <p:nvPr>
            <p:ph idx="110" hasCustomPrompt="1"/>
          </p:nvPr>
        </p:nvSpPr>
        <p:spPr>
          <a:xfrm>
            <a:off x="8191470" y="1460480"/>
            <a:ext cx="2540020" cy="2540020"/>
          </a:xfrm>
          <a:prstGeom prst="roundRect">
            <a:avLst>
              <a:gd name="adj" fmla="val 50000"/>
            </a:avLst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7937541" y="4292559"/>
            <a:ext cx="3047970" cy="10795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ctr" indent="0" marL="0">
              <a:lnSpc>
                <a:spcPts val="2196"/>
              </a:lnSpc>
              <a:buNone/>
              <a:defRPr lang="en-US" sz="18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ctr" indent="0" marL="0">
              <a:lnSpc>
                <a:spcPts val="2196"/>
              </a:lnSpc>
              <a:buNone/>
            </a:pPr>
            <a:r>
              <a:rPr lang="en-US" sz="18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name</a:t>
            </a:r>
            <a:endParaRPr lang="en-US" sz="1800" dirty="0"/>
          </a:p>
          <a:p>
            <a:pPr algn="ctr" indent="0" marL="0">
              <a:lnSpc>
                <a:spcPts val="2196"/>
              </a:lnSpc>
              <a:buNone/>
            </a:pPr>
            <a:r>
              <a:rPr lang="en-US" sz="18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Affiliation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1015990" y="2095530"/>
            <a:ext cx="10159990" cy="2286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ctr" indent="0" marL="0">
              <a:lnSpc>
                <a:spcPts val="1440"/>
              </a:lnSpc>
              <a:buNone/>
              <a:defRPr lang="en-US" sz="12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ctr" indent="0" marL="0">
              <a:lnSpc>
                <a:spcPts val="1440"/>
              </a:lnSpc>
              <a:buNone/>
            </a:pPr>
            <a:r>
              <a:rPr lang="en-US" sz="12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1015990" y="2438430"/>
            <a:ext cx="10159990" cy="10795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ctr" indent="0" marL="0">
              <a:lnSpc>
                <a:spcPts val="7350"/>
              </a:lnSpc>
              <a:buNone/>
              <a:defRPr lang="en-US" sz="7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ctr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title</a:t>
            </a:r>
            <a:endParaRPr lang="en-US" sz="70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1651041" y="3746480"/>
            <a:ext cx="888998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ctr" indent="0" marL="0">
              <a:lnSpc>
                <a:spcPts val="2565"/>
              </a:lnSpc>
              <a:buNone/>
              <a:defRPr lang="en-US" sz="19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ctr" indent="0" marL="0">
              <a:lnSpc>
                <a:spcPts val="2565"/>
              </a:lnSpc>
              <a:buNone/>
            </a:pPr>
            <a:r>
              <a:rPr lang="en-US" sz="19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part answers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1970" y="2286000"/>
            <a:ext cx="5206959" cy="3937041"/>
          </a:xfrm>
          <a:prstGeom prst="roundRect">
            <a:avLst>
              <a:gd name="adj" fmla="val 3226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68D391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23041" y="2286000"/>
            <a:ext cx="5206959" cy="3937041"/>
          </a:xfrm>
          <a:prstGeom prst="roundRect">
            <a:avLst>
              <a:gd name="adj" fmla="val 3226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93C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041410" y="3047970"/>
            <a:ext cx="464817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heading</a:t>
            </a:r>
            <a:endParaRPr lang="en-US" sz="2000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041410" y="4190970"/>
            <a:ext cx="4648170" cy="1397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0"/>
              </a:lnSpc>
              <a:buNone/>
              <a:defRPr lang="en-US" sz="140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text</a:t>
            </a:r>
            <a:endParaRPr lang="en-US" sz="1400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502390" y="3047970"/>
            <a:ext cx="464817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heading</a:t>
            </a:r>
            <a:endParaRPr lang="en-US" sz="2000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6502390" y="4190970"/>
            <a:ext cx="4648170" cy="1397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0"/>
              </a:lnSpc>
              <a:buNone/>
              <a:defRPr lang="en-US" sz="140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 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1970" y="2222541"/>
            <a:ext cx="7112020" cy="4063959"/>
          </a:xfrm>
          <a:prstGeom prst="roundRect">
            <a:avLst>
              <a:gd name="adj" fmla="val 3125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93C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10" name="Text 6"/>
          <p:cNvSpPr/>
          <p:nvPr>
            <p:ph idx="108" hasCustomPrompt="1"/>
          </p:nvPr>
        </p:nvSpPr>
        <p:spPr>
          <a:xfrm>
            <a:off x="1015990" y="2400300"/>
            <a:ext cx="6603980" cy="3714750"/>
          </a:xfrm>
          <a:prstGeom prst="roundRect">
            <a:avLst>
              <a:gd name="adj" fmla="val 2393"/>
            </a:avLst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>
            <p:ph idx="109" type="body" hasCustomPrompt="1"/>
          </p:nvPr>
        </p:nvSpPr>
        <p:spPr>
          <a:xfrm>
            <a:off x="8255020" y="2628900"/>
            <a:ext cx="3174980" cy="33019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0"/>
              </a:lnSpc>
              <a:buNone/>
              <a:def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98510" y="1460480"/>
            <a:ext cx="6349959" cy="254002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7000"/>
              </a:lnSpc>
              <a:buNone/>
              <a:defRPr lang="en-US" sz="17000" b="1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7000"/>
              </a:lnSpc>
              <a:buNone/>
            </a:pPr>
            <a:r>
              <a:rPr lang="en-US" sz="17000" b="1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68%</a:t>
            </a:r>
            <a:endParaRPr lang="en-US" sz="17000" dirty="0">
              <a:gradFill rotWithShape="1">
                <a:gsLst>
                  <a:gs pos="0">
                    <a:srgbClr val="D1FAE5"/>
                  </a:gs>
                  <a:gs pos="33333">
                    <a:srgbClr val="6EE7B7"/>
                  </a:gs>
                  <a:gs pos="66667">
                    <a:srgbClr val="93C5FD"/>
                  </a:gs>
                  <a:gs pos="100000">
                    <a:srgbClr val="F0ABFC"/>
                  </a:gs>
                </a:gsLst>
                <a:lin ang="0" scaled="0"/>
              </a:gradFill>
            </a:endParaRPr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7112020" y="1904970"/>
            <a:ext cx="4317980" cy="17145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2875"/>
              </a:lnSpc>
              <a:buNone/>
              <a:defRPr lang="en-US" sz="23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number means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1970" y="2222541"/>
            <a:ext cx="10668030" cy="4063959"/>
          </a:xfrm>
          <a:prstGeom prst="roundRect">
            <a:avLst>
              <a:gd name="adj" fmla="val 3125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C4B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1970" y="2222541"/>
            <a:ext cx="10668030" cy="3556010"/>
          </a:xfrm>
          <a:prstGeom prst="roundRect">
            <a:avLst>
              <a:gd name="adj" fmla="val 3572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C4B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Quote mark"/>
          <p:cNvSpPr/>
          <p:nvPr/>
        </p:nvSpPr>
        <p:spPr>
          <a:xfrm>
            <a:off x="660380" y="1358890"/>
            <a:ext cx="190497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>
              <a:gradFill rotWithShape="1">
                <a:gsLst>
                  <a:gs pos="0">
                    <a:srgbClr val="D1FAE5"/>
                  </a:gs>
                  <a:gs pos="33333">
                    <a:srgbClr val="6EE7B7"/>
                  </a:gs>
                  <a:gs pos="66667">
                    <a:srgbClr val="93C5FD"/>
                  </a:gs>
                  <a:gs pos="100000">
                    <a:srgbClr val="F0ABFC"/>
                  </a:gs>
                </a:gsLst>
                <a:lin ang="0" scaled="0"/>
              </a:gradFill>
            </a:endParaRPr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761970" y="2667030"/>
            <a:ext cx="10668030" cy="1777959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5290"/>
              </a:lnSpc>
              <a:buNone/>
              <a:defRPr lang="en-US" sz="4600" i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ts val="5290"/>
              </a:lnSpc>
              <a:buNone/>
            </a:pPr>
            <a:r>
              <a:rPr lang="en-US" sz="4600" i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</a:t>
            </a:r>
            <a:endParaRPr lang="en-US" sz="46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761970" y="4699010"/>
            <a:ext cx="9525030" cy="2794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680"/>
              </a:lnSpc>
              <a:buNone/>
              <a:def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Source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1970" y="2222541"/>
            <a:ext cx="10668030" cy="4063959"/>
          </a:xfrm>
          <a:prstGeom prst="roundRect">
            <a:avLst>
              <a:gd name="adj" fmla="val 3125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F0ABFC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b="1" spc="200" kern="0" dirty="0">
                <a:solidFill>
                  <a:srgbClr val="F0AB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F0AB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1079541" y="2514600"/>
            <a:ext cx="10032980" cy="3556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-330200" marL="330200">
              <a:lnSpc>
                <a:spcPts val="2093"/>
              </a:lnSpc>
              <a:spcAft>
                <a:spcPts val="1200"/>
              </a:spcAft>
              <a:buNone/>
              <a:def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2093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Author, A. (Year). Title. Journal, Volume(Issue), pages.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541" y="215890"/>
            <a:ext cx="5460980" cy="48262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90500" dist="76200" dir="5400000">
              <a:srgbClr val="050A19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5309" y="279441"/>
            <a:ext cx="1422441" cy="355610"/>
          </a:xfrm>
          <a:prstGeom prst="roundRect">
            <a:avLst>
              <a:gd name="adj" fmla="val 49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1750" dir="5400000">
              <a:srgbClr val="080E1E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5309" y="279441"/>
            <a:ext cx="1422441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5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91070" y="381030"/>
            <a:ext cx="0" cy="15243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0790" y="279441"/>
            <a:ext cx="2920959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in algorithmic advice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15300" y="1511320"/>
            <a:ext cx="2692359" cy="2692359"/>
          </a:xfrm>
          <a:prstGeom prst="ellipse">
            <a:avLst/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317500" dist="127000" dir="5400000">
              <a:srgbClr val="050A19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home/claude/tpl/assets/ranranli/tulip-flip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 rot="480000">
            <a:off x="10477470" y="3301990"/>
            <a:ext cx="1270010" cy="25400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1970" y="5587990"/>
            <a:ext cx="2667030" cy="41907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556010" y="5587990"/>
            <a:ext cx="1904970" cy="41907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>
            <p:ph idx="109" type="title" hasCustomPrompt="1"/>
          </p:nvPr>
        </p:nvSpPr>
        <p:spPr>
          <a:xfrm>
            <a:off x="761970" y="1841510"/>
            <a:ext cx="6858000" cy="1143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7500"/>
              </a:lnSpc>
              <a:buNone/>
              <a:defRPr lang="en-US" sz="75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761970" y="3111520"/>
            <a:ext cx="6349959" cy="508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2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3" name="Text 8"/>
          <p:cNvSpPr/>
          <p:nvPr>
            <p:ph idx="111" hasCustomPrompt="1"/>
          </p:nvPr>
        </p:nvSpPr>
        <p:spPr>
          <a:xfrm>
            <a:off x="8191470" y="1587490"/>
            <a:ext cx="2540020" cy="2540020"/>
          </a:xfrm>
          <a:prstGeom prst="roundRect">
            <a:avLst>
              <a:gd name="adj" fmla="val 50000"/>
            </a:avLst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7" type="body" hasCustomPrompt="1"/>
          </p:nvPr>
        </p:nvSpPr>
        <p:spPr>
          <a:xfrm>
            <a:off x="761970" y="1904970"/>
            <a:ext cx="6349959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CONFERENCE NAME · 2026</a:t>
            </a:r>
            <a:endParaRPr lang="en-US" sz="1100" dirty="0"/>
          </a:p>
        </p:txBody>
      </p:sp>
      <p:sp>
        <p:nvSpPr>
          <p:cNvPr id="3" name="Text 6"/>
          <p:cNvSpPr/>
          <p:nvPr>
            <p:ph idx="108" type="title" hasCustomPrompt="1"/>
          </p:nvPr>
        </p:nvSpPr>
        <p:spPr>
          <a:xfrm>
            <a:off x="761970" y="2222541"/>
            <a:ext cx="6476970" cy="209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46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do people trust an algorithm?</a:t>
            </a:r>
            <a:endParaRPr lang="en-US" sz="4600" dirty="0"/>
          </a:p>
        </p:txBody>
      </p:sp>
      <p:sp>
        <p:nvSpPr>
          <p:cNvPr id="4" name="Text 6"/>
          <p:cNvSpPr/>
          <p:nvPr>
            <p:ph idx="109" type="body" hasCustomPrompt="1"/>
          </p:nvPr>
        </p:nvSpPr>
        <p:spPr>
          <a:xfrm>
            <a:off x="761970" y="4444990"/>
            <a:ext cx="55879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online experiments on explanations and advice-taking</a:t>
            </a:r>
            <a:endParaRPr lang="en-US" sz="1800" dirty="0">
              <a:gradFill rotWithShape="1">
                <a:gsLst>
                  <a:gs pos="0">
                    <a:srgbClr val="D1FAE5"/>
                  </a:gs>
                  <a:gs pos="33333">
                    <a:srgbClr val="6EE7B7"/>
                  </a:gs>
                  <a:gs pos="66667">
                    <a:srgbClr val="93C5FD"/>
                  </a:gs>
                  <a:gs pos="100000">
                    <a:srgbClr val="F0ABFC"/>
                  </a:gs>
                </a:gsLst>
                <a:lin ang="0" scaled="0"/>
              </a:gradFill>
            </a:endParaRPr>
          </a:p>
        </p:txBody>
      </p:sp>
      <p:pic>
        <p:nvPicPr>
          <p:cNvPr id="5" name="Image 0" descr="Portrait of Ranran Li">    </p:cNvPr>
          <p:cNvPicPr>
            <a:picLocks noChangeAspect="1"/>
          </p:cNvPicPr>
          <p:nvPr>
            <p:ph idx="110" hasCustomPrompt="1"/>
          </p:nvPr>
        </p:nvPicPr>
        <p:blipFill>
          <a:blip r:embed="rId1"/>
          <a:srcRect l="0" r="0" t="0" b="0"/>
          <a:stretch/>
        </p:blipFill>
        <p:spPr>
          <a:xfrm>
            <a:off x="8191470" y="1460480"/>
            <a:ext cx="2540020" cy="254002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Text 6"/>
          <p:cNvSpPr/>
          <p:nvPr>
            <p:ph idx="111" type="body" hasCustomPrompt="1"/>
          </p:nvPr>
        </p:nvSpPr>
        <p:spPr>
          <a:xfrm>
            <a:off x="7937541" y="4292559"/>
            <a:ext cx="3047970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 Li</a:t>
            </a:r>
            <a:endParaRPr lang="en-US" sz="1800" dirty="0"/>
          </a:p>
          <a:p>
            <a:pPr algn="ctr" indent="0" marL="0">
              <a:lnSpc>
                <a:spcPts val="2196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Max Planck Institute for the Study of Crime, Security and Law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970" y="2286000"/>
            <a:ext cx="5206959" cy="1714500"/>
          </a:xfrm>
          <a:prstGeom prst="roundRect">
            <a:avLst>
              <a:gd name="adj" fmla="val 7408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68D391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41410" y="254002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41410" y="2819370"/>
            <a:ext cx="464817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puzzle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041410" y="3365541"/>
            <a:ext cx="4648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Aversion and appreciation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3041" y="2286000"/>
            <a:ext cx="5206959" cy="1714500"/>
          </a:xfrm>
          <a:prstGeom prst="roundRect">
            <a:avLst>
              <a:gd name="adj" fmla="val 7408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93C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2390" y="254002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02390" y="2819370"/>
            <a:ext cx="464817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experiments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6502390" y="3365541"/>
            <a:ext cx="4648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 = 3,412 online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1970" y="4190970"/>
            <a:ext cx="5206959" cy="1714500"/>
          </a:xfrm>
          <a:prstGeom prst="roundRect">
            <a:avLst>
              <a:gd name="adj" fmla="val 7408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C4B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41410" y="444499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41410" y="4724430"/>
            <a:ext cx="464817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found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1041410" y="5270510"/>
            <a:ext cx="4648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Reasons raise advice-taking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23041" y="4190970"/>
            <a:ext cx="5206959" cy="1714500"/>
          </a:xfrm>
          <a:prstGeom prst="roundRect">
            <a:avLst>
              <a:gd name="adj" fmla="val 7408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F0ABFC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02390" y="444499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F0AB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02390" y="4724430"/>
            <a:ext cx="464817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dirty="0">
                <a:solidFill>
                  <a:srgbClr val="F0AB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means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6502390" y="5270510"/>
            <a:ext cx="4648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design and policy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1015990" y="2095530"/>
            <a:ext cx="10159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1015990" y="2438430"/>
            <a:ext cx="10159990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puzzle</a:t>
            </a:r>
            <a:endParaRPr lang="en-US" sz="70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1651041" y="3746480"/>
            <a:ext cx="8889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19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do people follow some algorithms and ignore others?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15990" y="4826020"/>
            <a:ext cx="1015999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01. The puzzle</a:t>
            </a:r>
            <a:r>
              <a:rPr lang="en-US" sz="1300" dirty="0">
                <a:solidFill>
                  <a:srgbClr val="7886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|   </a:t>
            </a: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02. Three experiments</a:t>
            </a:r>
            <a:r>
              <a:rPr lang="en-US" sz="1300" dirty="0">
                <a:solidFill>
                  <a:srgbClr val="7886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|   </a:t>
            </a: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03. What we found</a:t>
            </a:r>
            <a:r>
              <a:rPr lang="en-US" sz="1300" dirty="0">
                <a:solidFill>
                  <a:srgbClr val="7886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|   </a:t>
            </a: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04. What it means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PUZZLE</a:t>
            </a:r>
            <a:endParaRPr lang="en-US" sz="11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findings that don’t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1410" y="2540020"/>
            <a:ext cx="304770" cy="304770"/>
          </a:xfrm>
          <a:prstGeom prst="ellipse">
            <a:avLst/>
          </a:prstGeom>
          <a:ln w="12700">
            <a:solidFill>
              <a:srgbClr val="68D391">
                <a:alpha val="5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1410" y="2540020"/>
            <a:ext cx="30477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0480" y="2540020"/>
            <a:ext cx="422910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AVERSION</a:t>
            </a:r>
            <a:endParaRPr lang="en-US" sz="1000" dirty="0"/>
          </a:p>
        </p:txBody>
      </p:sp>
      <p:sp>
        <p:nvSpPr>
          <p:cNvPr id="7" name="Text 7"/>
          <p:cNvSpPr/>
          <p:nvPr>
            <p:ph idx="109" type="body" hasCustomPrompt="1"/>
          </p:nvPr>
        </p:nvSpPr>
        <p:spPr>
          <a:xfrm>
            <a:off x="1041410" y="3047970"/>
            <a:ext cx="46481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 abandon algorithms after seeing them err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1970" y="3975080"/>
            <a:ext cx="5206959" cy="0"/>
          </a:xfrm>
          <a:prstGeom prst="line">
            <a:avLst/>
          </a:prstGeom>
          <a:noFill/>
          <a:ln w="9525">
            <a:solidFill>
              <a:srgbClr val="68D391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>
            <p:ph idx="110" type="body" hasCustomPrompt="1"/>
          </p:nvPr>
        </p:nvSpPr>
        <p:spPr>
          <a:xfrm>
            <a:off x="1041410" y="4190970"/>
            <a:ext cx="4648170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watching a forecasting algorithm make mistakes, people chose it less often, even when it still outperformed a human forecaster.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41410" y="5791170"/>
            <a:ext cx="4648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Dietvorst, Simmons &amp; Massey (2015)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02390" y="2540020"/>
            <a:ext cx="304770" cy="304770"/>
          </a:xfrm>
          <a:prstGeom prst="ellipse">
            <a:avLst/>
          </a:prstGeom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2390" y="2540020"/>
            <a:ext cx="30477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21459" y="2540020"/>
            <a:ext cx="422910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APPRECIATION</a:t>
            </a:r>
            <a:endParaRPr lang="en-US" sz="1000" dirty="0"/>
          </a:p>
        </p:txBody>
      </p:sp>
      <p:sp>
        <p:nvSpPr>
          <p:cNvPr id="14" name="Text 7"/>
          <p:cNvSpPr/>
          <p:nvPr>
            <p:ph idx="111" type="body" hasCustomPrompt="1"/>
          </p:nvPr>
        </p:nvSpPr>
        <p:spPr>
          <a:xfrm>
            <a:off x="6502390" y="3047970"/>
            <a:ext cx="46481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 prefer algorithmic to human advice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23041" y="3975080"/>
            <a:ext cx="5206959" cy="0"/>
          </a:xfrm>
          <a:prstGeom prst="line">
            <a:avLst/>
          </a:prstGeom>
          <a:noFill/>
          <a:ln w="9525">
            <a:solidFill>
              <a:srgbClr val="93C5FD">
                <a:alpha val="22000"/>
              </a:srgbClr>
            </a:solidFill>
            <a:prstDash val="solid"/>
          </a:ln>
        </p:spPr>
      </p:sp>
      <p:sp>
        <p:nvSpPr>
          <p:cNvPr id="16" name="Text 7"/>
          <p:cNvSpPr/>
          <p:nvPr>
            <p:ph idx="112" type="body" hasCustomPrompt="1"/>
          </p:nvPr>
        </p:nvSpPr>
        <p:spPr>
          <a:xfrm>
            <a:off x="6502390" y="4190970"/>
            <a:ext cx="4648170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estimation and forecasting tasks, people weighted advice more when they thought it came from an algorithm than from a person.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02390" y="5791170"/>
            <a:ext cx="4648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Logg, Minson &amp; Moore (2019)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THREE EXPERIMENTS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predictions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970" y="2413010"/>
            <a:ext cx="609630" cy="609630"/>
          </a:xfrm>
          <a:prstGeom prst="ellipse">
            <a:avLst/>
          </a:prstGeom>
          <a:ln w="12700">
            <a:solidFill>
              <a:srgbClr val="68D391">
                <a:alpha val="5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970" y="241301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51041" y="2413010"/>
            <a:ext cx="9778959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Advice that explains its reasoning is followed more often.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651041" y="3321009"/>
            <a:ext cx="9778959" cy="0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1970" y="3619470"/>
            <a:ext cx="609630" cy="609630"/>
          </a:xfrm>
          <a:prstGeom prst="ellipse">
            <a:avLst/>
          </a:prstGeom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970" y="361947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51041" y="3619470"/>
            <a:ext cx="9778959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confidence score adds to the effect of the reasons.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651041" y="4527560"/>
            <a:ext cx="9778959" cy="0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970" y="4826020"/>
            <a:ext cx="609630" cy="609630"/>
          </a:xfrm>
          <a:prstGeom prst="ellipse">
            <a:avLst/>
          </a:prstGeom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1970" y="482602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51041" y="4826020"/>
            <a:ext cx="9778959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effect holds after people see the algorithm err.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THREE EXPERIMENTS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each session ran</a:t>
            </a:r>
            <a:endParaRPr lang="en-US" sz="3000" dirty="0"/>
          </a:p>
        </p:txBody>
      </p:sp>
      <p:pic>
        <p:nvPicPr>
          <p:cNvPr id="4" name="Image 0" descr="/home/claude/tpl/assets/ranranli/flow-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5990" y="2736891"/>
            <a:ext cx="10159990" cy="11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73240" y="2667030"/>
            <a:ext cx="254020" cy="254020"/>
          </a:xfrm>
          <a:prstGeom prst="ellipse">
            <a:avLst/>
          </a:prstGeom>
          <a:solidFill>
            <a:srgbClr val="121A38"/>
          </a:solidFill>
          <a:ln w="25400">
            <a:solidFill>
              <a:srgbClr val="68D39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970" y="3174980"/>
            <a:ext cx="2476470" cy="2413010"/>
          </a:xfrm>
          <a:prstGeom prst="roundRect">
            <a:avLst>
              <a:gd name="adj" fmla="val 5264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68D391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15990" y="3403580"/>
            <a:ext cx="203198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15990" y="3708441"/>
            <a:ext cx="203198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Consent and demographics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15990" y="5016490"/>
            <a:ext cx="888980" cy="317480"/>
          </a:xfrm>
          <a:prstGeom prst="roundRect">
            <a:avLst>
              <a:gd name="adj" fmla="val 50000"/>
            </a:avLst>
          </a:prstGeom>
          <a:ln w="12700">
            <a:solidFill>
              <a:srgbClr val="68D391">
                <a:alpha val="5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5990" y="5016490"/>
            <a:ext cx="88898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68D3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03730" y="2667030"/>
            <a:ext cx="254020" cy="254020"/>
          </a:xfrm>
          <a:prstGeom prst="ellipse">
            <a:avLst/>
          </a:prstGeom>
          <a:solidFill>
            <a:srgbClr val="121A38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2459" y="3174980"/>
            <a:ext cx="2476470" cy="2413010"/>
          </a:xfrm>
          <a:prstGeom prst="roundRect">
            <a:avLst>
              <a:gd name="adj" fmla="val 5264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93C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746480" y="3403580"/>
            <a:ext cx="203198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6480" y="3708441"/>
            <a:ext cx="203198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 trials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746480" y="5016490"/>
            <a:ext cx="888980" cy="317480"/>
          </a:xfrm>
          <a:prstGeom prst="roundRect">
            <a:avLst>
              <a:gd name="adj" fmla="val 50000"/>
            </a:avLst>
          </a:prstGeom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6480" y="5016490"/>
            <a:ext cx="88898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min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34220" y="2667030"/>
            <a:ext cx="254020" cy="254020"/>
          </a:xfrm>
          <a:prstGeom prst="ellipse">
            <a:avLst/>
          </a:prstGeom>
          <a:solidFill>
            <a:srgbClr val="121A38"/>
          </a:solidFill>
          <a:ln w="25400">
            <a:solidFill>
              <a:srgbClr val="C4B5F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23041" y="3174980"/>
            <a:ext cx="2476470" cy="2413010"/>
          </a:xfrm>
          <a:prstGeom prst="roundRect">
            <a:avLst>
              <a:gd name="adj" fmla="val 5264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C4B5FD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476970" y="3403580"/>
            <a:ext cx="203198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76970" y="3708441"/>
            <a:ext cx="203198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Advice task, 24 trials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476970" y="5016490"/>
            <a:ext cx="888980" cy="317480"/>
          </a:xfrm>
          <a:prstGeom prst="roundRect">
            <a:avLst>
              <a:gd name="adj" fmla="val 50000"/>
            </a:avLst>
          </a:prstGeom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76970" y="5016490"/>
            <a:ext cx="88898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064709" y="2667030"/>
            <a:ext cx="254020" cy="254020"/>
          </a:xfrm>
          <a:prstGeom prst="ellipse">
            <a:avLst/>
          </a:prstGeom>
          <a:solidFill>
            <a:srgbClr val="121A38"/>
          </a:solidFill>
          <a:ln w="25400">
            <a:solidFill>
              <a:srgbClr val="F0AB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53530" y="3174980"/>
            <a:ext cx="2476470" cy="2413010"/>
          </a:xfrm>
          <a:prstGeom prst="roundRect">
            <a:avLst>
              <a:gd name="adj" fmla="val 5264"/>
            </a:avLst>
          </a:prstGeom>
          <a:solidFill>
            <a:srgbClr val="0F172A">
              <a:alpha val="64000"/>
            </a:srgbClr>
          </a:solidFill>
          <a:ln w="12700">
            <a:solidFill>
              <a:srgbClr val="F0ABFC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2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9207459" y="3403580"/>
            <a:ext cx="203198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200" kern="0" dirty="0">
                <a:solidFill>
                  <a:srgbClr val="F0AB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207459" y="3708441"/>
            <a:ext cx="203198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Debrief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207459" y="5016490"/>
            <a:ext cx="888980" cy="317480"/>
          </a:xfrm>
          <a:prstGeom prst="roundRect">
            <a:avLst>
              <a:gd name="adj" fmla="val 50000"/>
            </a:avLst>
          </a:prstGeom>
          <a:ln w="12700">
            <a:solidFill>
              <a:srgbClr val="F0ABFC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07459" y="5016490"/>
            <a:ext cx="88898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0AB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THREE EXPERIMENTS</a:t>
            </a:r>
            <a:endParaRPr lang="en-US" sz="11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participants saw</a:t>
            </a:r>
            <a:endParaRPr lang="en-US" sz="3000" dirty="0"/>
          </a:p>
        </p:txBody>
      </p:sp>
      <p:pic>
        <p:nvPicPr>
          <p:cNvPr id="4" name="Image 0" descr="Advice screen from the study">    </p:cNvPr>
          <p:cNvPicPr>
            <a:picLocks noChangeAspect="1"/>
          </p:cNvPicPr>
          <p:nvPr>
            <p:ph idx="108" hasCustomPrompt="1"/>
          </p:nvPr>
        </p:nvPicPr>
        <p:blipFill>
          <a:blip r:embed="rId1"/>
          <a:srcRect l="0" r="0" t="0" b="0"/>
          <a:stretch/>
        </p:blipFill>
        <p:spPr>
          <a:xfrm>
            <a:off x="1015990" y="2400300"/>
            <a:ext cx="6603980" cy="3714750"/>
          </a:xfrm>
          <a:prstGeom prst="roundRect">
            <a:avLst>
              <a:gd name="adj" fmla="val 2393"/>
            </a:avLst>
          </a:prstGeom>
        </p:spPr>
      </p:pic>
      <p:sp>
        <p:nvSpPr>
          <p:cNvPr id="5" name="Text 2"/>
          <p:cNvSpPr txBox="1"/>
          <p:nvPr/>
        </p:nvSpPr>
        <p:spPr>
          <a:xfrm>
            <a:off x="8255020" y="2260580"/>
            <a:ext cx="317498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i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2.</a:t>
            </a:r>
            <a:endParaRPr lang="en-US" sz="1600" dirty="0"/>
          </a:p>
        </p:txBody>
      </p:sp>
      <p:sp>
        <p:nvSpPr>
          <p:cNvPr id="6" name="Text 6"/>
          <p:cNvSpPr/>
          <p:nvPr>
            <p:ph idx="109" type="body" hasCustomPrompt="1"/>
          </p:nvPr>
        </p:nvSpPr>
        <p:spPr>
          <a:xfrm>
            <a:off x="8255020" y="2628900"/>
            <a:ext cx="3174980" cy="330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advice screen in the Reasons + confidence condition. On each trial, participants followed the recommendation or chose for themselves.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WHAT WE FOUND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body" hasCustomPrompt="1"/>
          </p:nvPr>
        </p:nvSpPr>
        <p:spPr>
          <a:xfrm>
            <a:off x="698510" y="1460480"/>
            <a:ext cx="6349959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0"/>
              </a:lnSpc>
              <a:buNone/>
            </a:pPr>
            <a:r>
              <a:rPr lang="en-US" sz="17000" b="1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68%</a:t>
            </a:r>
            <a:endParaRPr lang="en-US" sz="17000" dirty="0">
              <a:gradFill rotWithShape="1">
                <a:gsLst>
                  <a:gs pos="0">
                    <a:srgbClr val="D1FAE5"/>
                  </a:gs>
                  <a:gs pos="33333">
                    <a:srgbClr val="6EE7B7"/>
                  </a:gs>
                  <a:gs pos="66667">
                    <a:srgbClr val="93C5FD"/>
                  </a:gs>
                  <a:gs pos="100000">
                    <a:srgbClr val="F0ABFC"/>
                  </a:gs>
                </a:gsLst>
                <a:lin ang="0" scaled="0"/>
              </a:gradFill>
            </a:endParaRPr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7112020" y="1904970"/>
            <a:ext cx="431798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choices followed the algorithm when it explained its reasoning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61970" y="4381530"/>
            <a:ext cx="44449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Reasons + confidence</a:t>
            </a:r>
            <a:endParaRPr lang="en-US" sz="1200" dirty="0"/>
          </a:p>
        </p:txBody>
      </p:sp>
      <p:pic>
        <p:nvPicPr>
          <p:cNvPr id="6" name="Image 0" descr="/home/claude/tpl/assets/ranranli/flow-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970" y="4660880"/>
            <a:ext cx="8635959" cy="1904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25030" y="4597420"/>
            <a:ext cx="127001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6EE7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68%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61970" y="5080041"/>
            <a:ext cx="44449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explanation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1970" y="5359390"/>
            <a:ext cx="5206959" cy="19047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96030" y="5295930"/>
            <a:ext cx="127001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41%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1970" y="5905470"/>
            <a:ext cx="10159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Study 2, N = 1,204 · sample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WHAT WE FOUND</a:t>
            </a:r>
            <a:endParaRPr lang="en-US" sz="11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layer of explanation raised advice-taking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9541" y="2438430"/>
            <a:ext cx="952503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% of trials on which the advice was followed</a:t>
            </a:r>
            <a:endParaRPr lang="en-US" sz="1200" dirty="0"/>
          </a:p>
        </p:txBody>
      </p:sp>
      <p:graphicFrame>
        <p:nvGraphicFramePr>
          <p:cNvPr id="5" name="Bar chart" descr=""/>
          <p:cNvGraphicFramePr/>
          <p:nvPr/>
        </p:nvGraphicFramePr>
        <p:xfrm>
          <a:off x="1079541" y="2794041"/>
          <a:ext cx="10032980" cy="330199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WHAT WE FOUND</a:t>
            </a:r>
            <a:endParaRPr lang="en-US" sz="11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Mixed-effects logistic regression</a:t>
            </a:r>
            <a:endParaRPr lang="en-US" sz="3000" dirty="0"/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5990" y="2413010"/>
          <a:ext cx="10159990" cy="914400"/>
        </p:xfrm>
        <a:graphic>
          <a:graphicData uri="http://schemas.openxmlformats.org/drawingml/2006/table">
            <a:tbl>
              <a:tblPr/>
              <a:tblGrid>
                <a:gridCol w="5080041"/>
                <a:gridCol w="1689080"/>
                <a:gridCol w="1695480"/>
                <a:gridCol w="1695480"/>
              </a:tblGrid>
              <a:tr h="508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PREDICTOR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4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i="1" spc="150" kern="0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4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i="1" spc="150" kern="0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4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i="1" spc="150" kern="0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A4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Reasons (vs none)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8D39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0.94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0.12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 .001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Confidence score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8D39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0.41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 .001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Reasons × confidence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8D39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0.18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0.15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.23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6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Error observed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8D39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−0.62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0.14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 .001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1970" y="5943600"/>
            <a:ext cx="1066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 intercepts for participants and items. Sample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WHAT WE FOUND</a:t>
            </a:r>
            <a:endParaRPr lang="en-US" sz="1100" dirty="0"/>
          </a:p>
        </p:txBody>
      </p:sp>
      <p:sp>
        <p:nvSpPr>
          <p:cNvPr id="3" name="Text 6"/>
          <p:cNvSpPr/>
          <p:nvPr>
            <p:ph idx="107" type="body" hasCustomPrompt="1"/>
          </p:nvPr>
        </p:nvSpPr>
        <p:spPr>
          <a:xfrm>
            <a:off x="761970" y="2667030"/>
            <a:ext cx="10668030" cy="1777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90"/>
              </a:lnSpc>
              <a:buNone/>
            </a:pPr>
            <a:r>
              <a:rPr lang="en-US" sz="4600" i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I’d follow it if it told me why.</a:t>
            </a:r>
            <a:endParaRPr lang="en-US" sz="4600" dirty="0"/>
          </a:p>
        </p:txBody>
      </p:sp>
      <p:sp>
        <p:nvSpPr>
          <p:cNvPr id="4" name="Text 6"/>
          <p:cNvSpPr/>
          <p:nvPr>
            <p:ph idx="108" type="body" hasCustomPrompt="1"/>
          </p:nvPr>
        </p:nvSpPr>
        <p:spPr>
          <a:xfrm>
            <a:off x="761970" y="4699010"/>
            <a:ext cx="952503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Participant 214, open response (sample)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761970" y="1054120"/>
            <a:ext cx="8889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00" kern="0" dirty="0">
                <a:solidFill>
                  <a:srgbClr val="F0AB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FURTHER READING</a:t>
            </a:r>
            <a:endParaRPr lang="en-US" sz="11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761970" y="1308141"/>
            <a:ext cx="10668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6"/>
          <p:cNvSpPr/>
          <p:nvPr>
            <p:ph idx="108" type="body" hasCustomPrompt="1"/>
          </p:nvPr>
        </p:nvSpPr>
        <p:spPr>
          <a:xfrm>
            <a:off x="1079541" y="2514600"/>
            <a:ext cx="10032980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330200" marL="330200">
              <a:lnSpc>
                <a:spcPts val="2093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Burton, J. W., Stein, M.-K., &amp; Jensen, T. B. (2020). 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systematic review of algorithm aversion in augmented decision making. </a:t>
            </a:r>
            <a:r>
              <a:rPr lang="en-US" sz="1350" i="1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 of Behavioral Decision Making, 33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(2), 220–239.</a:t>
            </a:r>
            <a:endParaRPr lang="en-US" sz="1350" dirty="0"/>
          </a:p>
          <a:p>
            <a:pPr algn="l" indent="-330200" marL="330200">
              <a:lnSpc>
                <a:spcPts val="2093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Castelo, N., Bos, M. W., &amp; Lehmann, D. R. (2019). 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Task-dependent algorithm aversion. </a:t>
            </a:r>
            <a:r>
              <a:rPr lang="en-US" sz="1350" i="1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 of Marketing Research, 56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(5), 809–825.</a:t>
            </a:r>
            <a:endParaRPr lang="en-US" sz="1350" dirty="0"/>
          </a:p>
          <a:p>
            <a:pPr algn="l" indent="-330200" marL="330200">
              <a:lnSpc>
                <a:spcPts val="2093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Dietvorst, B. J., Simmons, J. P., &amp; Massey, C. (2015). 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Algorithm aversion: People erroneously avoid algorithms after seeing them err. </a:t>
            </a:r>
            <a:r>
              <a:rPr lang="en-US" sz="1350" i="1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 of Experimental Psychology: General, 144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(1), 114–126.</a:t>
            </a:r>
            <a:endParaRPr lang="en-US" sz="1350" dirty="0"/>
          </a:p>
          <a:p>
            <a:pPr algn="l" indent="-330200" marL="330200">
              <a:lnSpc>
                <a:spcPts val="2093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Logg, J. M., Minson, J. A., &amp; Moore, D. A. (2019). 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Algorithm appreciation: People prefer algorithmic to human judgment. </a:t>
            </a:r>
            <a:r>
              <a:rPr lang="en-US" sz="1350" i="1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Organizational Behavior and Human Decision Processes, 151</a:t>
            </a:r>
            <a:r>
              <a:rPr lang="en-US" sz="1350" dirty="0">
                <a:solidFill>
                  <a:srgbClr val="DBE4E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90–103.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02590" y="368320"/>
            <a:ext cx="571500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5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9" type="title" hasCustomPrompt="1"/>
          </p:nvPr>
        </p:nvSpPr>
        <p:spPr>
          <a:xfrm>
            <a:off x="761970" y="184151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3" name="Text 8"/>
          <p:cNvSpPr/>
          <p:nvPr>
            <p:ph idx="110" type="body" hasCustomPrompt="1"/>
          </p:nvPr>
        </p:nvSpPr>
        <p:spPr>
          <a:xfrm>
            <a:off x="761970" y="3111520"/>
            <a:ext cx="6349959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agline"/>
          <p:cNvSpPr txBox="1"/>
          <p:nvPr/>
        </p:nvSpPr>
        <p:spPr>
          <a:xfrm>
            <a:off x="761970" y="3873490"/>
            <a:ext cx="6349959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gradFill rotWithShape="1">
                  <a:gsLst>
                    <a:gs pos="0">
                      <a:srgbClr val="D1FAE5"/>
                    </a:gs>
                    <a:gs pos="33333">
                      <a:srgbClr val="6EE7B7"/>
                    </a:gs>
                    <a:gs pos="66667">
                      <a:srgbClr val="93C5FD"/>
                    </a:gs>
                    <a:gs pos="100000">
                      <a:srgbClr val="F0ABFC"/>
                    </a:gs>
                  </a:gsLst>
                  <a:lin ang="0" scaled="0"/>
                </a:gra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Explore → Create → Build.</a:t>
            </a:r>
            <a:endParaRPr lang="en-US" sz="2200" dirty="0">
              <a:gradFill rotWithShape="1">
                <a:gsLst>
                  <a:gs pos="0">
                    <a:srgbClr val="D1FAE5"/>
                  </a:gs>
                  <a:gs pos="33333">
                    <a:srgbClr val="6EE7B7"/>
                  </a:gs>
                  <a:gs pos="66667">
                    <a:srgbClr val="93C5FD"/>
                  </a:gs>
                  <a:gs pos="100000">
                    <a:srgbClr val="F0ABFC"/>
                  </a:gs>
                </a:gsLst>
                <a:lin ang="0" scaled="0"/>
              </a:gradFill>
            </a:endParaRPr>
          </a:p>
        </p:txBody>
      </p:sp>
      <p:pic>
        <p:nvPicPr>
          <p:cNvPr id="5" name="Image 0" descr="Portrait of Ranran Li">    </p:cNvPr>
          <p:cNvPicPr>
            <a:picLocks noChangeAspect="1"/>
          </p:cNvPicPr>
          <p:nvPr>
            <p:ph idx="111" hasCustomPrompt="1"/>
          </p:nvPr>
        </p:nvPicPr>
        <p:blipFill>
          <a:blip r:embed="rId1"/>
          <a:srcRect l="0" r="0" t="0" b="0"/>
          <a:stretch/>
        </p:blipFill>
        <p:spPr>
          <a:xfrm>
            <a:off x="8191470" y="1587490"/>
            <a:ext cx="2540020" cy="254002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Text 3"/>
          <p:cNvSpPr txBox="1"/>
          <p:nvPr/>
        </p:nvSpPr>
        <p:spPr>
          <a:xfrm>
            <a:off x="761970" y="5587990"/>
            <a:ext cx="266703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r.li@csl.mpg.de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556010" y="5587990"/>
            <a:ext cx="190497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9FA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ranranli.net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ranli.net">
  <a:themeElements>
    <a:clrScheme name="ranranli.net">
      <a:dk1>
        <a:srgbClr val="F9FAFB"/>
      </a:dk1>
      <a:lt1>
        <a:srgbClr val="121A38"/>
      </a:lt1>
      <a:dk2>
        <a:srgbClr val="CBD5E1"/>
      </a:dk2>
      <a:lt2>
        <a:srgbClr val="1A1B3C"/>
      </a:lt2>
      <a:accent1>
        <a:srgbClr val="68D391"/>
      </a:accent1>
      <a:accent2>
        <a:srgbClr val="93C5FD"/>
      </a:accent2>
      <a:accent3>
        <a:srgbClr val="C4B5FD"/>
      </a:accent3>
      <a:accent4>
        <a:srgbClr val="F0ABFC"/>
      </a:accent4>
      <a:accent5>
        <a:srgbClr val="6EE7B7"/>
      </a:accent5>
      <a:accent6>
        <a:srgbClr val="F5B71E"/>
      </a:accent6>
      <a:hlink>
        <a:srgbClr val="93C5FD"/>
      </a:hlink>
      <a:folHlink>
        <a:srgbClr val="C4B5FD"/>
      </a:folHlink>
    </a:clrScheme>
    <a:fontScheme name="ranranli.net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ranranli.net template</dc:title>
  <dc:subject>PptxGenJS Presentation</dc:subject>
  <dc:creator>Template</dc:creator>
  <cp:lastModifiedBy>Template</cp:lastModifiedBy>
  <cp:revision>1</cp:revision>
  <dcterms:created xsi:type="dcterms:W3CDTF">2026-10-18T18:45:40Z</dcterms:created>
  <dcterms:modified xsi:type="dcterms:W3CDTF">2026-10-18T18:45:40Z</dcterms:modified>
</cp:coreProperties>
</file>
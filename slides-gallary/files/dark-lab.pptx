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a0083d4-c732-9d28-9715-db0ad3cf9d0a}">
          <p14:sldIdLst>
            <p14:sldId id="256"/>
            <p14:sldId id="257"/>
          </p14:sldIdLst>
        </p14:section>
        <p14:section name="Background" id="{c5a9da87-ca22-2e10-b29d-1e9aa973a7d7}">
          <p14:sldIdLst>
            <p14:sldId id="258"/>
            <p14:sldId id="259"/>
            <p14:sldId id="260"/>
          </p14:sldIdLst>
        </p14:section>
        <p14:section name="Method" id="{0dc94828-24a8-06c6-6989-e7b29ab2c6ef}">
          <p14:sldIdLst>
            <p14:sldId id="261"/>
            <p14:sldId id="262"/>
          </p14:sldIdLst>
        </p14:section>
        <p14:section name="Results" id="{e9886517-f395-3334-5e28-6135c82a2399}">
          <p14:sldIdLst>
            <p14:sldId id="263"/>
            <p14:sldId id="264"/>
            <p14:sldId id="265"/>
            <p14:sldId id="266"/>
          </p14:sldIdLst>
        </p14:section>
        <p14:section name="Close" id="{add04d2e-a5ad-67d6-4bc8-837d76fa14f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2666666666666668"/>
          <c:w val="1"/>
          <c:h val="0.706666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A3F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900" u="none">
                    <a:solidFill>
                      <a:srgbClr val="ECEEF1"/>
                    </a:solidFill>
                    <a:latin typeface="Menl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F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54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B54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900" u="none">
                  <a:solidFill>
                    <a:srgbClr val="ECEEF1"/>
                  </a:solidFill>
                  <a:latin typeface="Menl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343944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3A9B4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darklab/tr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27510"/>
            <a:ext cx="1219197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200"/>
              </a:lnSpc>
              <a:buNone/>
              <a:defRPr lang="en-US" sz="10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defRPr>
            </a:lvl1pPr>
          </a:lstStyle>
          <a:p>
            <a:pPr algn="l" indent="0" marL="0">
              <a:lnSpc>
                <a:spcPts val="1200"/>
              </a:lnSpc>
              <a:buNone/>
            </a:pPr>
            <a:r>
              <a:rPr lang="en-US" sz="10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EVENT · YEAR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1970" y="1460480"/>
            <a:ext cx="952503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616"/>
              </a:lnSpc>
              <a:buNone/>
              <a:defRPr lang="en-US" sz="54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5616"/>
              </a:lnSpc>
              <a:buNone/>
            </a:pPr>
            <a:r>
              <a:rPr lang="en-US" sz="54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Talk title</a:t>
            </a:r>
            <a:endParaRPr lang="en-US" sz="5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1970" y="3301990"/>
            <a:ext cx="825502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600"/>
              </a:lnSpc>
              <a:buNone/>
              <a:defRPr lang="en-US" sz="20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Subtitle</a:t>
            </a:r>
            <a:endParaRPr lang="en-US" sz="2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61970" y="5905470"/>
            <a:ext cx="8255020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800"/>
              </a:lnSpc>
              <a:buNone/>
              <a:def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defRPr>
            </a:lvl1pPr>
          </a:lstStyle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Speaker name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Affiliation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61970" y="2095530"/>
            <a:ext cx="571500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560"/>
              </a:lnSpc>
              <a:buNone/>
              <a:defRPr lang="en-US" sz="1300" spc="15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defRPr>
            </a:lvl1pPr>
          </a:lstStyle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SECTION 01</a:t>
            </a:r>
            <a:endParaRPr lang="en-US" sz="13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761970" y="2540020"/>
            <a:ext cx="10668030" cy="1143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7650"/>
              </a:lnSpc>
              <a:buNone/>
              <a:defRPr lang="en-US" sz="75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7650"/>
              </a:lnSpc>
              <a:buNone/>
            </a:pPr>
            <a:r>
              <a:rPr lang="en-US" sz="75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title</a:t>
            </a:r>
            <a:endParaRPr lang="en-US" sz="75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1970" y="4317980"/>
            <a:ext cx="888998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30"/>
              </a:lnSpc>
              <a:buNone/>
              <a:defRPr lang="en-US" sz="21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part answers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1968520"/>
            <a:ext cx="5206959" cy="4190970"/>
          </a:xfrm>
          <a:prstGeom prst="roundRect">
            <a:avLst>
              <a:gd name="adj" fmla="val 1817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23041" y="1968520"/>
            <a:ext cx="5206959" cy="4190970"/>
          </a:xfrm>
          <a:prstGeom prst="roundRect">
            <a:avLst>
              <a:gd name="adj" fmla="val 1817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1117580" y="2667030"/>
            <a:ext cx="449583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117580" y="3683020"/>
            <a:ext cx="449583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47"/>
              </a:lnSpc>
              <a:buNone/>
              <a:def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247"/>
              </a:lnSpc>
              <a:buNone/>
            </a:pPr>
            <a:r>
              <a: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text</a:t>
            </a:r>
            <a:endParaRPr lang="en-US" sz="155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578559" y="2667030"/>
            <a:ext cx="449583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6578559" y="3683020"/>
            <a:ext cx="449583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47"/>
              </a:lnSpc>
              <a:buNone/>
              <a:def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247"/>
              </a:lnSpc>
              <a:buNone/>
            </a:pPr>
            <a:r>
              <a: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text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1904970"/>
            <a:ext cx="7429500" cy="4317980"/>
          </a:xfrm>
          <a:prstGeom prst="roundRect">
            <a:avLst>
              <a:gd name="adj" fmla="val 1764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952530" y="2349459"/>
            <a:ext cx="7048470" cy="3683020"/>
          </a:xfrm>
          <a:prstGeom prst="roundRect">
            <a:avLst>
              <a:gd name="adj" fmla="val 1034"/>
            </a:avLst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572500" y="2349459"/>
            <a:ext cx="2857500" cy="3556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50"/>
              </a:lnSpc>
              <a:buNone/>
              <a:defRPr lang="en-US" sz="15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61970" y="1587490"/>
            <a:ext cx="6349959" cy="241301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7000"/>
              </a:lnSpc>
              <a:buNone/>
              <a:defRPr lang="en-US" sz="17000" b="1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</a:t>
            </a:r>
            <a:endParaRPr lang="en-US" sz="17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239030" y="1841510"/>
            <a:ext cx="419097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875"/>
              </a:lnSpc>
              <a:buNone/>
              <a:defRPr lang="en-US" sz="23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number means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1904970"/>
            <a:ext cx="10668030" cy="4317980"/>
          </a:xfrm>
          <a:prstGeom prst="roundRect">
            <a:avLst>
              <a:gd name="adj" fmla="val 1764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080"/>
              </a:lnSpc>
              <a:buNone/>
              <a:defRPr lang="en-US" sz="28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1904970"/>
            <a:ext cx="10668030" cy="3937041"/>
          </a:xfrm>
          <a:prstGeom prst="roundRect">
            <a:avLst>
              <a:gd name="adj" fmla="val 1935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8510" y="1714500"/>
            <a:ext cx="1651041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150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761970" y="2984510"/>
            <a:ext cx="10668030" cy="1777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500"/>
              </a:lnSpc>
              <a:buNone/>
              <a:defRPr lang="en-US" sz="5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Quote</a:t>
            </a:r>
            <a:endParaRPr lang="en-US" sz="5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761970" y="5080041"/>
            <a:ext cx="952503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440"/>
              </a:lnSpc>
              <a:buNone/>
              <a:defRPr lang="en-US" sz="1200" spc="5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defRPr>
            </a:lvl1pPr>
          </a:lstStyle>
          <a:p>
            <a:pPr algn="l" indent="0" marL="0">
              <a:lnSpc>
                <a:spcPts val="1440"/>
              </a:lnSpc>
              <a:buNone/>
            </a:pPr>
            <a:r>
              <a:rPr lang="en-US" sz="1200" spc="5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1970" y="2095530"/>
            <a:ext cx="10668030" cy="4063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55600" marL="355600">
              <a:lnSpc>
                <a:spcPts val="2100"/>
              </a:lnSpc>
              <a:spcAft>
                <a:spcPts val="1200"/>
              </a:spcAft>
              <a:buNone/>
              <a:def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Author, A. (Year). Title. Journal, Volume(Issue),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darklab/tr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27510"/>
            <a:ext cx="1219197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761970" y="7112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761970" y="1460480"/>
            <a:ext cx="9525030" cy="12064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8000"/>
              </a:lnSpc>
              <a:buNone/>
              <a:defRPr lang="en-US" sz="8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1970" y="2857500"/>
            <a:ext cx="9525030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840"/>
              </a:lnSpc>
              <a:buNone/>
              <a:defRPr lang="en-US" sz="3200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61970" y="381030"/>
            <a:ext cx="6985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CONFERENCE NAME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61970" y="1460480"/>
            <a:ext cx="95250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4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do people trust an algorithm?</a:t>
            </a:r>
            <a:endParaRPr lang="en-US" sz="5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61970" y="3301990"/>
            <a:ext cx="825502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online experiments on explanations and advice-taking</a:t>
            </a:r>
            <a:endParaRPr lang="en-US" sz="20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761970" y="5905470"/>
            <a:ext cx="82550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EF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Speaker Name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Department of Psychology, University Name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55020" y="5905470"/>
            <a:ext cx="31749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= 3,412</a:t>
            </a:r>
            <a:endParaRPr lang="en-US" sz="110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experiments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1970" y="209553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970" y="2286000"/>
            <a:ext cx="7619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51041" y="2286000"/>
            <a:ext cx="6349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puzzle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19970" y="2286000"/>
            <a:ext cx="381003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Aversion and appreciation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1970" y="311152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1970" y="3301990"/>
            <a:ext cx="7619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51041" y="3301990"/>
            <a:ext cx="6349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experiments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619970" y="3301990"/>
            <a:ext cx="381003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= 3,412 online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1970" y="412751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970" y="4317980"/>
            <a:ext cx="7619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51041" y="4317980"/>
            <a:ext cx="6349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found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619970" y="4317980"/>
            <a:ext cx="381003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Reasons raise advice-taking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1970" y="514350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1970" y="5333970"/>
            <a:ext cx="7619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51041" y="5333970"/>
            <a:ext cx="6349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means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619970" y="5333970"/>
            <a:ext cx="381003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design and policy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70" y="6159490"/>
            <a:ext cx="1066803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61970" y="209553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SECTION 01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761970" y="2540020"/>
            <a:ext cx="106680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puzzle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761970" y="4063959"/>
            <a:ext cx="10668030" cy="0"/>
          </a:xfrm>
          <a:prstGeom prst="line">
            <a:avLst/>
          </a:prstGeom>
          <a:noFill/>
          <a:ln w="12700">
            <a:solidFill>
              <a:srgbClr val="343944"/>
            </a:solidFill>
            <a:prstDash val="solid"/>
          </a:ln>
        </p:spPr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761970" y="4317980"/>
            <a:ext cx="8889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do people follow some algorithms and ignore others?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findings that don’t fit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7580" y="2286000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/ AVERSION</a:t>
            </a:r>
            <a:endParaRPr lang="en-US" sz="11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1117580" y="2667030"/>
            <a:ext cx="449583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 abandon algorithms after seeing them err</a:t>
            </a:r>
            <a:endParaRPr lang="en-US" sz="2200" dirty="0"/>
          </a:p>
        </p:txBody>
      </p:sp>
      <p:sp>
        <p:nvSpPr>
          <p:cNvPr id="5" name="Text 4"/>
          <p:cNvSpPr/>
          <p:nvPr>
            <p:ph idx="106" type="body" hasCustomPrompt="1"/>
          </p:nvPr>
        </p:nvSpPr>
        <p:spPr>
          <a:xfrm>
            <a:off x="1117580" y="3683020"/>
            <a:ext cx="44958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7"/>
              </a:lnSpc>
              <a:buNone/>
            </a:pPr>
            <a:r>
              <a: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117580" y="5651541"/>
            <a:ext cx="44958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Dietvorst, Simmons &amp; Massey (2015)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78559" y="2286000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 / APPRECIATION</a:t>
            </a:r>
            <a:endParaRPr lang="en-US" sz="1100" dirty="0"/>
          </a:p>
        </p:txBody>
      </p:sp>
      <p:sp>
        <p:nvSpPr>
          <p:cNvPr id="8" name="Text 4"/>
          <p:cNvSpPr/>
          <p:nvPr>
            <p:ph idx="107" type="body" hasCustomPrompt="1"/>
          </p:nvPr>
        </p:nvSpPr>
        <p:spPr>
          <a:xfrm>
            <a:off x="6578559" y="2667030"/>
            <a:ext cx="449583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 prefer algorithmic to human advice</a:t>
            </a:r>
            <a:endParaRPr lang="en-US" sz="2200" dirty="0"/>
          </a:p>
        </p:txBody>
      </p:sp>
      <p:sp>
        <p:nvSpPr>
          <p:cNvPr id="9" name="Text 4"/>
          <p:cNvSpPr/>
          <p:nvPr>
            <p:ph idx="108" type="body" hasCustomPrompt="1"/>
          </p:nvPr>
        </p:nvSpPr>
        <p:spPr>
          <a:xfrm>
            <a:off x="6578559" y="3683020"/>
            <a:ext cx="44958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7"/>
              </a:lnSpc>
              <a:buNone/>
            </a:pPr>
            <a:r>
              <a:rPr lang="en-US" sz="155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estimation and forecasting tasks, people weighted advice more when they thought it came from an algorithm than from a person.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578559" y="5651541"/>
            <a:ext cx="44958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Logg, Minson &amp; Moore (2019)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predictions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1970" y="2286000"/>
            <a:ext cx="698510" cy="698510"/>
          </a:xfrm>
          <a:prstGeom prst="roundRect">
            <a:avLst>
              <a:gd name="adj" fmla="val 10905"/>
            </a:avLst>
          </a:prstGeom>
          <a:solidFill>
            <a:srgbClr val="12151B"/>
          </a:solidFill>
          <a:ln w="12700">
            <a:solidFill>
              <a:srgbClr val="F5B5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970" y="2286000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841510" y="2222541"/>
            <a:ext cx="952503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Advice that explains its reasoning is followed more often.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41510" y="3333720"/>
            <a:ext cx="958849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70" y="3619470"/>
            <a:ext cx="698510" cy="698510"/>
          </a:xfrm>
          <a:prstGeom prst="roundRect">
            <a:avLst>
              <a:gd name="adj" fmla="val 10905"/>
            </a:avLst>
          </a:prstGeom>
          <a:solidFill>
            <a:srgbClr val="12151B"/>
          </a:solidFill>
          <a:ln w="12700">
            <a:solidFill>
              <a:srgbClr val="F5B5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1970" y="3619470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841510" y="3556010"/>
            <a:ext cx="952503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confidence score adds to the effect of the reasons.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41510" y="4667280"/>
            <a:ext cx="9588490" cy="0"/>
          </a:xfrm>
          <a:prstGeom prst="line">
            <a:avLst/>
          </a:prstGeom>
          <a:noFill/>
          <a:ln w="12700">
            <a:solidFill>
              <a:srgbClr val="262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70" y="4953030"/>
            <a:ext cx="698510" cy="698510"/>
          </a:xfrm>
          <a:prstGeom prst="roundRect">
            <a:avLst>
              <a:gd name="adj" fmla="val 10905"/>
            </a:avLst>
          </a:prstGeom>
          <a:solidFill>
            <a:srgbClr val="12151B"/>
          </a:solidFill>
          <a:ln w="12700">
            <a:solidFill>
              <a:srgbClr val="F5B5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970" y="4953030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41510" y="4889480"/>
            <a:ext cx="952503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effect holds after people see the algorithm err.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each session 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1970" y="3047970"/>
            <a:ext cx="10668030" cy="0"/>
          </a:xfrm>
          <a:prstGeom prst="line">
            <a:avLst/>
          </a:prstGeom>
          <a:noFill/>
          <a:ln w="19050">
            <a:solidFill>
              <a:srgbClr val="7A5D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970" y="2959090"/>
            <a:ext cx="177759" cy="177759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970" y="254002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T+00:00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1970" y="3429000"/>
            <a:ext cx="2476470" cy="2095530"/>
          </a:xfrm>
          <a:prstGeom prst="roundRect">
            <a:avLst>
              <a:gd name="adj" fmla="val 3635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5990" y="368302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5990" y="4063959"/>
            <a:ext cx="196852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Consent and demographics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5080041"/>
            <a:ext cx="196852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2459" y="2959090"/>
            <a:ext cx="177759" cy="177759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2459" y="254002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T+02:00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2459" y="3429000"/>
            <a:ext cx="2476470" cy="2095530"/>
          </a:xfrm>
          <a:prstGeom prst="roundRect">
            <a:avLst>
              <a:gd name="adj" fmla="val 3635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6480" y="368302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46480" y="4063959"/>
            <a:ext cx="196852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 trials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46480" y="5080041"/>
            <a:ext cx="196852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3041" y="2959090"/>
            <a:ext cx="177759" cy="177759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23041" y="254002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T+07:00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3041" y="3429000"/>
            <a:ext cx="2476470" cy="2095530"/>
          </a:xfrm>
          <a:prstGeom prst="roundRect">
            <a:avLst>
              <a:gd name="adj" fmla="val 3635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6970" y="368302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76970" y="4063959"/>
            <a:ext cx="196852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Advice task, 24 trials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76970" y="5080041"/>
            <a:ext cx="196852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53530" y="2959090"/>
            <a:ext cx="177759" cy="177759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53530" y="254002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T+22:00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53530" y="3429000"/>
            <a:ext cx="2476470" cy="2095530"/>
          </a:xfrm>
          <a:prstGeom prst="roundRect">
            <a:avLst>
              <a:gd name="adj" fmla="val 3635"/>
            </a:avLst>
          </a:prstGeom>
          <a:solidFill>
            <a:srgbClr val="12151B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07459" y="368302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07459" y="4063959"/>
            <a:ext cx="196852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Debrief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207459" y="5080041"/>
            <a:ext cx="196852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participants saw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0570" y="2095530"/>
            <a:ext cx="101590" cy="101590"/>
          </a:xfrm>
          <a:prstGeom prst="ellipse">
            <a:avLst/>
          </a:prstGeom>
          <a:solidFill>
            <a:srgbClr val="4E5461"/>
          </a:solidFill>
          <a:ln/>
        </p:spPr>
      </p:sp>
      <p:sp>
        <p:nvSpPr>
          <p:cNvPr id="4" name="Shape 2"/>
          <p:cNvSpPr/>
          <p:nvPr/>
        </p:nvSpPr>
        <p:spPr>
          <a:xfrm>
            <a:off x="1168420" y="2095530"/>
            <a:ext cx="101590" cy="101590"/>
          </a:xfrm>
          <a:prstGeom prst="ellipse">
            <a:avLst/>
          </a:prstGeom>
          <a:solidFill>
            <a:srgbClr val="4E5461"/>
          </a:solidFill>
          <a:ln/>
        </p:spPr>
      </p:sp>
      <p:sp>
        <p:nvSpPr>
          <p:cNvPr id="5" name="Shape 3"/>
          <p:cNvSpPr/>
          <p:nvPr/>
        </p:nvSpPr>
        <p:spPr>
          <a:xfrm>
            <a:off x="1346180" y="2095530"/>
            <a:ext cx="101590" cy="101590"/>
          </a:xfrm>
          <a:prstGeom prst="ellipse">
            <a:avLst/>
          </a:prstGeom>
          <a:solidFill>
            <a:srgbClr val="4E5461"/>
          </a:solidFill>
          <a:ln/>
        </p:spPr>
      </p:sp>
      <p:pic>
        <p:nvPicPr>
          <p:cNvPr id="6" name="Image 0" descr="Advice screen from the study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952530" y="2349459"/>
            <a:ext cx="7048470" cy="3683020"/>
          </a:xfrm>
          <a:prstGeom prst="roundRect">
            <a:avLst>
              <a:gd name="adj" fmla="val 1034"/>
            </a:avLst>
          </a:prstGeom>
        </p:spPr>
      </p:pic>
      <p:sp>
        <p:nvSpPr>
          <p:cNvPr id="7" name="Text 4"/>
          <p:cNvSpPr txBox="1"/>
          <p:nvPr/>
        </p:nvSpPr>
        <p:spPr>
          <a:xfrm>
            <a:off x="8572500" y="1968520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FIG.02</a:t>
            </a:r>
            <a:endParaRPr lang="en-US" sz="1100" dirty="0"/>
          </a:p>
        </p:txBody>
      </p:sp>
      <p:sp>
        <p:nvSpPr>
          <p:cNvPr id="8" name="Text 3"/>
          <p:cNvSpPr/>
          <p:nvPr>
            <p:ph idx="105" type="body" hasCustomPrompt="1"/>
          </p:nvPr>
        </p:nvSpPr>
        <p:spPr>
          <a:xfrm>
            <a:off x="8572500" y="2349459"/>
            <a:ext cx="2857500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3A9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61970" y="1587490"/>
            <a:ext cx="6349959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</a:t>
            </a:r>
            <a:endParaRPr lang="en-US" sz="17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239030" y="1841510"/>
            <a:ext cx="419097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choices followed the algorithm when it explained its reasoning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457200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REASONS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1970" y="4826020"/>
            <a:ext cx="7340620" cy="165141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0" y="4775180"/>
            <a:ext cx="1270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68%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970" y="5206959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EXPLANATION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1970" y="5460980"/>
            <a:ext cx="4425970" cy="165141"/>
          </a:xfrm>
          <a:prstGeom prst="rect">
            <a:avLst/>
          </a:prstGeom>
          <a:solidFill>
            <a:srgbClr val="4E54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14950" y="5410230"/>
            <a:ext cx="1270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1970" y="6032480"/>
            <a:ext cx="888998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STUDY 2, N = 1,204 · SAMPLE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layer of explanation raised advice-taking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158990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100" kern="0" dirty="0">
                <a:solidFill>
                  <a:srgbClr val="F5B5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FIG.03 / % OF TRIALS ADVICE WAS FOLLOWED</a:t>
            </a:r>
            <a:endParaRPr lang="en-US" sz="1100" dirty="0"/>
          </a:p>
        </p:txBody>
      </p:sp>
      <p:graphicFrame>
        <p:nvGraphicFramePr>
          <p:cNvPr id="4" name="Bar chart" descr=""/>
          <p:cNvGraphicFramePr/>
          <p:nvPr/>
        </p:nvGraphicFramePr>
        <p:xfrm>
          <a:off x="1397020" y="2540020"/>
          <a:ext cx="9398020" cy="30479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3000" y="5778459"/>
            <a:ext cx="952503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SAMPLE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Mixed-effects logistic regression</a:t>
            </a:r>
            <a:endParaRPr lang="en-US" sz="30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41" y="2158990"/>
          <a:ext cx="10032980" cy="914400"/>
        </p:xfrm>
        <a:graphic>
          <a:graphicData uri="http://schemas.openxmlformats.org/drawingml/2006/table">
            <a:tbl>
              <a:tblPr/>
              <a:tblGrid>
                <a:gridCol w="5080041"/>
                <a:gridCol w="1651041"/>
                <a:gridCol w="1651041"/>
                <a:gridCol w="1651041"/>
              </a:tblGrid>
              <a:tr h="508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00" kern="0" dirty="0">
                          <a:solidFill>
                            <a:srgbClr val="6F7682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PREDICTOR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4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spc="100" kern="0" dirty="0">
                          <a:solidFill>
                            <a:srgbClr val="6F7682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b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4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spc="100" kern="0" dirty="0">
                          <a:solidFill>
                            <a:srgbClr val="6F7682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SE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4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spc="100" kern="0" dirty="0">
                          <a:solidFill>
                            <a:srgbClr val="6F7682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4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CEEF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Reasons (vs none)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F5B5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0.94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0.12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CEEF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Confidence score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F5B5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0.41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0.11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CEEF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Reasons × confidence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F5B5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0.18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0.15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.23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2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CEEF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Error observed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F5B5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−0.62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0.14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A3A9B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079541" y="6032480"/>
            <a:ext cx="1003298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RANDOM INTERCEPTS FOR PARTICIPANTS AND ITEMS. SAMPLE DATA.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761970" y="2984510"/>
            <a:ext cx="10668030" cy="177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I’d follow it if it told me why.</a:t>
            </a:r>
            <a:endParaRPr lang="en-US" sz="5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761970" y="5080041"/>
            <a:ext cx="9525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50" kern="0" dirty="0">
                <a:solidFill>
                  <a:srgbClr val="6F76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PARTICIPANT 214, OPEN RESPONSE (SAMPLE)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952530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61970" y="2095530"/>
            <a:ext cx="10668030" cy="406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Burton, J. W., Stein, M.-K., &amp; Jensen, T. B. (2020). 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systematic review of algorithm aversion in augmented decision making. </a:t>
            </a:r>
            <a:r>
              <a:rPr lang="en-US" sz="1400" i="1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Behavioral Decision Making, 33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(2), 220–239.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Castelo, N., Bos, M. W., &amp; Lehmann, D. R. (2019). 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Task-dependent algorithm aversion. </a:t>
            </a:r>
            <a:r>
              <a:rPr lang="en-US" sz="1400" i="1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Marketing Research, 56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(5), 809–825.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Dietvorst, B. J., Simmons, J. P., &amp; Massey, C. (2015). 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 aversion: People erroneously avoid algorithms after seeing them err. </a:t>
            </a:r>
            <a:r>
              <a:rPr lang="en-US" sz="1400" i="1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Experimental Psychology: General, 144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(1), 114–126.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Logg, J. M., Minson, J. A., &amp; Moore, D. A. (2019). 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 appreciation: People prefer algorithmic to human judgment. </a:t>
            </a:r>
            <a:r>
              <a:rPr lang="en-US" sz="1400" i="1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Organizational Behavior and Human Decision Processes, 151</a:t>
            </a:r>
            <a:r>
              <a:rPr lang="en-US" sz="1400" dirty="0">
                <a:solidFill>
                  <a:srgbClr val="C9C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90–103.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38103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F7682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761970" y="1460480"/>
            <a:ext cx="952503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ECEE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1970" y="2857500"/>
            <a:ext cx="952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5B5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590547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EMAIL  speaker@university.edu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3A9B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    yourlab.org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Lab">
  <a:themeElements>
    <a:clrScheme name="Dark Lab">
      <a:dk1>
        <a:srgbClr val="ECEEF1"/>
      </a:dk1>
      <a:lt1>
        <a:srgbClr val="0B0D11"/>
      </a:lt1>
      <a:dk2>
        <a:srgbClr val="A3A9B4"/>
      </a:dk2>
      <a:lt2>
        <a:srgbClr val="12151B"/>
      </a:lt2>
      <a:accent1>
        <a:srgbClr val="F5B547"/>
      </a:accent1>
      <a:accent2>
        <a:srgbClr val="5BC0EB"/>
      </a:accent2>
      <a:accent3>
        <a:srgbClr val="9AA3B2"/>
      </a:accent3>
      <a:accent4>
        <a:srgbClr val="E07A5F"/>
      </a:accent4>
      <a:accent5>
        <a:srgbClr val="81B29A"/>
      </a:accent5>
      <a:accent6>
        <a:srgbClr val="B8A1E3"/>
      </a:accent6>
      <a:hlink>
        <a:srgbClr val="F5B547"/>
      </a:hlink>
      <a:folHlink>
        <a:srgbClr val="5BC0EB"/>
      </a:folHlink>
    </a:clrScheme>
    <a:fontScheme name="Dark Lab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Lab template</dc:title>
  <dc:subject>PptxGenJS Presentation</dc:subject>
  <dc:creator>Template</dc:creator>
  <cp:lastModifiedBy>Template</cp:lastModifiedBy>
  <cp:revision>1</cp:revision>
  <dcterms:created xsi:type="dcterms:W3CDTF">2026-10-18T17:11:23Z</dcterms:created>
  <dcterms:modified xsi:type="dcterms:W3CDTF">2026-10-18T17:11:23Z</dcterms:modified>
</cp:coreProperties>
</file>
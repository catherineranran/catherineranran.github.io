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f0ecf9a-a733-d1d1-60ae-fb0372ef528d}">
          <p14:sldIdLst>
            <p14:sldId id="256"/>
            <p14:sldId id="257"/>
          </p14:sldIdLst>
        </p14:section>
        <p14:section name="Background" id="{b7ae6802-1ae6-2048-6eaf-d0da699db713}">
          <p14:sldIdLst>
            <p14:sldId id="258"/>
            <p14:sldId id="259"/>
            <p14:sldId id="260"/>
          </p14:sldIdLst>
        </p14:section>
        <p14:section name="Method" id="{e2afdd8b-b4b4-6348-34d3-47d6e4da5ac6}">
          <p14:sldIdLst>
            <p14:sldId id="261"/>
            <p14:sldId id="262"/>
          </p14:sldIdLst>
        </p14:section>
        <p14:section name="Results" id="{dd9b416e-dae9-53a9-b052-2947dab6c26a}">
          <p14:sldIdLst>
            <p14:sldId id="263"/>
            <p14:sldId id="264"/>
            <p14:sldId id="265"/>
            <p14:sldId id="266"/>
          </p14:sldIdLst>
        </p14:section>
        <p14:section name="Close" id="{3d59d19f-e2fe-cb8a-5cae-29ae0a0d347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3142857142857145"/>
          <c:w val="1"/>
          <c:h val="0.70785714285714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F9A5C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2300" u="none">
                    <a:solidFill>
                      <a:srgbClr val="3255A4"/>
                    </a:solidFill>
                    <a:latin typeface="Futur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A5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A5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A5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255A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2300" u="none">
                  <a:solidFill>
                    <a:srgbClr val="3255A4"/>
                  </a:solidFill>
                  <a:latin typeface="Futur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25400" cap="flat">
            <a:solidFill>
              <a:srgbClr val="3255A4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255A4"/>
                </a:solidFill>
                <a:latin typeface="Futur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Agenda-image-1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Agenda-image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riso/dots-p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6970" y="571500"/>
            <a:ext cx="5715000" cy="5715000"/>
          </a:xfrm>
          <a:prstGeom prst="rect">
            <a:avLst/>
          </a:prstGeom>
        </p:spPr>
      </p:pic>
      <p:pic>
        <p:nvPicPr>
          <p:cNvPr id="3" name="Image 1" descr="/home/claude/tpl/assets/riso/dots-bl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98020" y="3937041"/>
            <a:ext cx="2413010" cy="24130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70" y="698510"/>
            <a:ext cx="3429000" cy="368320"/>
          </a:xfrm>
          <a:prstGeom prst="roundRect">
            <a:avLst>
              <a:gd name="adj" fmla="val 50000"/>
            </a:avLst>
          </a:prstGeom>
          <a:solidFill>
            <a:srgbClr val="3255A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61970" y="698510"/>
            <a:ext cx="3429000" cy="36832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ctr" indent="0" marL="0">
              <a:lnSpc>
                <a:spcPts val="1200"/>
              </a:lnSpc>
              <a:buNone/>
              <a:defRPr lang="en-US" sz="10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ctr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EVENT · YEAR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61970" y="1397020"/>
            <a:ext cx="7492959" cy="1904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200"/>
              </a:lnSpc>
              <a:buNone/>
              <a:defRPr lang="en-US" sz="62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6200"/>
              </a:lnSpc>
              <a:buNone/>
            </a:pPr>
            <a:r>
              <a:rPr lang="en-US" sz="62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Talk title</a:t>
            </a:r>
            <a:endParaRPr lang="en-US" sz="6200" dirty="0">
              <a:effectLst>
                <a:outerShdw blurRad="0" dist="67501" dir="2471156" algn="tl" rotWithShape="0">
                  <a:srgbClr val="FF48B0"/>
                </a:outerShdw>
              </a:effectLst>
            </a:endParaRPr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61970" y="3460730"/>
            <a:ext cx="546098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70"/>
              </a:lnSpc>
              <a:buNone/>
              <a:defRPr lang="en-US" sz="19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Subtitle</a:t>
            </a:r>
            <a:endParaRPr lang="en-US" sz="19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761970" y="5715000"/>
            <a:ext cx="6985010" cy="634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030"/>
              </a:lnSpc>
              <a:buNone/>
              <a:def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Speaker name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Affiliation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riso/band-p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953030"/>
            <a:ext cx="12191970" cy="1904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F5F1E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1970" y="2095530"/>
            <a:ext cx="571500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560"/>
              </a:lnSpc>
              <a:buNone/>
              <a:defRPr lang="en-US" sz="13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1560"/>
              </a:lnSpc>
              <a:buNone/>
            </a:pPr>
            <a:r>
              <a:rPr lang="en-US" sz="13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1970" y="2476470"/>
            <a:ext cx="1015999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8500"/>
              </a:lnSpc>
              <a:buNone/>
              <a:defRPr lang="en-US" sz="8500" b="1" dirty="0">
                <a:solidFill>
                  <a:srgbClr val="F5F1E8"/>
                </a:solidFill>
                <a:effectLst>
                  <a:outerShdw blurRad="0" dist="90250" dir="235736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5F1E8"/>
                </a:solidFill>
                <a:effectLst>
                  <a:outerShdw blurRad="0" dist="90250" dir="235736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Section title</a:t>
            </a:r>
            <a:endParaRPr lang="en-US" sz="8500" dirty="0">
              <a:effectLst>
                <a:outerShdw blurRad="0" dist="90250" dir="2357364" algn="tl" rotWithShape="0">
                  <a:srgbClr val="FF48B0"/>
                </a:outerShdw>
              </a:effectLst>
            </a:endParaRPr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61970" y="4063959"/>
            <a:ext cx="761997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30"/>
              </a:lnSpc>
              <a:buNone/>
              <a:defRPr lang="en-US" sz="210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this part answers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F5F1E8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59" y="2197120"/>
            <a:ext cx="5206959" cy="3810030"/>
          </a:xfrm>
          <a:prstGeom prst="rect">
            <a:avLst/>
          </a:prstGeom>
          <a:solidFill>
            <a:srgbClr val="FF4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970" y="2095530"/>
            <a:ext cx="5206959" cy="381003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30" y="2197120"/>
            <a:ext cx="5206959" cy="3810030"/>
          </a:xfrm>
          <a:prstGeom prst="rect">
            <a:avLst/>
          </a:prstGeom>
          <a:solidFill>
            <a:srgbClr val="FF4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3041" y="2095530"/>
            <a:ext cx="5206959" cy="381003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1079541" y="2698760"/>
            <a:ext cx="457200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64"/>
              </a:lnSpc>
              <a:buNone/>
              <a:def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464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1079541" y="3714750"/>
            <a:ext cx="457200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Column text</a:t>
            </a:r>
            <a:endParaRPr lang="en-US" sz="1500" dirty="0"/>
          </a:p>
        </p:txBody>
      </p:sp>
      <p:sp>
        <p:nvSpPr>
          <p:cNvPr id="11" name="Text 6"/>
          <p:cNvSpPr/>
          <p:nvPr>
            <p:ph idx="109" type="body" hasCustomPrompt="1"/>
          </p:nvPr>
        </p:nvSpPr>
        <p:spPr>
          <a:xfrm>
            <a:off x="6540520" y="2698760"/>
            <a:ext cx="457200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64"/>
              </a:lnSpc>
              <a:buNone/>
              <a:def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464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6540520" y="3714750"/>
            <a:ext cx="457200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Column text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claude/tpl/assets/riso/dots-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71010" y="4063959"/>
            <a:ext cx="2540020" cy="254002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970" y="2286000"/>
            <a:ext cx="2476470" cy="298451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92459" y="2286000"/>
            <a:ext cx="2476470" cy="298451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30" y="2387590"/>
            <a:ext cx="2476470" cy="2984510"/>
          </a:xfrm>
          <a:prstGeom prst="rect">
            <a:avLst/>
          </a:prstGeom>
          <a:solidFill>
            <a:srgbClr val="FF4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3041" y="2286000"/>
            <a:ext cx="2476470" cy="298451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53530" y="2286000"/>
            <a:ext cx="2476470" cy="2984510"/>
          </a:xfrm>
          <a:prstGeom prst="rect">
            <a:avLst/>
          </a:prstGeom>
          <a:solidFill>
            <a:srgbClr val="F5F1E8"/>
          </a:solidFill>
          <a:ln w="2540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6270" y="2019270"/>
            <a:ext cx="7112020" cy="4000500"/>
          </a:xfrm>
          <a:prstGeom prst="rect">
            <a:avLst/>
          </a:prstGeom>
          <a:solidFill>
            <a:srgbClr val="FF4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761970" y="1904970"/>
            <a:ext cx="7112020" cy="4000500"/>
          </a:xfrm>
          <a:prstGeom prst="rect">
            <a:avLst/>
          </a:prstGeom>
          <a:noFill/>
          <a:ln w="25400">
            <a:solidFill>
              <a:srgbClr val="3255A4"/>
            </a:solidFill>
          </a:ln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382030" y="2286000"/>
            <a:ext cx="3047970" cy="3301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Caption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claude/tpl/assets/riso/dots-p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30" y="88898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1970" y="1460480"/>
            <a:ext cx="6349959" cy="254002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8000"/>
              </a:lnSpc>
              <a:buNone/>
              <a:defRPr lang="en-US" sz="18000" b="1" dirty="0">
                <a:solidFill>
                  <a:srgbClr val="3255A4"/>
                </a:solidFill>
                <a:effectLst>
                  <a:outerShdw blurRad="0" dist="108137" dir="2414181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3255A4"/>
                </a:solidFill>
                <a:effectLst>
                  <a:outerShdw blurRad="0" dist="108137" dir="2414181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68%</a:t>
            </a:r>
            <a:endParaRPr lang="en-US" sz="18000" dirty="0">
              <a:effectLst>
                <a:outerShdw blurRad="0" dist="108137" dir="2414181" algn="tl" rotWithShape="0">
                  <a:srgbClr val="FF48B0"/>
                </a:outerShdw>
              </a:effectLst>
            </a:endParaRPr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366041" y="1841510"/>
            <a:ext cx="4063959" cy="1714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000"/>
              </a:lnSpc>
              <a:buNone/>
              <a:defRPr lang="en-US" sz="2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the number means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30" y="952530"/>
            <a:ext cx="25400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0"/>
              </a:lnSpc>
              <a:buNone/>
            </a:pPr>
            <a:r>
              <a:rPr lang="en-US" sz="21000" b="1" dirty="0">
                <a:solidFill>
                  <a:srgbClr val="FF48B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“</a:t>
            </a:r>
            <a:endParaRPr lang="en-US" sz="21000" dirty="0"/>
          </a:p>
        </p:txBody>
      </p:sp>
      <p:pic>
        <p:nvPicPr>
          <p:cNvPr id="5" name="Image 0" descr="/home/claude/tpl/assets/riso/dots-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825520"/>
            <a:ext cx="2413010" cy="241301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body" hasCustomPrompt="1"/>
          </p:nvPr>
        </p:nvSpPr>
        <p:spPr>
          <a:xfrm>
            <a:off x="761970" y="2984510"/>
            <a:ext cx="1066803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832"/>
              </a:lnSpc>
              <a:buNone/>
              <a:defRPr lang="en-US" sz="54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5832"/>
              </a:lnSpc>
              <a:buNone/>
            </a:pPr>
            <a:r>
              <a:rPr lang="en-US" sz="54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Quote</a:t>
            </a:r>
            <a:endParaRPr lang="en-US" sz="5400" dirty="0">
              <a:effectLst>
                <a:outerShdw blurRad="0" dist="67501" dir="2471156" algn="tl" rotWithShape="0">
                  <a:srgbClr val="FF48B0"/>
                </a:outerShdw>
              </a:effectLst>
            </a:endParaRPr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61970" y="5016490"/>
            <a:ext cx="9525030" cy="2794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800"/>
              </a:lnSpc>
              <a:buNone/>
              <a:def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— Source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23641" y="292059"/>
            <a:ext cx="406359" cy="406359"/>
          </a:xfrm>
          <a:prstGeom prst="ellipse">
            <a:avLst/>
          </a:prstGeom>
          <a:ln w="19050">
            <a:solidFill>
              <a:srgbClr val="3255A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65"/>
              </a:lnSpc>
              <a:buNone/>
              <a:def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Slide title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1970" y="2095530"/>
            <a:ext cx="10668030" cy="4063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55600" marL="355600">
              <a:lnSpc>
                <a:spcPts val="2100"/>
              </a:lnSpc>
              <a:spcAft>
                <a:spcPts val="1300"/>
              </a:spcAft>
              <a:buNone/>
              <a:def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21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Author, A. (Year). Title. Journal, Volume(Issue),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riso/dots-p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6970" y="571500"/>
            <a:ext cx="5715000" cy="5715000"/>
          </a:xfrm>
          <a:prstGeom prst="rect">
            <a:avLst/>
          </a:prstGeom>
        </p:spPr>
      </p:pic>
      <p:pic>
        <p:nvPicPr>
          <p:cNvPr id="3" name="Image 1" descr="/home/claude/tpl/assets/riso/dots-bl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98020" y="3937041"/>
            <a:ext cx="2413010" cy="24130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70" y="393741"/>
            <a:ext cx="761997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1970" y="1587490"/>
            <a:ext cx="8255020" cy="1397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9500"/>
              </a:lnSpc>
              <a:buNone/>
              <a:defRPr lang="en-US" sz="9500" b="1" dirty="0">
                <a:solidFill>
                  <a:srgbClr val="3255A4"/>
                </a:solidFill>
                <a:effectLst>
                  <a:outerShdw blurRad="0" dist="99190" dir="238833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9500"/>
              </a:lnSpc>
              <a:buNone/>
            </a:pPr>
            <a:r>
              <a:rPr lang="en-US" sz="9500" b="1" dirty="0">
                <a:solidFill>
                  <a:srgbClr val="3255A4"/>
                </a:solidFill>
                <a:effectLst>
                  <a:outerShdw blurRad="0" dist="99190" dir="238833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Thank you</a:t>
            </a:r>
            <a:endParaRPr lang="en-US" sz="9500" dirty="0">
              <a:effectLst>
                <a:outerShdw blurRad="0" dist="99190" dir="2388334" algn="tl" rotWithShape="0">
                  <a:srgbClr val="FF48B0"/>
                </a:outerShdw>
              </a:effectLst>
            </a:endParaRPr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1970" y="3174980"/>
            <a:ext cx="7619970" cy="634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4320"/>
              </a:lnSpc>
              <a:buNone/>
              <a:defRPr lang="en-US" sz="36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defRPr>
            </a:lvl1pPr>
          </a:lstStyle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61970" y="698510"/>
            <a:ext cx="3429000" cy="3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CONFERENCE NAME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761970" y="1397020"/>
            <a:ext cx="7492959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62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When do people trust an algorithm?</a:t>
            </a:r>
            <a:endParaRPr lang="en-US" sz="6200" dirty="0">
              <a:effectLst>
                <a:outerShdw blurRad="0" dist="67501" dir="2471156" algn="tl" rotWithShape="0">
                  <a:srgbClr val="FF48B0"/>
                </a:outerShdw>
              </a:effectLst>
            </a:endParaRPr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761970" y="3460730"/>
            <a:ext cx="5460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Three online experiments on explanations and advice-taking</a:t>
            </a:r>
            <a:endParaRPr lang="en-US" sz="1900" dirty="0"/>
          </a:p>
        </p:txBody>
      </p:sp>
      <p:sp>
        <p:nvSpPr>
          <p:cNvPr id="5" name="Text 1"/>
          <p:cNvSpPr/>
          <p:nvPr>
            <p:ph idx="106" type="body" hasCustomPrompt="1"/>
          </p:nvPr>
        </p:nvSpPr>
        <p:spPr>
          <a:xfrm>
            <a:off x="761970" y="571500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Speaker Name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Department of Psychology, University 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Today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Offset print text"/>
          <p:cNvSpPr txBox="1"/>
          <p:nvPr/>
        </p:nvSpPr>
        <p:spPr>
          <a:xfrm>
            <a:off x="761970" y="2095530"/>
            <a:ext cx="247647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01</a:t>
            </a:r>
            <a:endParaRPr lang="en-US" sz="80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4" name="Shape 2"/>
          <p:cNvSpPr/>
          <p:nvPr/>
        </p:nvSpPr>
        <p:spPr>
          <a:xfrm>
            <a:off x="761970" y="3365541"/>
            <a:ext cx="2476470" cy="0"/>
          </a:xfrm>
          <a:prstGeom prst="line">
            <a:avLst/>
          </a:prstGeom>
          <a:noFill/>
          <a:ln w="25400">
            <a:solidFill>
              <a:srgbClr val="3255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970" y="3556010"/>
            <a:ext cx="24764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puzzle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970" y="4444990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Aversion and appreciation</a:t>
            </a:r>
            <a:endParaRPr lang="en-US" sz="1400" dirty="0"/>
          </a:p>
        </p:txBody>
      </p:sp>
      <p:sp>
        <p:nvSpPr>
          <p:cNvPr id="7" name="Offset print text"/>
          <p:cNvSpPr txBox="1"/>
          <p:nvPr/>
        </p:nvSpPr>
        <p:spPr>
          <a:xfrm>
            <a:off x="3492459" y="2095530"/>
            <a:ext cx="247647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02</a:t>
            </a:r>
            <a:endParaRPr lang="en-US" sz="80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8" name="Shape 6"/>
          <p:cNvSpPr/>
          <p:nvPr/>
        </p:nvSpPr>
        <p:spPr>
          <a:xfrm>
            <a:off x="3492459" y="3365541"/>
            <a:ext cx="2476470" cy="0"/>
          </a:xfrm>
          <a:prstGeom prst="line">
            <a:avLst/>
          </a:prstGeom>
          <a:noFill/>
          <a:ln w="25400">
            <a:solidFill>
              <a:srgbClr val="3255A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2459" y="3556010"/>
            <a:ext cx="24764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Three experiments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92459" y="4444990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 = 3,412 online</a:t>
            </a:r>
            <a:endParaRPr lang="en-US" sz="1400" dirty="0"/>
          </a:p>
        </p:txBody>
      </p:sp>
      <p:sp>
        <p:nvSpPr>
          <p:cNvPr id="11" name="Offset print text"/>
          <p:cNvSpPr txBox="1"/>
          <p:nvPr/>
        </p:nvSpPr>
        <p:spPr>
          <a:xfrm>
            <a:off x="6223041" y="2095530"/>
            <a:ext cx="247647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03</a:t>
            </a:r>
            <a:endParaRPr lang="en-US" sz="80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23041" y="3365541"/>
            <a:ext cx="2476470" cy="0"/>
          </a:xfrm>
          <a:prstGeom prst="line">
            <a:avLst/>
          </a:prstGeom>
          <a:noFill/>
          <a:ln w="25400">
            <a:solidFill>
              <a:srgbClr val="3255A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3041" y="3556010"/>
            <a:ext cx="24764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we found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23041" y="4444990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Reasons raise advice-taking</a:t>
            </a:r>
            <a:endParaRPr lang="en-US" sz="1400" dirty="0"/>
          </a:p>
        </p:txBody>
      </p:sp>
      <p:sp>
        <p:nvSpPr>
          <p:cNvPr id="15" name="Offset print text"/>
          <p:cNvSpPr txBox="1"/>
          <p:nvPr/>
        </p:nvSpPr>
        <p:spPr>
          <a:xfrm>
            <a:off x="8953530" y="2095530"/>
            <a:ext cx="247647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04</a:t>
            </a:r>
            <a:endParaRPr lang="en-US" sz="80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53530" y="3365541"/>
            <a:ext cx="2476470" cy="0"/>
          </a:xfrm>
          <a:prstGeom prst="line">
            <a:avLst/>
          </a:prstGeom>
          <a:noFill/>
          <a:ln w="25400">
            <a:solidFill>
              <a:srgbClr val="3255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53530" y="3556010"/>
            <a:ext cx="24764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it means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953530" y="4444990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For design and policy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761970" y="209553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spc="200" kern="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1970" y="2476470"/>
            <a:ext cx="1015999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5F1E8"/>
                </a:solidFill>
                <a:effectLst>
                  <a:outerShdw blurRad="0" dist="90250" dir="235736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The puzzle</a:t>
            </a:r>
            <a:endParaRPr lang="en-US" sz="8500" dirty="0">
              <a:effectLst>
                <a:outerShdw blurRad="0" dist="90250" dir="2357364" algn="tl" rotWithShape="0">
                  <a:srgbClr val="FF48B0"/>
                </a:outerShdw>
              </a:effectLst>
            </a:endParaRPr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61970" y="4063959"/>
            <a:ext cx="7619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Why do people follow some algorithms and ignore others?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F5F1E8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Two findings that don’t fit together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79541" y="2362170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— AVERSION</a:t>
            </a:r>
            <a:endParaRPr lang="en-US" sz="1100" dirty="0"/>
          </a:p>
        </p:txBody>
      </p:sp>
      <p:sp>
        <p:nvSpPr>
          <p:cNvPr id="4" name="Text 6"/>
          <p:cNvSpPr/>
          <p:nvPr>
            <p:ph idx="107" type="body" hasCustomPrompt="1"/>
          </p:nvPr>
        </p:nvSpPr>
        <p:spPr>
          <a:xfrm>
            <a:off x="1079541" y="2698760"/>
            <a:ext cx="457200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4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People abandon algorithms after seeing them err</a:t>
            </a:r>
            <a:endParaRPr lang="en-US" sz="2200" dirty="0"/>
          </a:p>
        </p:txBody>
      </p:sp>
      <p:sp>
        <p:nvSpPr>
          <p:cNvPr id="5" name="Text 6"/>
          <p:cNvSpPr/>
          <p:nvPr>
            <p:ph idx="108" type="body" hasCustomPrompt="1"/>
          </p:nvPr>
        </p:nvSpPr>
        <p:spPr>
          <a:xfrm>
            <a:off x="1079541" y="3714750"/>
            <a:ext cx="457200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79541" y="5460980"/>
            <a:ext cx="4572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Dietvorst, Simmons &amp; Massey (2015)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40520" y="2362170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 — APPRECIATION</a:t>
            </a:r>
            <a:endParaRPr lang="en-US" sz="1100" dirty="0"/>
          </a:p>
        </p:txBody>
      </p:sp>
      <p:sp>
        <p:nvSpPr>
          <p:cNvPr id="8" name="Text 6"/>
          <p:cNvSpPr/>
          <p:nvPr>
            <p:ph idx="109" type="body" hasCustomPrompt="1"/>
          </p:nvPr>
        </p:nvSpPr>
        <p:spPr>
          <a:xfrm>
            <a:off x="6540520" y="2698760"/>
            <a:ext cx="457200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4"/>
              </a:lnSpc>
              <a:buNone/>
            </a:pPr>
            <a:r>
              <a:rPr lang="en-US" sz="22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People prefer algorithmic to human advice</a:t>
            </a:r>
            <a:endParaRPr lang="en-US" sz="2200" dirty="0"/>
          </a:p>
        </p:txBody>
      </p:sp>
      <p:sp>
        <p:nvSpPr>
          <p:cNvPr id="9" name="Text 6"/>
          <p:cNvSpPr/>
          <p:nvPr>
            <p:ph idx="110" type="body" hasCustomPrompt="1"/>
          </p:nvPr>
        </p:nvSpPr>
        <p:spPr>
          <a:xfrm>
            <a:off x="6540520" y="3714750"/>
            <a:ext cx="457200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 estimation and forecasting tasks, people weighted advice more when they thought it came from an algorithm than from a person.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40520" y="5460980"/>
            <a:ext cx="4572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Logg, Minson &amp; Moore (2019)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Our predictions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941" y="2235159"/>
            <a:ext cx="787390" cy="787390"/>
          </a:xfrm>
          <a:prstGeom prst="ellipse">
            <a:avLst/>
          </a:prstGeom>
          <a:solidFill>
            <a:srgbClr val="FF48B0"/>
          </a:solidFill>
          <a:ln/>
        </p:spPr>
      </p:sp>
      <p:sp>
        <p:nvSpPr>
          <p:cNvPr id="4" name="Shape 2"/>
          <p:cNvSpPr/>
          <p:nvPr/>
        </p:nvSpPr>
        <p:spPr>
          <a:xfrm>
            <a:off x="761970" y="2158990"/>
            <a:ext cx="787390" cy="787390"/>
          </a:xfrm>
          <a:prstGeom prst="ellipse">
            <a:avLst/>
          </a:prstGeom>
          <a:solidFill>
            <a:srgbClr val="3255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970" y="2158990"/>
            <a:ext cx="78739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68520" y="2158990"/>
            <a:ext cx="888998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Advice that explains its reasoning is followed more often.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50941" y="3441710"/>
            <a:ext cx="787390" cy="787390"/>
          </a:xfrm>
          <a:prstGeom prst="ellipse">
            <a:avLst/>
          </a:prstGeom>
          <a:solidFill>
            <a:srgbClr val="FF48B0"/>
          </a:solidFill>
          <a:ln/>
        </p:spPr>
      </p:sp>
      <p:sp>
        <p:nvSpPr>
          <p:cNvPr id="8" name="Shape 6"/>
          <p:cNvSpPr/>
          <p:nvPr/>
        </p:nvSpPr>
        <p:spPr>
          <a:xfrm>
            <a:off x="761970" y="3365541"/>
            <a:ext cx="787390" cy="787390"/>
          </a:xfrm>
          <a:prstGeom prst="ellipse">
            <a:avLst/>
          </a:prstGeom>
          <a:solidFill>
            <a:srgbClr val="3255A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1970" y="3365541"/>
            <a:ext cx="78739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68520" y="3365541"/>
            <a:ext cx="888998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confidence score adds to the effect of the reasons.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50941" y="4648170"/>
            <a:ext cx="787390" cy="787390"/>
          </a:xfrm>
          <a:prstGeom prst="ellipse">
            <a:avLst/>
          </a:prstGeom>
          <a:solidFill>
            <a:srgbClr val="FF48B0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970" y="4572000"/>
            <a:ext cx="787390" cy="787390"/>
          </a:xfrm>
          <a:prstGeom prst="ellipse">
            <a:avLst/>
          </a:prstGeom>
          <a:solidFill>
            <a:srgbClr val="3255A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1970" y="4572000"/>
            <a:ext cx="78739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968520" y="4572000"/>
            <a:ext cx="8889980" cy="78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effect holds after people see the algorithm err.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How each session ran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Offset print text"/>
          <p:cNvSpPr txBox="1"/>
          <p:nvPr/>
        </p:nvSpPr>
        <p:spPr>
          <a:xfrm>
            <a:off x="1015990" y="2476470"/>
            <a:ext cx="127001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65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15990" y="3587740"/>
            <a:ext cx="203198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Consent and demographics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15990" y="4699010"/>
            <a:ext cx="952530" cy="304770"/>
          </a:xfrm>
          <a:prstGeom prst="roundRect">
            <a:avLst>
              <a:gd name="adj" fmla="val 50000"/>
            </a:avLst>
          </a:prstGeom>
          <a:solidFill>
            <a:srgbClr val="F7D6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990" y="4699010"/>
            <a:ext cx="9525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 MIN</a:t>
            </a:r>
            <a:endParaRPr lang="en-US" sz="1000" dirty="0"/>
          </a:p>
        </p:txBody>
      </p:sp>
      <p:sp>
        <p:nvSpPr>
          <p:cNvPr id="7" name="Offset print text"/>
          <p:cNvSpPr txBox="1"/>
          <p:nvPr/>
        </p:nvSpPr>
        <p:spPr>
          <a:xfrm>
            <a:off x="3746480" y="2476470"/>
            <a:ext cx="127001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65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746480" y="3587740"/>
            <a:ext cx="203198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Practice trials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746480" y="4699010"/>
            <a:ext cx="952530" cy="304770"/>
          </a:xfrm>
          <a:prstGeom prst="roundRect">
            <a:avLst>
              <a:gd name="adj" fmla="val 50000"/>
            </a:avLst>
          </a:prstGeom>
          <a:solidFill>
            <a:srgbClr val="F7D6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6480" y="4699010"/>
            <a:ext cx="9525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 MIN</a:t>
            </a:r>
            <a:endParaRPr lang="en-US" sz="1000" dirty="0"/>
          </a:p>
        </p:txBody>
      </p:sp>
      <p:sp>
        <p:nvSpPr>
          <p:cNvPr id="11" name="Offset print text"/>
          <p:cNvSpPr txBox="1"/>
          <p:nvPr/>
        </p:nvSpPr>
        <p:spPr>
          <a:xfrm>
            <a:off x="6476970" y="2476470"/>
            <a:ext cx="127001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65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76970" y="3587740"/>
            <a:ext cx="203198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Advice task, 24 trials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76970" y="4699010"/>
            <a:ext cx="952530" cy="304770"/>
          </a:xfrm>
          <a:prstGeom prst="roundRect">
            <a:avLst>
              <a:gd name="adj" fmla="val 50000"/>
            </a:avLst>
          </a:prstGeom>
          <a:solidFill>
            <a:srgbClr val="F7D6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6970" y="4699010"/>
            <a:ext cx="9525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15 MIN</a:t>
            </a:r>
            <a:endParaRPr lang="en-US" sz="1000" dirty="0"/>
          </a:p>
        </p:txBody>
      </p:sp>
      <p:sp>
        <p:nvSpPr>
          <p:cNvPr id="15" name="Offset print text"/>
          <p:cNvSpPr txBox="1"/>
          <p:nvPr/>
        </p:nvSpPr>
        <p:spPr>
          <a:xfrm>
            <a:off x="9207459" y="2476470"/>
            <a:ext cx="127001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3255A4"/>
                </a:solidFill>
                <a:effectLst>
                  <a:outerShdw blurRad="0" dist="58544" dir="243607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6500" dirty="0">
              <a:effectLst>
                <a:outerShdw blurRad="0" dist="58544" dir="2436078" algn="tl" rotWithShape="0">
                  <a:srgbClr val="FF48B0"/>
                </a:outerShdw>
              </a:effectLst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207459" y="3587740"/>
            <a:ext cx="203198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Debrief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207459" y="4699010"/>
            <a:ext cx="952530" cy="304770"/>
          </a:xfrm>
          <a:prstGeom prst="roundRect">
            <a:avLst>
              <a:gd name="adj" fmla="val 50000"/>
            </a:avLst>
          </a:prstGeom>
          <a:solidFill>
            <a:srgbClr val="F7D6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07459" y="4699010"/>
            <a:ext cx="9525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 MIN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1970" y="5587990"/>
            <a:ext cx="10668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Step 3 is where the advice appeared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What participants saw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pic>
        <p:nvPicPr>
          <p:cNvPr id="3" name="Image 0" descr="Advice screen from the study, printed in blue ink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761970" y="1904970"/>
            <a:ext cx="7112020" cy="4000500"/>
          </a:xfrm>
          <a:prstGeom prst="rect">
            <a:avLst/>
          </a:prstGeom>
          <a:ln w="25400">
            <a:solidFill>
              <a:srgbClr val="3255A4"/>
            </a:solidFill>
          </a:ln>
        </p:spPr>
      </p:pic>
      <p:sp>
        <p:nvSpPr>
          <p:cNvPr id="4" name="Text 1"/>
          <p:cNvSpPr txBox="1"/>
          <p:nvPr/>
        </p:nvSpPr>
        <p:spPr>
          <a:xfrm>
            <a:off x="8382030" y="1930390"/>
            <a:ext cx="304797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FIGURE 2</a:t>
            </a:r>
            <a:endParaRPr lang="en-US" sz="11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8382030" y="2286000"/>
            <a:ext cx="3047970" cy="330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761970" y="1460480"/>
            <a:ext cx="6349959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3255A4"/>
                </a:solidFill>
                <a:effectLst>
                  <a:outerShdw blurRad="0" dist="108137" dir="2414181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68%</a:t>
            </a:r>
            <a:endParaRPr lang="en-US" sz="18000" dirty="0">
              <a:effectLst>
                <a:outerShdw blurRad="0" dist="108137" dir="2414181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366041" y="1841510"/>
            <a:ext cx="4063959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of choices followed the algorithm when it explained its reasoning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66041" y="3746480"/>
            <a:ext cx="4063959" cy="0"/>
          </a:xfrm>
          <a:prstGeom prst="line">
            <a:avLst/>
          </a:prstGeom>
          <a:noFill/>
          <a:ln w="25400">
            <a:solidFill>
              <a:srgbClr val="3255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6041" y="3937041"/>
            <a:ext cx="40639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vs 41% with no explanation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61970" y="5905470"/>
            <a:ext cx="634995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Study 2, N = 1,204 · sample data</a:t>
            </a:r>
            <a:endParaRPr lang="en-US" sz="1200" dirty="0"/>
          </a:p>
        </p:txBody>
      </p:sp>
      <p:sp>
        <p:nvSpPr>
          <p:cNvPr id="7" name="Stamp"/>
          <p:cNvSpPr/>
          <p:nvPr/>
        </p:nvSpPr>
        <p:spPr>
          <a:xfrm rot="-480000">
            <a:off x="8635959" y="5080041"/>
            <a:ext cx="2413010" cy="698510"/>
          </a:xfrm>
          <a:prstGeom prst="roundRect">
            <a:avLst>
              <a:gd name="adj" fmla="val 12724"/>
            </a:avLst>
          </a:prstGeom>
          <a:ln w="31750">
            <a:solidFill>
              <a:srgbClr val="3255A4"/>
            </a:solidFill>
            <a:prstDash val="solid"/>
          </a:ln>
        </p:spPr>
      </p:sp>
      <p:sp>
        <p:nvSpPr>
          <p:cNvPr id="8" name="Stamp text"/>
          <p:cNvSpPr txBox="1"/>
          <p:nvPr/>
        </p:nvSpPr>
        <p:spPr>
          <a:xfrm rot="-480000">
            <a:off x="8635959" y="5080041"/>
            <a:ext cx="2413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spc="3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SAMPLE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Each layer of explanation raised advice-taking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61970" y="2019270"/>
            <a:ext cx="825502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b="1" spc="15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% OF TRIALS ON WHICH THE ADVICE WAS FOLLOWED</a:t>
            </a:r>
            <a:endParaRPr lang="en-US" sz="950" dirty="0"/>
          </a:p>
        </p:txBody>
      </p:sp>
      <p:graphicFrame>
        <p:nvGraphicFramePr>
          <p:cNvPr id="4" name="Bar chart" descr=""/>
          <p:cNvGraphicFramePr/>
          <p:nvPr/>
        </p:nvGraphicFramePr>
        <p:xfrm>
          <a:off x="761970" y="2413010"/>
          <a:ext cx="8889980" cy="35560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mp"/>
          <p:cNvSpPr/>
          <p:nvPr/>
        </p:nvSpPr>
        <p:spPr>
          <a:xfrm rot="360000">
            <a:off x="9905970" y="2984510"/>
            <a:ext cx="1587490" cy="482620"/>
          </a:xfrm>
          <a:prstGeom prst="roundRect">
            <a:avLst>
              <a:gd name="adj" fmla="val 18416"/>
            </a:avLst>
          </a:prstGeom>
          <a:ln w="31750">
            <a:solidFill>
              <a:srgbClr val="3255A4"/>
            </a:solidFill>
            <a:prstDash val="solid"/>
          </a:ln>
        </p:spPr>
      </p:sp>
      <p:sp>
        <p:nvSpPr>
          <p:cNvPr id="6" name="Stamp text"/>
          <p:cNvSpPr txBox="1"/>
          <p:nvPr/>
        </p:nvSpPr>
        <p:spPr>
          <a:xfrm rot="360000">
            <a:off x="9905970" y="2984510"/>
            <a:ext cx="158749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spc="300" kern="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SAMPLE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Mixed-effects logistic regression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70" y="2095530"/>
          <a:ext cx="10668030" cy="914400"/>
        </p:xfrm>
        <a:graphic>
          <a:graphicData uri="http://schemas.openxmlformats.org/drawingml/2006/table">
            <a:tbl>
              <a:tblPr/>
              <a:tblGrid>
                <a:gridCol w="5333970"/>
                <a:gridCol w="1777959"/>
                <a:gridCol w="1777959"/>
                <a:gridCol w="1777959"/>
              </a:tblGrid>
              <a:tr h="508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50" kern="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PREDICTOR</a:t>
                      </a:r>
                      <a:endParaRPr lang="en-US" sz="12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50" kern="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b</a:t>
                      </a:r>
                      <a:endParaRPr lang="en-US" sz="12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50" kern="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SE</a:t>
                      </a:r>
                      <a:endParaRPr lang="en-US" sz="12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50" kern="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p</a:t>
                      </a:r>
                      <a:endParaRPr lang="en-US" sz="12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Reasons (vs none)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0.94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0.12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&lt; .001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Confidence score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0.41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0.11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&lt; .001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D6DF"/>
                    </a:solidFill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Reasons × confidence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0.18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0.15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.23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Error observed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−0.62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0.14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6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3255A4"/>
                          </a:solidFill>
                          <a:latin typeface="Futura" pitchFamily="34" charset="0"/>
                          <a:ea typeface="Futura" pitchFamily="34" charset="-122"/>
                          <a:cs typeface="Futura" pitchFamily="34" charset="-120"/>
                        </a:rPr>
                        <a:t>&lt; .001</a:t>
                      </a:r>
                      <a:endParaRPr lang="en-US" sz="1800" dirty="0">
                        <a:latin typeface="Futura" charset="0"/>
                        <a:ea typeface="Futura" charset="0"/>
                        <a:cs typeface="Futura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25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6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1970" y="5435559"/>
            <a:ext cx="10668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Random intercepts for participants and items. Sample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761970" y="2984510"/>
            <a:ext cx="1066803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b="1" dirty="0">
                <a:solidFill>
                  <a:srgbClr val="3255A4"/>
                </a:solidFill>
                <a:effectLst>
                  <a:outerShdw blurRad="0" dist="67501" dir="2471156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I’d follow it if it told me why.</a:t>
            </a:r>
            <a:endParaRPr lang="en-US" sz="5400" dirty="0">
              <a:effectLst>
                <a:outerShdw blurRad="0" dist="67501" dir="2471156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761970" y="5016490"/>
            <a:ext cx="952503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— Participant 214, open response (sample)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761970"/>
            <a:ext cx="990597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3255A4"/>
                </a:solidFill>
                <a:effectLst>
                  <a:outerShdw blurRad="0" dist="40660" dir="2319588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References</a:t>
            </a:r>
            <a:endParaRPr lang="en-US" sz="3300" dirty="0">
              <a:effectLst>
                <a:outerShdw blurRad="0" dist="40660" dir="2319588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61970" y="2095530"/>
            <a:ext cx="10668030" cy="406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55600" marL="355600">
              <a:lnSpc>
                <a:spcPts val="21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Burton, J. W., Stein, M.-K., &amp; Jensen, T. B. (2020). 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systematic review of algorithm aversion in augmented decision making. </a:t>
            </a:r>
            <a:r>
              <a:rPr lang="en-US" sz="14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Journal of Behavioral Decision Making, 33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(2), 220–239.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Castelo, N., Bos, M. W., &amp; Lehmann, D. R. (2019). 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Task-dependent algorithm aversion. </a:t>
            </a:r>
            <a:r>
              <a:rPr lang="en-US" sz="14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Journal of Marketing Research, 56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(5), 809–825.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Dietvorst, B. J., Simmons, J. P., &amp; Massey, C. (2015). 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Algorithm aversion: People erroneously avoid algorithms after seeing them err. </a:t>
            </a:r>
            <a:r>
              <a:rPr lang="en-US" sz="14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Journal of Experimental Psychology: General, 144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(1), 114–126.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Logg, J. M., Minson, J. A., &amp; Moore, D. A. (2019). 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Algorithm appreciation: People prefer algorithmic to human judgment. </a:t>
            </a:r>
            <a:r>
              <a:rPr lang="en-US" sz="1400" i="1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Organizational Behavior and Human Decision Processes, 151</a:t>
            </a:r>
            <a:r>
              <a:rPr lang="en-US" sz="14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, 90–103.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3641" y="412760"/>
            <a:ext cx="406359" cy="165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3255A4"/>
                </a:solidFill>
                <a:latin typeface="Futura"/>
                <a:ea typeface="Futura"/>
                <a:cs typeface="Futura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61970" y="1587490"/>
            <a:ext cx="8255020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0"/>
              </a:lnSpc>
              <a:buNone/>
            </a:pPr>
            <a:r>
              <a:rPr lang="en-US" sz="9500" b="1" dirty="0">
                <a:solidFill>
                  <a:srgbClr val="3255A4"/>
                </a:solidFill>
                <a:effectLst>
                  <a:outerShdw blurRad="0" dist="99190" dir="2388334" algn="tl" rotWithShape="0">
                    <a:srgbClr val="FF48B0"/>
                  </a:outerShdw>
                </a:effectLst>
                <a:latin typeface="Futura" pitchFamily="34" charset="0"/>
                <a:ea typeface="Futura" pitchFamily="34" charset="-122"/>
                <a:cs typeface="Futura" pitchFamily="34" charset="-120"/>
              </a:rPr>
              <a:t>Thank you</a:t>
            </a:r>
            <a:endParaRPr lang="en-US" sz="9500" dirty="0">
              <a:effectLst>
                <a:outerShdw blurRad="0" dist="99190" dir="2388334" algn="tl" rotWithShape="0">
                  <a:srgbClr val="FF48B0"/>
                </a:outerShdw>
              </a:effectLst>
            </a:endParaRPr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61970" y="3174980"/>
            <a:ext cx="76199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5587990"/>
            <a:ext cx="5715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speaker@university.edu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255A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yourlab.org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o">
  <a:themeElements>
    <a:clrScheme name="Riso">
      <a:dk1>
        <a:srgbClr val="3255A4"/>
      </a:dk1>
      <a:lt1>
        <a:srgbClr val="F5F1E8"/>
      </a:lt1>
      <a:dk2>
        <a:srgbClr val="24427F"/>
      </a:dk2>
      <a:lt2>
        <a:srgbClr val="F7D6DF"/>
      </a:lt2>
      <a:accent1>
        <a:srgbClr val="3255A4"/>
      </a:accent1>
      <a:accent2>
        <a:srgbClr val="FF48B0"/>
      </a:accent2>
      <a:accent3>
        <a:srgbClr val="00838A"/>
      </a:accent3>
      <a:accent4>
        <a:srgbClr val="FF6C2F"/>
      </a:accent4>
      <a:accent5>
        <a:srgbClr val="765BA7"/>
      </a:accent5>
      <a:accent6>
        <a:srgbClr val="00A95C"/>
      </a:accent6>
      <a:hlink>
        <a:srgbClr val="3255A4"/>
      </a:hlink>
      <a:folHlink>
        <a:srgbClr val="765BA7"/>
      </a:folHlink>
    </a:clrScheme>
    <a:fontScheme name="Riso">
      <a:majorFont>
        <a:latin typeface="Futu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utu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Riso template</dc:title>
  <dc:subject>PptxGenJS Presentation</dc:subject>
  <dc:creator>Template</dc:creator>
  <cp:lastModifiedBy>Template</cp:lastModifiedBy>
  <cp:revision>1</cp:revision>
  <dcterms:created xsi:type="dcterms:W3CDTF">2026-10-18T17:11:27Z</dcterms:created>
  <dcterms:modified xsi:type="dcterms:W3CDTF">2026-10-18T17:11:27Z</dcterms:modified>
</cp:coreProperties>
</file>
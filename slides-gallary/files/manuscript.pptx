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f404d40-e0e3-c616-2f5e-77c8d754427d}">
          <p14:sldIdLst>
            <p14:sldId id="256"/>
            <p14:sldId id="257"/>
          </p14:sldIdLst>
        </p14:section>
        <p14:section name="Background" id="{74e413f4-0bf4-f3d7-7dc0-79aa09a34bd5}">
          <p14:sldIdLst>
            <p14:sldId id="258"/>
            <p14:sldId id="259"/>
            <p14:sldId id="260"/>
          </p14:sldIdLst>
        </p14:section>
        <p14:section name="Method" id="{169f1b6c-5a30-e916-99c6-b8c591c85aeb}">
          <p14:sldIdLst>
            <p14:sldId id="261"/>
            <p14:sldId id="262"/>
          </p14:sldIdLst>
        </p14:section>
        <p14:section name="Results" id="{40880757-158c-db1a-8e09-c9a54319c46c}">
          <p14:sldIdLst>
            <p14:sldId id="263"/>
            <p14:sldId id="264"/>
            <p14:sldId id="265"/>
            <p14:sldId id="266"/>
          </p14:sldIdLst>
        </p14:section>
        <p14:section name="Close" id="{d9f98e86-90bf-7c30-b7a8-ba7f096507a4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"/>
          <c:y val="0.10880000000000001"/>
          <c:w val="1"/>
          <c:h val="0.711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DEDCD5"/>
            </a:solidFill>
            <a:ln w="12700" cap="flat">
              <a:solidFill>
                <a:srgbClr val="161616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700" u="none">
                    <a:solidFill>
                      <a:srgbClr val="161616"/>
                    </a:solidFill>
                    <a:latin typeface="Iowan Old Styl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EDCD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DBAB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918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E35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No explanation</c:v>
                  </c:pt>
                  <c:pt idx="1">
                    <c:v>Confidence score</c:v>
                  </c:pt>
                  <c:pt idx="2">
                    <c:v>Reasons</c:v>
                  </c:pt>
                  <c:pt idx="3">
                    <c:v>Reasons + confidence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</c:v>
                </c:pt>
                <c:pt idx="1">
                  <c:v>52</c:v>
                </c:pt>
                <c:pt idx="2">
                  <c:v>63</c:v>
                </c:pt>
                <c:pt idx="3">
                  <c:v>68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700" u="none">
                  <a:solidFill>
                    <a:srgbClr val="161616"/>
                  </a:solidFill>
                  <a:latin typeface="Iowan Old Styl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161616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61616"/>
                </a:solidFill>
                <a:latin typeface="Iowan Old Sty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12700" cap="flat">
            <a:solidFill>
              <a:srgbClr val="161616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1616"/>
                </a:solidFill>
                <a:latin typeface="Menlo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page. Highlight a word with Format &gt; Font &gt; Highlight (PowerPoint) or the text colour well's highlight option (Keynote).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age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numbers"/>
          <p:cNvSpPr/>
          <p:nvPr/>
        </p:nvSpPr>
        <p:spPr>
          <a:xfrm>
            <a:off x="254020" y="1270010"/>
            <a:ext cx="406359" cy="5206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</a:t>
            </a:r>
            <a:endParaRPr lang="en-US" sz="850" dirty="0"/>
          </a:p>
        </p:txBody>
      </p:sp>
      <p:sp>
        <p:nvSpPr>
          <p:cNvPr id="3" name="Running head"/>
          <p:cNvSpPr/>
          <p:nvPr/>
        </p:nvSpPr>
        <p:spPr>
          <a:xfrm>
            <a:off x="1015990" y="330190"/>
            <a:ext cx="7619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00" kern="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TRUST IN ALGORITHMIC ADVICE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15990" y="660380"/>
            <a:ext cx="10159990" cy="0"/>
          </a:xfrm>
          <a:prstGeom prst="line">
            <a:avLst/>
          </a:prstGeom>
          <a:noFill/>
          <a:ln w="9525">
            <a:solidFill>
              <a:srgbClr val="161616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>
            <p:ph idx="103" type="body" hasCustomPrompt="1"/>
          </p:nvPr>
        </p:nvSpPr>
        <p:spPr>
          <a:xfrm>
            <a:off x="1015990" y="1587490"/>
            <a:ext cx="7619970" cy="25402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320"/>
              </a:lnSpc>
              <a:buNone/>
              <a:defRPr lang="en-US" sz="110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defRPr>
            </a:lvl1pPr>
          </a:lstStyle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Event · year</a:t>
            </a:r>
            <a:endParaRPr lang="en-US" sz="11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1015990" y="2031980"/>
            <a:ext cx="9905970" cy="158749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5616"/>
              </a:lnSpc>
              <a:buNone/>
              <a:defRPr lang="en-US" sz="52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defRPr>
            </a:lvl1pPr>
          </a:lstStyle>
          <a:p>
            <a:pPr algn="l" indent="0" marL="0">
              <a:lnSpc>
                <a:spcPts val="5616"/>
              </a:lnSpc>
              <a:buNone/>
            </a:pPr>
            <a:r>
              <a:rPr lang="en-US" sz="52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Title of the talk</a:t>
            </a:r>
            <a:endParaRPr lang="en-US" sz="52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1015990" y="3810030"/>
            <a:ext cx="8889980" cy="69851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730"/>
              </a:lnSpc>
              <a:buNone/>
              <a:defRPr lang="en-US" sz="2100" i="1" dirty="0">
                <a:solidFill>
                  <a:srgbClr val="4D4C48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defRPr>
            </a:lvl1pPr>
          </a:lstStyle>
          <a:p>
            <a:pPr algn="l" indent="0" marL="0">
              <a:lnSpc>
                <a:spcPts val="2730"/>
              </a:lnSpc>
              <a:buNone/>
            </a:pPr>
            <a:r>
              <a:rPr lang="en-US" sz="2100" i="1" dirty="0">
                <a:solidFill>
                  <a:srgbClr val="4D4C48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Subtitle</a:t>
            </a:r>
            <a:endParaRPr lang="en-US" sz="2100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1015990" y="5016490"/>
            <a:ext cx="8889980" cy="82552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250"/>
              </a:lnSpc>
              <a:buNone/>
              <a:defRPr lang="en-US" sz="1500" dirty="0">
                <a:solidFill>
                  <a:srgbClr val="4D4C48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defRPr>
            </a:lvl1pPr>
          </a:lstStyle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D4C48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Author name¹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D4C48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¹ Affiliation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1020" y="330190"/>
            <a:ext cx="634959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8A83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numbers"/>
          <p:cNvSpPr/>
          <p:nvPr/>
        </p:nvSpPr>
        <p:spPr>
          <a:xfrm>
            <a:off x="254020" y="1270010"/>
            <a:ext cx="406359" cy="5206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</a:t>
            </a:r>
            <a:endParaRPr lang="en-US" sz="850" dirty="0"/>
          </a:p>
        </p:txBody>
      </p:sp>
      <p:sp>
        <p:nvSpPr>
          <p:cNvPr id="3" name="Running head"/>
          <p:cNvSpPr/>
          <p:nvPr/>
        </p:nvSpPr>
        <p:spPr>
          <a:xfrm>
            <a:off x="1015990" y="330190"/>
            <a:ext cx="7619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00" kern="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TRUST IN ALGORITHMIC ADVICE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15990" y="660380"/>
            <a:ext cx="10159990" cy="0"/>
          </a:xfrm>
          <a:prstGeom prst="line">
            <a:avLst/>
          </a:prstGeom>
          <a:noFill/>
          <a:ln w="9525">
            <a:solidFill>
              <a:srgbClr val="161616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1015990" y="952530"/>
            <a:ext cx="10159990" cy="82552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3520"/>
              </a:lnSpc>
              <a:buNone/>
              <a:defRPr lang="en-US" sz="32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defRPr>
            </a:lvl1pPr>
          </a:lstStyle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Slide title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1020" y="330190"/>
            <a:ext cx="634959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8A83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numbers"/>
          <p:cNvSpPr/>
          <p:nvPr/>
        </p:nvSpPr>
        <p:spPr>
          <a:xfrm>
            <a:off x="254020" y="1270010"/>
            <a:ext cx="406359" cy="5206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</a:t>
            </a:r>
            <a:endParaRPr lang="en-US" sz="850" dirty="0"/>
          </a:p>
        </p:txBody>
      </p:sp>
      <p:sp>
        <p:nvSpPr>
          <p:cNvPr id="3" name="Running head"/>
          <p:cNvSpPr/>
          <p:nvPr/>
        </p:nvSpPr>
        <p:spPr>
          <a:xfrm>
            <a:off x="1015990" y="330190"/>
            <a:ext cx="7619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00" kern="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TRUST IN ALGORITHMIC ADVICE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15990" y="660380"/>
            <a:ext cx="10159990" cy="0"/>
          </a:xfrm>
          <a:prstGeom prst="line">
            <a:avLst/>
          </a:prstGeom>
          <a:noFill/>
          <a:ln w="9525">
            <a:solidFill>
              <a:srgbClr val="161616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>
            <p:ph idx="103" type="body" hasCustomPrompt="1"/>
          </p:nvPr>
        </p:nvSpPr>
        <p:spPr>
          <a:xfrm>
            <a:off x="1015990" y="1651041"/>
            <a:ext cx="3810030" cy="209553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5000"/>
              </a:lnSpc>
              <a:buNone/>
              <a:defRPr lang="en-US" sz="150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defRPr>
            </a:lvl1pPr>
          </a:lstStyle>
          <a:p>
            <a:pPr algn="l" indent="0" marL="0">
              <a:lnSpc>
                <a:spcPts val="15000"/>
              </a:lnSpc>
              <a:buNone/>
            </a:pPr>
            <a:r>
              <a:rPr lang="en-US" sz="150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1.</a:t>
            </a:r>
            <a:endParaRPr lang="en-US" sz="150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1015990" y="3810030"/>
            <a:ext cx="9525030" cy="95253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6825"/>
              </a:lnSpc>
              <a:buNone/>
              <a:defRPr lang="en-US" sz="65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defRPr>
            </a:lvl1pPr>
          </a:lstStyle>
          <a:p>
            <a:pPr algn="l" indent="0" marL="0">
              <a:lnSpc>
                <a:spcPts val="6825"/>
              </a:lnSpc>
              <a:buNone/>
            </a:pPr>
            <a:r>
              <a:rPr lang="en-US" sz="65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Section title</a:t>
            </a:r>
            <a:endParaRPr lang="en-US" sz="65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1015990" y="4953030"/>
            <a:ext cx="8889980" cy="69851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730"/>
              </a:lnSpc>
              <a:buNone/>
              <a:defRPr lang="en-US" sz="2100" i="1" dirty="0">
                <a:solidFill>
                  <a:srgbClr val="4D4C48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defRPr>
            </a:lvl1pPr>
          </a:lstStyle>
          <a:p>
            <a:pPr algn="l" indent="0" marL="0">
              <a:lnSpc>
                <a:spcPts val="2730"/>
              </a:lnSpc>
              <a:buNone/>
            </a:pPr>
            <a:r>
              <a:rPr lang="en-US" sz="2100" i="1" dirty="0">
                <a:solidFill>
                  <a:srgbClr val="4D4C48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What this part answers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1020" y="330190"/>
            <a:ext cx="634959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8A83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numbers"/>
          <p:cNvSpPr/>
          <p:nvPr/>
        </p:nvSpPr>
        <p:spPr>
          <a:xfrm>
            <a:off x="254020" y="1270010"/>
            <a:ext cx="406359" cy="5206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</a:t>
            </a:r>
            <a:endParaRPr lang="en-US" sz="850" dirty="0"/>
          </a:p>
        </p:txBody>
      </p:sp>
      <p:sp>
        <p:nvSpPr>
          <p:cNvPr id="3" name="Running head"/>
          <p:cNvSpPr/>
          <p:nvPr/>
        </p:nvSpPr>
        <p:spPr>
          <a:xfrm>
            <a:off x="1015990" y="330190"/>
            <a:ext cx="7619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00" kern="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TRUST IN ALGORITHMIC ADVICE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15990" y="660380"/>
            <a:ext cx="10159990" cy="0"/>
          </a:xfrm>
          <a:prstGeom prst="line">
            <a:avLst/>
          </a:prstGeom>
          <a:noFill/>
          <a:ln w="9525">
            <a:solidFill>
              <a:srgbClr val="161616">
                <a:alpha val="8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030" y="2158990"/>
            <a:ext cx="0" cy="3873490"/>
          </a:xfrm>
          <a:prstGeom prst="line">
            <a:avLst/>
          </a:prstGeom>
          <a:noFill/>
          <a:ln w="6350">
            <a:solidFill>
              <a:srgbClr val="161616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>
            <p:ph idx="104" type="title" hasCustomPrompt="1"/>
          </p:nvPr>
        </p:nvSpPr>
        <p:spPr>
          <a:xfrm>
            <a:off x="1015990" y="952530"/>
            <a:ext cx="10159990" cy="82552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3520"/>
              </a:lnSpc>
              <a:buNone/>
              <a:defRPr lang="en-US" sz="32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defRPr>
            </a:lvl1pPr>
          </a:lstStyle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Slide title</a:t>
            </a:r>
            <a:endParaRPr lang="en-US" sz="3200" dirty="0"/>
          </a:p>
        </p:txBody>
      </p:sp>
      <p:sp>
        <p:nvSpPr>
          <p:cNvPr id="7" name="Text 4"/>
          <p:cNvSpPr/>
          <p:nvPr>
            <p:ph idx="105" type="body" hasCustomPrompt="1"/>
          </p:nvPr>
        </p:nvSpPr>
        <p:spPr>
          <a:xfrm>
            <a:off x="1015990" y="2190720"/>
            <a:ext cx="4699010" cy="76197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530"/>
              </a:lnSpc>
              <a:buNone/>
              <a:defRPr lang="en-US" sz="22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defRPr>
            </a:lvl1pPr>
          </a:lstStyle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1.1 Column heading</a:t>
            </a:r>
            <a:endParaRPr lang="en-US" sz="2200" dirty="0"/>
          </a:p>
        </p:txBody>
      </p:sp>
      <p:sp>
        <p:nvSpPr>
          <p:cNvPr id="8" name="Text 4"/>
          <p:cNvSpPr/>
          <p:nvPr>
            <p:ph idx="106" type="body" hasCustomPrompt="1"/>
          </p:nvPr>
        </p:nvSpPr>
        <p:spPr>
          <a:xfrm>
            <a:off x="1015990" y="2920959"/>
            <a:ext cx="4699010" cy="254002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400"/>
              </a:lnSpc>
              <a:buNone/>
              <a:defRPr lang="en-US" sz="1600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defRPr>
            </a:lvl1pPr>
          </a:lstStyle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Column text (Author, Year).</a:t>
            </a:r>
            <a:endParaRPr lang="en-US" sz="1600" dirty="0"/>
          </a:p>
        </p:txBody>
      </p:sp>
      <p:sp>
        <p:nvSpPr>
          <p:cNvPr id="9" name="Text 4"/>
          <p:cNvSpPr/>
          <p:nvPr>
            <p:ph idx="107" type="body" hasCustomPrompt="1"/>
          </p:nvPr>
        </p:nvSpPr>
        <p:spPr>
          <a:xfrm>
            <a:off x="6476970" y="2190720"/>
            <a:ext cx="4699010" cy="76197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530"/>
              </a:lnSpc>
              <a:buNone/>
              <a:defRPr lang="en-US" sz="22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defRPr>
            </a:lvl1pPr>
          </a:lstStyle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1.1 Column heading</a:t>
            </a:r>
            <a:endParaRPr lang="en-US" sz="2200" dirty="0"/>
          </a:p>
        </p:txBody>
      </p:sp>
      <p:sp>
        <p:nvSpPr>
          <p:cNvPr id="10" name="Text 4"/>
          <p:cNvSpPr/>
          <p:nvPr>
            <p:ph idx="108" type="body" hasCustomPrompt="1"/>
          </p:nvPr>
        </p:nvSpPr>
        <p:spPr>
          <a:xfrm>
            <a:off x="6476970" y="2920959"/>
            <a:ext cx="4699010" cy="254002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400"/>
              </a:lnSpc>
              <a:buNone/>
              <a:defRPr lang="en-US" sz="1600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defRPr>
            </a:lvl1pPr>
          </a:lstStyle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Column text (Author, Year).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1020" y="330190"/>
            <a:ext cx="634959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8A83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ints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numbers"/>
          <p:cNvSpPr/>
          <p:nvPr/>
        </p:nvSpPr>
        <p:spPr>
          <a:xfrm>
            <a:off x="254020" y="1270010"/>
            <a:ext cx="406359" cy="5206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</a:t>
            </a:r>
            <a:endParaRPr lang="en-US" sz="850" dirty="0"/>
          </a:p>
        </p:txBody>
      </p:sp>
      <p:sp>
        <p:nvSpPr>
          <p:cNvPr id="3" name="Running head"/>
          <p:cNvSpPr/>
          <p:nvPr/>
        </p:nvSpPr>
        <p:spPr>
          <a:xfrm>
            <a:off x="1015990" y="330190"/>
            <a:ext cx="7619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00" kern="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TRUST IN ALGORITHMIC ADVICE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15990" y="660380"/>
            <a:ext cx="10159990" cy="0"/>
          </a:xfrm>
          <a:prstGeom prst="line">
            <a:avLst/>
          </a:prstGeom>
          <a:noFill/>
          <a:ln w="9525">
            <a:solidFill>
              <a:srgbClr val="161616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1015990" y="952530"/>
            <a:ext cx="10159990" cy="82552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3520"/>
              </a:lnSpc>
              <a:buNone/>
              <a:defRPr lang="en-US" sz="32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defRPr>
            </a:lvl1pPr>
          </a:lstStyle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Slide title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1020" y="330190"/>
            <a:ext cx="634959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8A83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: procedure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numbers"/>
          <p:cNvSpPr/>
          <p:nvPr/>
        </p:nvSpPr>
        <p:spPr>
          <a:xfrm>
            <a:off x="254020" y="1270010"/>
            <a:ext cx="406359" cy="5206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</a:t>
            </a:r>
            <a:endParaRPr lang="en-US" sz="850" dirty="0"/>
          </a:p>
        </p:txBody>
      </p:sp>
      <p:sp>
        <p:nvSpPr>
          <p:cNvPr id="3" name="Running head"/>
          <p:cNvSpPr/>
          <p:nvPr/>
        </p:nvSpPr>
        <p:spPr>
          <a:xfrm>
            <a:off x="1015990" y="330190"/>
            <a:ext cx="7619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00" kern="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TRUST IN ALGORITHMIC ADVICE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15990" y="660380"/>
            <a:ext cx="10159990" cy="0"/>
          </a:xfrm>
          <a:prstGeom prst="line">
            <a:avLst/>
          </a:prstGeom>
          <a:noFill/>
          <a:ln w="9525">
            <a:solidFill>
              <a:srgbClr val="161616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1015990" y="952530"/>
            <a:ext cx="10159990" cy="82552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3520"/>
              </a:lnSpc>
              <a:buNone/>
              <a:defRPr lang="en-US" sz="32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defRPr>
            </a:lvl1pPr>
          </a:lstStyle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Slide title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1020" y="330190"/>
            <a:ext cx="634959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8A83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: image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numbers"/>
          <p:cNvSpPr/>
          <p:nvPr/>
        </p:nvSpPr>
        <p:spPr>
          <a:xfrm>
            <a:off x="254020" y="1270010"/>
            <a:ext cx="406359" cy="5206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</a:t>
            </a:r>
            <a:endParaRPr lang="en-US" sz="850" dirty="0"/>
          </a:p>
        </p:txBody>
      </p:sp>
      <p:sp>
        <p:nvSpPr>
          <p:cNvPr id="3" name="Running head"/>
          <p:cNvSpPr/>
          <p:nvPr/>
        </p:nvSpPr>
        <p:spPr>
          <a:xfrm>
            <a:off x="1015990" y="330190"/>
            <a:ext cx="7619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00" kern="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TRUST IN ALGORITHMIC ADVICE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15990" y="660380"/>
            <a:ext cx="10159990" cy="0"/>
          </a:xfrm>
          <a:prstGeom prst="line">
            <a:avLst/>
          </a:prstGeom>
          <a:noFill/>
          <a:ln w="9525">
            <a:solidFill>
              <a:srgbClr val="161616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1015990" y="952530"/>
            <a:ext cx="10159990" cy="82552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3520"/>
              </a:lnSpc>
              <a:buNone/>
              <a:defRPr lang="en-US" sz="32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defRPr>
            </a:lvl1pPr>
          </a:lstStyle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Slide title</a:t>
            </a:r>
            <a:endParaRPr lang="en-US" sz="3200" dirty="0"/>
          </a:p>
        </p:txBody>
      </p:sp>
      <p:sp>
        <p:nvSpPr>
          <p:cNvPr id="6" name="Text 3"/>
          <p:cNvSpPr/>
          <p:nvPr>
            <p:ph idx="104" hasCustomPrompt="1"/>
          </p:nvPr>
        </p:nvSpPr>
        <p:spPr>
          <a:xfrm>
            <a:off x="1015990" y="2031980"/>
            <a:ext cx="6985010" cy="3930640"/>
          </a:xfrm>
          <a:prstGeom prst="rect">
            <a:avLst/>
          </a:prstGeom>
          <a:noFill/>
          <a:ln w="12700">
            <a:solidFill>
              <a:srgbClr val="161616"/>
            </a:solidFill>
          </a:ln>
        </p:spPr>
        <p:txBody>
          <a:bodyPr wrap="square" rtlCol="0" lIns="0" tIns="0" rIns="0" bIns="0" anchor="t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8382030" y="2031980"/>
            <a:ext cx="2794041" cy="3937041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250"/>
              </a:lnSpc>
              <a:spcAft>
                <a:spcPts val="900"/>
              </a:spcAft>
              <a:buNone/>
              <a:defRPr lang="en-US" sz="1500" dirty="0">
                <a:solidFill>
                  <a:srgbClr val="4D4C48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defRPr>
            </a:lvl1pPr>
          </a:lstStyle>
          <a:p>
            <a:pPr algn="l" indent="0" marL="0">
              <a:lnSpc>
                <a:spcPts val="225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4D4C48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Fig. 2 | Caption.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1020" y="330190"/>
            <a:ext cx="634959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8A83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number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numbers"/>
          <p:cNvSpPr/>
          <p:nvPr/>
        </p:nvSpPr>
        <p:spPr>
          <a:xfrm>
            <a:off x="254020" y="1270010"/>
            <a:ext cx="406359" cy="5206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</a:t>
            </a:r>
            <a:endParaRPr lang="en-US" sz="850" dirty="0"/>
          </a:p>
        </p:txBody>
      </p:sp>
      <p:sp>
        <p:nvSpPr>
          <p:cNvPr id="3" name="Running head"/>
          <p:cNvSpPr/>
          <p:nvPr/>
        </p:nvSpPr>
        <p:spPr>
          <a:xfrm>
            <a:off x="1015990" y="330190"/>
            <a:ext cx="7619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00" kern="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TRUST IN ALGORITHMIC ADVICE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15990" y="660380"/>
            <a:ext cx="10159990" cy="0"/>
          </a:xfrm>
          <a:prstGeom prst="line">
            <a:avLst/>
          </a:prstGeom>
          <a:noFill/>
          <a:ln w="9525">
            <a:solidFill>
              <a:srgbClr val="161616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>
            <p:ph idx="103" type="body" hasCustomPrompt="1"/>
          </p:nvPr>
        </p:nvSpPr>
        <p:spPr>
          <a:xfrm>
            <a:off x="1015990" y="1841510"/>
            <a:ext cx="5715000" cy="2413010"/>
          </a:xfrm>
          <a:prstGeom prst="rect">
            <a:avLst/>
          </a:prstGeom>
          <a:noFill/>
          <a:ln/>
        </p:spPr>
        <p:txBody>
          <a:bodyPr wrap="square" rtlCol="0" lIns="0" tIns="0" rIns="0" bIns="0" anchor="ctr"/>
          <a:lstStyle>
            <a:lvl1pPr algn="l" indent="0" marL="0">
              <a:lnSpc>
                <a:spcPts val="16500"/>
              </a:lnSpc>
              <a:buNone/>
              <a:defRPr lang="en-US" sz="165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defRPr>
            </a:lvl1pPr>
          </a:lstStyle>
          <a:p>
            <a:pPr algn="l" indent="0" marL="0">
              <a:lnSpc>
                <a:spcPts val="16500"/>
              </a:lnSpc>
              <a:buNone/>
            </a:pPr>
            <a:r>
              <a:rPr lang="en-US" sz="165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68%</a:t>
            </a:r>
            <a:endParaRPr lang="en-US" sz="165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6730990" y="2158990"/>
            <a:ext cx="4444990" cy="1651041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000"/>
              </a:lnSpc>
              <a:buNone/>
              <a:defRPr lang="en-US" sz="2400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defRPr>
            </a:lvl1pPr>
          </a:lstStyle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What the number means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1020" y="330190"/>
            <a:ext cx="634959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8A83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: chart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numbers"/>
          <p:cNvSpPr/>
          <p:nvPr/>
        </p:nvSpPr>
        <p:spPr>
          <a:xfrm>
            <a:off x="254020" y="1270010"/>
            <a:ext cx="406359" cy="5206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</a:t>
            </a:r>
            <a:endParaRPr lang="en-US" sz="850" dirty="0"/>
          </a:p>
        </p:txBody>
      </p:sp>
      <p:sp>
        <p:nvSpPr>
          <p:cNvPr id="3" name="Running head"/>
          <p:cNvSpPr/>
          <p:nvPr/>
        </p:nvSpPr>
        <p:spPr>
          <a:xfrm>
            <a:off x="1015990" y="330190"/>
            <a:ext cx="7619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00" kern="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TRUST IN ALGORITHMIC ADVICE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15990" y="660380"/>
            <a:ext cx="10159990" cy="0"/>
          </a:xfrm>
          <a:prstGeom prst="line">
            <a:avLst/>
          </a:prstGeom>
          <a:noFill/>
          <a:ln w="9525">
            <a:solidFill>
              <a:srgbClr val="161616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1015990" y="952530"/>
            <a:ext cx="10159990" cy="82552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3190"/>
              </a:lnSpc>
              <a:buNone/>
              <a:defRPr lang="en-US" sz="29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defRPr>
            </a:lvl1pPr>
          </a:lstStyle>
          <a:p>
            <a:pPr algn="l" indent="0" marL="0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Slide title</a:t>
            </a:r>
            <a:endParaRPr lang="en-US" sz="2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1020" y="330190"/>
            <a:ext cx="634959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8A83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numbers"/>
          <p:cNvSpPr/>
          <p:nvPr/>
        </p:nvSpPr>
        <p:spPr>
          <a:xfrm>
            <a:off x="254020" y="1270010"/>
            <a:ext cx="406359" cy="5206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</a:t>
            </a:r>
            <a:endParaRPr lang="en-US" sz="850" dirty="0"/>
          </a:p>
        </p:txBody>
      </p:sp>
      <p:sp>
        <p:nvSpPr>
          <p:cNvPr id="3" name="Running head"/>
          <p:cNvSpPr/>
          <p:nvPr/>
        </p:nvSpPr>
        <p:spPr>
          <a:xfrm>
            <a:off x="1015990" y="330190"/>
            <a:ext cx="7619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00" kern="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TRUST IN ALGORITHMIC ADVICE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15990" y="660380"/>
            <a:ext cx="10159990" cy="0"/>
          </a:xfrm>
          <a:prstGeom prst="line">
            <a:avLst/>
          </a:prstGeom>
          <a:noFill/>
          <a:ln w="9525">
            <a:solidFill>
              <a:srgbClr val="161616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1015990" y="1270010"/>
            <a:ext cx="10159990" cy="508041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2200"/>
              </a:lnSpc>
              <a:buNone/>
              <a:defRPr lang="en-US" sz="2000" i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defRPr>
            </a:lvl1pPr>
          </a:lstStyle>
          <a:p>
            <a:pPr algn="l" indent="0" marL="0">
              <a:lnSpc>
                <a:spcPts val="2200"/>
              </a:lnSpc>
              <a:buNone/>
            </a:pPr>
            <a:r>
              <a:rPr lang="en-US" sz="2000" i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Slide title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1020" y="330190"/>
            <a:ext cx="634959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8A83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ock quote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numbers"/>
          <p:cNvSpPr/>
          <p:nvPr/>
        </p:nvSpPr>
        <p:spPr>
          <a:xfrm>
            <a:off x="254020" y="1270010"/>
            <a:ext cx="406359" cy="5206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</a:t>
            </a:r>
            <a:endParaRPr lang="en-US" sz="850" dirty="0"/>
          </a:p>
        </p:txBody>
      </p:sp>
      <p:sp>
        <p:nvSpPr>
          <p:cNvPr id="3" name="Running head"/>
          <p:cNvSpPr/>
          <p:nvPr/>
        </p:nvSpPr>
        <p:spPr>
          <a:xfrm>
            <a:off x="1015990" y="330190"/>
            <a:ext cx="7619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00" kern="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TRUST IN ALGORITHMIC ADVICE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15990" y="660380"/>
            <a:ext cx="10159990" cy="0"/>
          </a:xfrm>
          <a:prstGeom prst="line">
            <a:avLst/>
          </a:prstGeom>
          <a:noFill/>
          <a:ln w="9525">
            <a:solidFill>
              <a:srgbClr val="161616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>
            <p:ph idx="103" type="body" hasCustomPrompt="1"/>
          </p:nvPr>
        </p:nvSpPr>
        <p:spPr>
          <a:xfrm>
            <a:off x="1714500" y="2540020"/>
            <a:ext cx="8889980" cy="1651041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5290"/>
              </a:lnSpc>
              <a:buNone/>
              <a:defRPr lang="en-US" sz="4600" i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defRPr>
            </a:lvl1pPr>
          </a:lstStyle>
          <a:p>
            <a:pPr algn="l" indent="0" marL="0">
              <a:lnSpc>
                <a:spcPts val="5290"/>
              </a:lnSpc>
              <a:buNone/>
            </a:pPr>
            <a:r>
              <a:rPr lang="en-US" sz="4600" i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Quotation</a:t>
            </a:r>
            <a:endParaRPr lang="en-US" sz="46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1714500" y="4444990"/>
            <a:ext cx="8255020" cy="38103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920"/>
              </a:lnSpc>
              <a:buNone/>
              <a:defRPr lang="en-US" sz="1600" dirty="0">
                <a:solidFill>
                  <a:srgbClr val="4D4C48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defRPr>
            </a:lvl1pPr>
          </a:lstStyle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4D4C48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— Source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1020" y="330190"/>
            <a:ext cx="634959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8A83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ferences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numbers"/>
          <p:cNvSpPr/>
          <p:nvPr/>
        </p:nvSpPr>
        <p:spPr>
          <a:xfrm>
            <a:off x="254020" y="1270010"/>
            <a:ext cx="406359" cy="5206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</a:t>
            </a:r>
            <a:endParaRPr lang="en-US" sz="850" dirty="0"/>
          </a:p>
        </p:txBody>
      </p:sp>
      <p:sp>
        <p:nvSpPr>
          <p:cNvPr id="3" name="Running head"/>
          <p:cNvSpPr/>
          <p:nvPr/>
        </p:nvSpPr>
        <p:spPr>
          <a:xfrm>
            <a:off x="1015990" y="330190"/>
            <a:ext cx="7619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00" kern="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TRUST IN ALGORITHMIC ADVICE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15990" y="660380"/>
            <a:ext cx="10159990" cy="0"/>
          </a:xfrm>
          <a:prstGeom prst="line">
            <a:avLst/>
          </a:prstGeom>
          <a:noFill/>
          <a:ln w="9525">
            <a:solidFill>
              <a:srgbClr val="161616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1015990" y="952530"/>
            <a:ext cx="10159990" cy="82552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ctr" indent="0" marL="0">
              <a:lnSpc>
                <a:spcPts val="3520"/>
              </a:lnSpc>
              <a:buNone/>
              <a:defRPr lang="en-US" sz="32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defRPr>
            </a:lvl1pPr>
          </a:lstStyle>
          <a:p>
            <a:pPr algn="ctr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Slide title</a:t>
            </a:r>
            <a:endParaRPr lang="en-US" sz="32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1015990" y="2095530"/>
            <a:ext cx="10159990" cy="4063959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-406400" marL="406400">
              <a:lnSpc>
                <a:spcPts val="2400"/>
              </a:lnSpc>
              <a:spcAft>
                <a:spcPts val="1100"/>
              </a:spcAft>
              <a:buNone/>
              <a:defRPr lang="en-US" sz="1500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defRPr>
            </a:lvl1pPr>
          </a:lstStyle>
          <a:p>
            <a:pPr algn="l" indent="0" marL="0">
              <a:lnSpc>
                <a:spcPts val="2400"/>
              </a:lnSpc>
              <a:spcAft>
                <a:spcPts val="1100"/>
              </a:spcAft>
              <a:buNone/>
            </a:pPr>
            <a:r>
              <a:rPr lang="en-US" sz="1500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Author, A. A. (Year). Title of the article. Journal Name, 12(3), 45–67.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1020" y="330190"/>
            <a:ext cx="634959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8A83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numbers"/>
          <p:cNvSpPr/>
          <p:nvPr/>
        </p:nvSpPr>
        <p:spPr>
          <a:xfrm>
            <a:off x="254020" y="1270010"/>
            <a:ext cx="406359" cy="5206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</a:t>
            </a:r>
            <a:endParaRPr lang="en-US" sz="850" dirty="0"/>
          </a:p>
          <a:p>
            <a:pPr algn="r" indent="0" marL="0">
              <a:lnSpc>
                <a:spcPts val="1955"/>
              </a:lnSpc>
              <a:buNone/>
            </a:pPr>
            <a:r>
              <a:rPr lang="en-US" sz="85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</a:t>
            </a:r>
            <a:endParaRPr lang="en-US" sz="850" dirty="0"/>
          </a:p>
        </p:txBody>
      </p:sp>
      <p:sp>
        <p:nvSpPr>
          <p:cNvPr id="3" name="Running head"/>
          <p:cNvSpPr/>
          <p:nvPr/>
        </p:nvSpPr>
        <p:spPr>
          <a:xfrm>
            <a:off x="1015990" y="330190"/>
            <a:ext cx="7619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00" kern="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TRUST IN ALGORITHMIC ADVICE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15990" y="660380"/>
            <a:ext cx="10159990" cy="0"/>
          </a:xfrm>
          <a:prstGeom prst="line">
            <a:avLst/>
          </a:prstGeom>
          <a:noFill/>
          <a:ln w="9525">
            <a:solidFill>
              <a:srgbClr val="161616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1015990" y="1651041"/>
            <a:ext cx="9525030" cy="1079541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7500"/>
              </a:lnSpc>
              <a:buNone/>
              <a:defRPr lang="en-US" sz="75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defRPr>
            </a:lvl1pPr>
          </a:lstStyle>
          <a:p>
            <a:pPr algn="l" indent="0" marL="0">
              <a:lnSpc>
                <a:spcPts val="7500"/>
              </a:lnSpc>
              <a:buNone/>
            </a:pPr>
            <a:r>
              <a:rPr lang="en-US" sz="75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Thank you.</a:t>
            </a:r>
            <a:endParaRPr lang="en-US" sz="75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1015990" y="2857500"/>
            <a:ext cx="9525030" cy="5715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840"/>
              </a:lnSpc>
              <a:buNone/>
              <a:defRPr lang="en-US" sz="3200" i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defRPr>
            </a:lvl1pPr>
          </a:lstStyle>
          <a:p>
            <a:pPr algn="l" indent="0" marL="0">
              <a:lnSpc>
                <a:spcPts val="3840"/>
              </a:lnSpc>
              <a:buNone/>
            </a:pPr>
            <a:r>
              <a:rPr lang="en-US" sz="3200" i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Questions?</a:t>
            </a:r>
            <a:endParaRPr lang="en-US" sz="32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1015990" y="4508541"/>
            <a:ext cx="8255020" cy="127001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400"/>
              </a:lnSpc>
              <a:buNone/>
              <a:defRPr lang="en-US" sz="1600" dirty="0">
                <a:solidFill>
                  <a:srgbClr val="4D4C48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defRPr>
            </a:lvl1pPr>
          </a:lstStyle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D4C48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Correspondence concerning this talk should be addressed to…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1020" y="330190"/>
            <a:ext cx="634959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8A83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1014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1020" y="330190"/>
            <a:ext cx="634959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A83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body" hasCustomPrompt="1"/>
          </p:nvPr>
        </p:nvSpPr>
        <p:spPr>
          <a:xfrm>
            <a:off x="1015990" y="1587490"/>
            <a:ext cx="761997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Conference Name · 2026</a:t>
            </a:r>
            <a:endParaRPr lang="en-US" sz="11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1015990" y="2031980"/>
            <a:ext cx="9905970" cy="158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16"/>
              </a:lnSpc>
              <a:buNone/>
            </a:pPr>
            <a:r>
              <a:rPr lang="en-US" sz="52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When do people </a:t>
            </a:r>
            <a:r>
              <a:rPr lang="en-US" sz="5200" b="1" dirty="0">
                <a:solidFill>
                  <a:srgbClr val="161616"/>
                </a:solidFill>
                <a:highlight>
                  <a:srgbClr val="FFE35A"/>
                </a:highlight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trust</a:t>
            </a:r>
            <a:r>
              <a:rPr lang="en-US" sz="52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 an algorithm?</a:t>
            </a:r>
            <a:endParaRPr lang="en-US" sz="5200" dirty="0"/>
          </a:p>
        </p:txBody>
      </p:sp>
      <p:sp>
        <p:nvSpPr>
          <p:cNvPr id="4" name="Text 3"/>
          <p:cNvSpPr/>
          <p:nvPr>
            <p:ph idx="105" type="body" hasCustomPrompt="1"/>
          </p:nvPr>
        </p:nvSpPr>
        <p:spPr>
          <a:xfrm>
            <a:off x="1015990" y="3810030"/>
            <a:ext cx="888998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i="1" dirty="0">
                <a:solidFill>
                  <a:srgbClr val="4D4C48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Three online experiments on explanations and advice-taking</a:t>
            </a:r>
            <a:endParaRPr lang="en-US" sz="2100" dirty="0"/>
          </a:p>
        </p:txBody>
      </p:sp>
      <p:sp>
        <p:nvSpPr>
          <p:cNvPr id="5" name="Text 3"/>
          <p:cNvSpPr/>
          <p:nvPr>
            <p:ph idx="106" type="body" hasCustomPrompt="1"/>
          </p:nvPr>
        </p:nvSpPr>
        <p:spPr>
          <a:xfrm>
            <a:off x="1015990" y="5016490"/>
            <a:ext cx="8889980" cy="825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Speaker Name</a:t>
            </a:r>
            <a:r>
              <a:rPr lang="en-US" sz="1500" baseline="30000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1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baseline="30000" dirty="0">
                <a:solidFill>
                  <a:srgbClr val="4D4C48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1</a:t>
            </a:r>
            <a:r>
              <a:rPr lang="en-US" sz="1500" dirty="0">
                <a:solidFill>
                  <a:srgbClr val="4D4C48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 Department of Psychology, University Name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1020" y="330190"/>
            <a:ext cx="634959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8A83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1015990" y="952530"/>
            <a:ext cx="10159990" cy="825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15990" y="2095530"/>
            <a:ext cx="508041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587490" y="2095530"/>
            <a:ext cx="761997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500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The puzzle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587490" y="2540020"/>
            <a:ext cx="761997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i="1" dirty="0">
                <a:solidFill>
                  <a:srgbClr val="4D4C48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Aversion and appreciation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05970" y="2095530"/>
            <a:ext cx="127001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587490" y="2933670"/>
            <a:ext cx="9588490" cy="0"/>
          </a:xfrm>
          <a:prstGeom prst="line">
            <a:avLst/>
          </a:prstGeom>
          <a:noFill/>
          <a:ln w="9525">
            <a:solidFill>
              <a:srgbClr val="8C8A83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015990" y="3143250"/>
            <a:ext cx="508041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587490" y="3143250"/>
            <a:ext cx="761997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500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Three experiments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1587490" y="3587740"/>
            <a:ext cx="761997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i="1" dirty="0">
                <a:solidFill>
                  <a:srgbClr val="4D4C48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N = 3,412 online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905970" y="3143250"/>
            <a:ext cx="127001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587490" y="3981480"/>
            <a:ext cx="9588490" cy="0"/>
          </a:xfrm>
          <a:prstGeom prst="line">
            <a:avLst/>
          </a:prstGeom>
          <a:noFill/>
          <a:ln w="9525">
            <a:solidFill>
              <a:srgbClr val="8C8A83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1015990" y="4190970"/>
            <a:ext cx="508041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87490" y="4190970"/>
            <a:ext cx="761997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500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What we found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1587490" y="4635459"/>
            <a:ext cx="761997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i="1" dirty="0">
                <a:solidFill>
                  <a:srgbClr val="4D4C48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Reasons raise advice-taking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905970" y="4190970"/>
            <a:ext cx="127001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587490" y="5029200"/>
            <a:ext cx="9588490" cy="0"/>
          </a:xfrm>
          <a:prstGeom prst="line">
            <a:avLst/>
          </a:prstGeom>
          <a:noFill/>
          <a:ln w="9525">
            <a:solidFill>
              <a:srgbClr val="8C8A83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1015990" y="5238780"/>
            <a:ext cx="508041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587490" y="5238780"/>
            <a:ext cx="761997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500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What it means</a:t>
            </a:r>
            <a:endParaRPr lang="en-US" sz="2500" dirty="0"/>
          </a:p>
        </p:txBody>
      </p:sp>
      <p:sp>
        <p:nvSpPr>
          <p:cNvPr id="20" name="Text 18"/>
          <p:cNvSpPr txBox="1"/>
          <p:nvPr/>
        </p:nvSpPr>
        <p:spPr>
          <a:xfrm>
            <a:off x="1587490" y="5683270"/>
            <a:ext cx="761997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i="1" dirty="0">
                <a:solidFill>
                  <a:srgbClr val="4D4C48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For design and policy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905970" y="5238780"/>
            <a:ext cx="127001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587490" y="6076920"/>
            <a:ext cx="9588490" cy="0"/>
          </a:xfrm>
          <a:prstGeom prst="line">
            <a:avLst/>
          </a:prstGeom>
          <a:noFill/>
          <a:ln w="9525">
            <a:solidFill>
              <a:srgbClr val="8C8A83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1020" y="330190"/>
            <a:ext cx="634959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8A83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body" hasCustomPrompt="1"/>
          </p:nvPr>
        </p:nvSpPr>
        <p:spPr>
          <a:xfrm>
            <a:off x="1015990" y="1651041"/>
            <a:ext cx="3810030" cy="2095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0"/>
              </a:lnSpc>
              <a:buNone/>
            </a:pPr>
            <a:r>
              <a:rPr lang="en-US" sz="150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1.</a:t>
            </a:r>
            <a:endParaRPr lang="en-US" sz="150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1015990" y="3810030"/>
            <a:ext cx="9525030" cy="952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825"/>
              </a:lnSpc>
              <a:buNone/>
            </a:pPr>
            <a:r>
              <a:rPr lang="en-US" sz="65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The </a:t>
            </a:r>
            <a:r>
              <a:rPr lang="en-US" sz="6500" b="1" dirty="0">
                <a:solidFill>
                  <a:srgbClr val="161616"/>
                </a:solidFill>
                <a:highlight>
                  <a:srgbClr val="FFE35A"/>
                </a:highlight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puzzle</a:t>
            </a:r>
            <a:endParaRPr lang="en-US" sz="6500" dirty="0"/>
          </a:p>
        </p:txBody>
      </p:sp>
      <p:sp>
        <p:nvSpPr>
          <p:cNvPr id="4" name="Text 3"/>
          <p:cNvSpPr/>
          <p:nvPr>
            <p:ph idx="105" type="body" hasCustomPrompt="1"/>
          </p:nvPr>
        </p:nvSpPr>
        <p:spPr>
          <a:xfrm>
            <a:off x="1015990" y="4953030"/>
            <a:ext cx="888998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i="1" dirty="0">
                <a:solidFill>
                  <a:srgbClr val="4D4C48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Why do people follow some algorithms and ignore others?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1020" y="330190"/>
            <a:ext cx="634959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8A83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1015990" y="952530"/>
            <a:ext cx="10159990" cy="825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Two findings that don’t fit together</a:t>
            </a:r>
            <a:endParaRPr lang="en-US" sz="3200" dirty="0"/>
          </a:p>
        </p:txBody>
      </p:sp>
      <p:sp>
        <p:nvSpPr>
          <p:cNvPr id="3" name="Text 4"/>
          <p:cNvSpPr/>
          <p:nvPr>
            <p:ph idx="105" type="body" hasCustomPrompt="1"/>
          </p:nvPr>
        </p:nvSpPr>
        <p:spPr>
          <a:xfrm>
            <a:off x="1015990" y="2190720"/>
            <a:ext cx="469901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1.1 Algorithm aversion</a:t>
            </a:r>
            <a:endParaRPr lang="en-US" sz="2200" dirty="0"/>
          </a:p>
        </p:txBody>
      </p:sp>
      <p:sp>
        <p:nvSpPr>
          <p:cNvPr id="4" name="Text 4"/>
          <p:cNvSpPr/>
          <p:nvPr>
            <p:ph idx="106" type="body" hasCustomPrompt="1"/>
          </p:nvPr>
        </p:nvSpPr>
        <p:spPr>
          <a:xfrm>
            <a:off x="1015990" y="2920959"/>
            <a:ext cx="4699010" cy="254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People abandon algorithms after seeing them err. After watching a forecasting algorithm make mistakes, people chose it less often, even when it still outperformed a human forecaster (Dietvorst, Simmons &amp; Massey, 2015).</a:t>
            </a:r>
            <a:endParaRPr lang="en-US" sz="1600" dirty="0"/>
          </a:p>
        </p:txBody>
      </p:sp>
      <p:sp>
        <p:nvSpPr>
          <p:cNvPr id="5" name="Text 4"/>
          <p:cNvSpPr/>
          <p:nvPr>
            <p:ph idx="107" type="body" hasCustomPrompt="1"/>
          </p:nvPr>
        </p:nvSpPr>
        <p:spPr>
          <a:xfrm>
            <a:off x="6476970" y="2190720"/>
            <a:ext cx="469901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1.2 Algorithm appreciation</a:t>
            </a:r>
            <a:endParaRPr lang="en-US" sz="2200" dirty="0"/>
          </a:p>
        </p:txBody>
      </p:sp>
      <p:sp>
        <p:nvSpPr>
          <p:cNvPr id="6" name="Text 4"/>
          <p:cNvSpPr/>
          <p:nvPr>
            <p:ph idx="108" type="body" hasCustomPrompt="1"/>
          </p:nvPr>
        </p:nvSpPr>
        <p:spPr>
          <a:xfrm>
            <a:off x="6476970" y="2920959"/>
            <a:ext cx="4699010" cy="254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People prefer algorithmic to human advice. In estimation and forecasting tasks, people weighted advice more when they thought it came from an algorithm than from a person (Logg, Minson &amp; Moore, 2019).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1020" y="330190"/>
            <a:ext cx="634959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8A83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1015990" y="952530"/>
            <a:ext cx="10159990" cy="825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Hypotheses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15990" y="2158990"/>
            <a:ext cx="888980" cy="508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H1.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2031980" y="2158990"/>
            <a:ext cx="9144000" cy="952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36"/>
              </a:lnSpc>
              <a:buNone/>
            </a:pPr>
            <a:r>
              <a:rPr lang="en-US" sz="2300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Advice that </a:t>
            </a:r>
            <a:r>
              <a:rPr lang="en-US" sz="2300" dirty="0">
                <a:solidFill>
                  <a:srgbClr val="161616"/>
                </a:solidFill>
                <a:highlight>
                  <a:srgbClr val="FFE35A"/>
                </a:highlight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explains its reasoning</a:t>
            </a:r>
            <a:r>
              <a:rPr lang="en-US" sz="2300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 is followed more often.</a:t>
            </a:r>
            <a:endParaRPr lang="en-US" sz="2300" dirty="0"/>
          </a:p>
        </p:txBody>
      </p:sp>
      <p:sp>
        <p:nvSpPr>
          <p:cNvPr id="5" name="Text 3"/>
          <p:cNvSpPr txBox="1"/>
          <p:nvPr/>
        </p:nvSpPr>
        <p:spPr>
          <a:xfrm>
            <a:off x="1015990" y="3365541"/>
            <a:ext cx="888980" cy="508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H2.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2031980" y="3365541"/>
            <a:ext cx="9144000" cy="952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36"/>
              </a:lnSpc>
              <a:buNone/>
            </a:pPr>
            <a:r>
              <a:rPr lang="en-US" sz="2300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A </a:t>
            </a:r>
            <a:r>
              <a:rPr lang="en-US" sz="2300" dirty="0">
                <a:solidFill>
                  <a:srgbClr val="161616"/>
                </a:solidFill>
                <a:highlight>
                  <a:srgbClr val="FFE35A"/>
                </a:highlight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confidence score</a:t>
            </a:r>
            <a:r>
              <a:rPr lang="en-US" sz="2300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 adds to the effect of the reasons.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1015990" y="4572000"/>
            <a:ext cx="888980" cy="508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H3.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2031980" y="4572000"/>
            <a:ext cx="9144000" cy="952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36"/>
              </a:lnSpc>
              <a:buNone/>
            </a:pPr>
            <a:r>
              <a:rPr lang="en-US" sz="2300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The effect holds </a:t>
            </a:r>
            <a:r>
              <a:rPr lang="en-US" sz="2300" dirty="0">
                <a:solidFill>
                  <a:srgbClr val="161616"/>
                </a:solidFill>
                <a:highlight>
                  <a:srgbClr val="FFE35A"/>
                </a:highlight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after people see the algorithm err</a:t>
            </a:r>
            <a:r>
              <a:rPr lang="en-US" sz="2300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1020" y="330190"/>
            <a:ext cx="634959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8A83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1015990" y="952530"/>
            <a:ext cx="10159990" cy="825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Procedure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15990" y="2286000"/>
            <a:ext cx="812810" cy="609630"/>
          </a:xfrm>
          <a:prstGeom prst="rect">
            <a:avLst/>
          </a:prstGeom>
          <a:solidFill>
            <a:srgbClr val="DEDCD5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17580" y="2286000"/>
            <a:ext cx="660380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161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15990" y="4127510"/>
            <a:ext cx="38103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161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4127510"/>
            <a:ext cx="20955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Consent and demographics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4711720"/>
            <a:ext cx="209553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 min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0" y="2286000"/>
            <a:ext cx="2031980" cy="609630"/>
          </a:xfrm>
          <a:prstGeom prst="rect">
            <a:avLst/>
          </a:prstGeom>
          <a:solidFill>
            <a:srgbClr val="BDBAB1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30390" y="2286000"/>
            <a:ext cx="1879641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161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619470" y="4127510"/>
            <a:ext cx="38103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161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975080" y="4127510"/>
            <a:ext cx="20955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Practice trials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975080" y="4711720"/>
            <a:ext cx="209553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 min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60780" y="2286000"/>
            <a:ext cx="6096030" cy="609630"/>
          </a:xfrm>
          <a:prstGeom prst="rect">
            <a:avLst/>
          </a:prstGeom>
          <a:solidFill>
            <a:srgbClr val="FFE35A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62370" y="2286000"/>
            <a:ext cx="5943600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161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23041" y="4127510"/>
            <a:ext cx="38103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161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578559" y="4127510"/>
            <a:ext cx="20955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Advice task, 24 trials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578559" y="4711720"/>
            <a:ext cx="209553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 min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956810" y="2286000"/>
            <a:ext cx="1219170" cy="609630"/>
          </a:xfrm>
          <a:prstGeom prst="rect">
            <a:avLst/>
          </a:prstGeom>
          <a:solidFill>
            <a:srgbClr val="DEDCD5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0" y="2286000"/>
            <a:ext cx="1066830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161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826520" y="4127510"/>
            <a:ext cx="38103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161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182130" y="4127510"/>
            <a:ext cx="20955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Debrief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182130" y="4711720"/>
            <a:ext cx="209553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 min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15990" y="3022641"/>
            <a:ext cx="0" cy="114300"/>
          </a:xfrm>
          <a:prstGeom prst="line">
            <a:avLst/>
          </a:prstGeom>
          <a:noFill/>
          <a:ln w="12700">
            <a:solidFill>
              <a:srgbClr val="16161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4959" y="3187690"/>
            <a:ext cx="76197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47970" y="3022641"/>
            <a:ext cx="0" cy="114300"/>
          </a:xfrm>
          <a:prstGeom prst="line">
            <a:avLst/>
          </a:prstGeom>
          <a:noFill/>
          <a:ln w="12700">
            <a:solidFill>
              <a:srgbClr val="16161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667030" y="3187690"/>
            <a:ext cx="76197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80041" y="3022641"/>
            <a:ext cx="0" cy="114300"/>
          </a:xfrm>
          <a:prstGeom prst="line">
            <a:avLst/>
          </a:prstGeom>
          <a:noFill/>
          <a:ln w="12700">
            <a:solidFill>
              <a:srgbClr val="16161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99010" y="3187690"/>
            <a:ext cx="76197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112020" y="3022641"/>
            <a:ext cx="0" cy="114300"/>
          </a:xfrm>
          <a:prstGeom prst="line">
            <a:avLst/>
          </a:prstGeom>
          <a:noFill/>
          <a:ln w="12700">
            <a:solidFill>
              <a:srgbClr val="16161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30990" y="3187690"/>
            <a:ext cx="76197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144000" y="3022641"/>
            <a:ext cx="0" cy="114300"/>
          </a:xfrm>
          <a:prstGeom prst="line">
            <a:avLst/>
          </a:prstGeom>
          <a:noFill/>
          <a:ln w="12700">
            <a:solidFill>
              <a:srgbClr val="16161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762970" y="3187690"/>
            <a:ext cx="76197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1175980" y="3022641"/>
            <a:ext cx="0" cy="114300"/>
          </a:xfrm>
          <a:prstGeom prst="line">
            <a:avLst/>
          </a:prstGeom>
          <a:noFill/>
          <a:ln w="12700">
            <a:solidFill>
              <a:srgbClr val="16161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795041" y="3187690"/>
            <a:ext cx="76197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25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15990" y="3022641"/>
            <a:ext cx="10159990" cy="0"/>
          </a:xfrm>
          <a:prstGeom prst="line">
            <a:avLst/>
          </a:prstGeom>
          <a:noFill/>
          <a:ln w="12700">
            <a:solidFill>
              <a:srgbClr val="16161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15990" y="3479841"/>
            <a:ext cx="1015999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Minutes from start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015990" y="5460980"/>
            <a:ext cx="1015999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Fig. 1 | </a:t>
            </a:r>
            <a:r>
              <a:rPr lang="en-US" sz="1500" i="1" dirty="0">
                <a:solidFill>
                  <a:srgbClr val="4D4C48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Session procedure. </a:t>
            </a:r>
            <a:r>
              <a:rPr lang="en-US" sz="1500" dirty="0">
                <a:solidFill>
                  <a:srgbClr val="4D4C48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Each session ran online and took about 25 minutes.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1020" y="330190"/>
            <a:ext cx="634959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8A83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1015990" y="952530"/>
            <a:ext cx="10159990" cy="825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What participants saw</a:t>
            </a:r>
            <a:endParaRPr lang="en-US" sz="3200" dirty="0"/>
          </a:p>
        </p:txBody>
      </p:sp>
      <p:pic>
        <p:nvPicPr>
          <p:cNvPr id="3" name="Image 0" descr="Advice screen from the study">    </p:cNvPr>
          <p:cNvPicPr>
            <a:picLocks noChangeAspect="1"/>
          </p:cNvPicPr>
          <p:nvPr>
            <p:ph idx="104" hasCustomPrompt="1"/>
          </p:nvPr>
        </p:nvPicPr>
        <p:blipFill>
          <a:blip r:embed="rId1"/>
          <a:srcRect l="0" r="0" t="0" b="0"/>
          <a:stretch/>
        </p:blipFill>
        <p:spPr>
          <a:xfrm>
            <a:off x="1015990" y="2031980"/>
            <a:ext cx="6985010" cy="3930640"/>
          </a:xfrm>
          <a:prstGeom prst="rect">
            <a:avLst/>
          </a:prstGeom>
          <a:ln w="12700">
            <a:solidFill>
              <a:srgbClr val="161616"/>
            </a:solidFill>
          </a:ln>
        </p:spPr>
      </p:pic>
      <p:sp>
        <p:nvSpPr>
          <p:cNvPr id="4" name="Text 3"/>
          <p:cNvSpPr/>
          <p:nvPr>
            <p:ph idx="105" type="body" hasCustomPrompt="1"/>
          </p:nvPr>
        </p:nvSpPr>
        <p:spPr>
          <a:xfrm>
            <a:off x="8382030" y="2031980"/>
            <a:ext cx="2794041" cy="3937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Fig. 2 | </a:t>
            </a:r>
            <a:r>
              <a:rPr lang="en-US" sz="1500" i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The advice screen. </a:t>
            </a:r>
            <a:endParaRPr lang="en-US" sz="1500" dirty="0"/>
          </a:p>
          <a:p>
            <a:pPr algn="l" indent="0" marL="0">
              <a:lnSpc>
                <a:spcPts val="225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4D4C48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The advice screen in the Reasons + confidence condition. On each trial, participants followed the recommendation or chose for themselves.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1020" y="330190"/>
            <a:ext cx="634959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8A83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ghlight"/>
          <p:cNvSpPr/>
          <p:nvPr/>
        </p:nvSpPr>
        <p:spPr>
          <a:xfrm>
            <a:off x="952530" y="2095530"/>
            <a:ext cx="4826020" cy="1904970"/>
          </a:xfrm>
          <a:prstGeom prst="rect">
            <a:avLst/>
          </a:prstGeom>
          <a:solidFill>
            <a:srgbClr val="FFE35A"/>
          </a:solidFill>
          <a:ln/>
        </p:spPr>
      </p:sp>
      <p:sp>
        <p:nvSpPr>
          <p:cNvPr id="3" name="Text 3"/>
          <p:cNvSpPr/>
          <p:nvPr>
            <p:ph idx="103" type="body" hasCustomPrompt="1"/>
          </p:nvPr>
        </p:nvSpPr>
        <p:spPr>
          <a:xfrm>
            <a:off x="1015990" y="1841510"/>
            <a:ext cx="5715000" cy="2413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00"/>
              </a:lnSpc>
              <a:buNone/>
            </a:pPr>
            <a:r>
              <a:rPr lang="en-US" sz="165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68%</a:t>
            </a:r>
            <a:endParaRPr lang="en-US" sz="16500" dirty="0"/>
          </a:p>
        </p:txBody>
      </p:sp>
      <p:sp>
        <p:nvSpPr>
          <p:cNvPr id="4" name="Text 3"/>
          <p:cNvSpPr/>
          <p:nvPr>
            <p:ph idx="104" type="body" hasCustomPrompt="1"/>
          </p:nvPr>
        </p:nvSpPr>
        <p:spPr>
          <a:xfrm>
            <a:off x="6730990" y="2158990"/>
            <a:ext cx="4444990" cy="1651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of choices followed the algorithm when it explained its reasoning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730990" y="4000500"/>
            <a:ext cx="444499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i="1" dirty="0">
                <a:solidFill>
                  <a:srgbClr val="4D4C48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vs 41% with no explanation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015990" y="5460980"/>
            <a:ext cx="2540020" cy="0"/>
          </a:xfrm>
          <a:prstGeom prst="line">
            <a:avLst/>
          </a:prstGeom>
          <a:noFill/>
          <a:ln w="9525">
            <a:solidFill>
              <a:srgbClr val="16161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5990" y="5587990"/>
            <a:ext cx="952503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4D4C48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Study 2, N = 1,204; sample data.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1020" y="330190"/>
            <a:ext cx="634959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8A83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1015990" y="952530"/>
            <a:ext cx="10159990" cy="825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Each layer of explanation raised advice-taking</a:t>
            </a:r>
            <a:endParaRPr lang="en-US" sz="2900" dirty="0"/>
          </a:p>
        </p:txBody>
      </p:sp>
      <p:sp>
        <p:nvSpPr>
          <p:cNvPr id="3" name="Axis title"/>
          <p:cNvSpPr txBox="1"/>
          <p:nvPr/>
        </p:nvSpPr>
        <p:spPr>
          <a:xfrm rot="16200000">
            <a:off x="-508041" y="3556010"/>
            <a:ext cx="317498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8C8A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% of trials</a:t>
            </a:r>
            <a:endParaRPr lang="en-US" sz="1100" dirty="0"/>
          </a:p>
        </p:txBody>
      </p:sp>
      <p:graphicFrame>
        <p:nvGraphicFramePr>
          <p:cNvPr id="4" name="Bar chart" descr=""/>
          <p:cNvGraphicFramePr/>
          <p:nvPr/>
        </p:nvGraphicFramePr>
        <p:xfrm>
          <a:off x="1460480" y="2095530"/>
          <a:ext cx="9080541" cy="31749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015990" y="5524530"/>
            <a:ext cx="1015999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Fig. 3 | </a:t>
            </a:r>
            <a:r>
              <a:rPr lang="en-US" sz="1400" i="1" dirty="0">
                <a:solidFill>
                  <a:srgbClr val="4D4C48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Advice-taking by condition. </a:t>
            </a:r>
            <a:r>
              <a:rPr lang="en-US" sz="1400" dirty="0">
                <a:solidFill>
                  <a:srgbClr val="4D4C48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Percentage of trials on which participants followed the advice. Sample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1020" y="330190"/>
            <a:ext cx="634959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8A83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15990" y="952530"/>
            <a:ext cx="1015999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Table 1</a:t>
            </a:r>
            <a:endParaRPr lang="en-US" sz="17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1015990" y="1270010"/>
            <a:ext cx="10159990" cy="5080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i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Mixed-Effects Logistic Regression Predicting Advice-Taking</a:t>
            </a:r>
            <a:endParaRPr lang="en-US" sz="2000" dirty="0"/>
          </a:p>
        </p:txBody>
      </p:sp>
      <p:graphicFrame>
        <p:nvGraphicFramePr>
          <p:cNvPr id="11" name="AP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5990" y="2158990"/>
          <a:ext cx="10159990" cy="914400"/>
        </p:xfrm>
        <a:graphic>
          <a:graphicData uri="http://schemas.openxmlformats.org/drawingml/2006/table">
            <a:tbl>
              <a:tblPr/>
              <a:tblGrid>
                <a:gridCol w="5206959"/>
                <a:gridCol w="1651041"/>
                <a:gridCol w="1651041"/>
                <a:gridCol w="1651041"/>
              </a:tblGrid>
              <a:tr h="5080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Iowan Old Style" pitchFamily="34" charset="0"/>
                          <a:ea typeface="Iowan Old Style" pitchFamily="34" charset="-122"/>
                          <a:cs typeface="Iowan Old Style" pitchFamily="34" charset="-120"/>
                        </a:rPr>
                        <a:t>Predictor</a:t>
                      </a:r>
                      <a:endParaRPr lang="en-US" sz="1600" dirty="0">
                        <a:latin typeface="Iowan Old Style" charset="0"/>
                        <a:ea typeface="Iowan Old Style" charset="0"/>
                        <a:cs typeface="Iowan Old Style" charset="0"/>
                      </a:endParaRPr>
                    </a:p>
                  </a:txBody>
                  <a:tcPr marL="63459" marR="6345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i="1" dirty="0">
                          <a:solidFill>
                            <a:srgbClr val="161616"/>
                          </a:solidFill>
                          <a:latin typeface="Iowan Old Style" pitchFamily="34" charset="0"/>
                          <a:ea typeface="Iowan Old Style" pitchFamily="34" charset="-122"/>
                          <a:cs typeface="Iowan Old Style" pitchFamily="34" charset="-120"/>
                        </a:rPr>
                        <a:t>b</a:t>
                      </a:r>
                      <a:endParaRPr lang="en-US" sz="1600" dirty="0">
                        <a:latin typeface="Iowan Old Style" charset="0"/>
                        <a:ea typeface="Iowan Old Style" charset="0"/>
                        <a:cs typeface="Iowan Old Style" charset="0"/>
                      </a:endParaRPr>
                    </a:p>
                  </a:txBody>
                  <a:tcPr marL="63459" marR="6345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i="1" dirty="0">
                          <a:solidFill>
                            <a:srgbClr val="161616"/>
                          </a:solidFill>
                          <a:latin typeface="Iowan Old Style" pitchFamily="34" charset="0"/>
                          <a:ea typeface="Iowan Old Style" pitchFamily="34" charset="-122"/>
                          <a:cs typeface="Iowan Old Style" pitchFamily="34" charset="-120"/>
                        </a:rPr>
                        <a:t>SE</a:t>
                      </a:r>
                      <a:endParaRPr lang="en-US" sz="1600" dirty="0">
                        <a:latin typeface="Iowan Old Style" charset="0"/>
                        <a:ea typeface="Iowan Old Style" charset="0"/>
                        <a:cs typeface="Iowan Old Style" charset="0"/>
                      </a:endParaRPr>
                    </a:p>
                  </a:txBody>
                  <a:tcPr marL="63459" marR="6345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i="1" dirty="0">
                          <a:solidFill>
                            <a:srgbClr val="161616"/>
                          </a:solidFill>
                          <a:latin typeface="Iowan Old Style" pitchFamily="34" charset="0"/>
                          <a:ea typeface="Iowan Old Style" pitchFamily="34" charset="-122"/>
                          <a:cs typeface="Iowan Old Style" pitchFamily="34" charset="-120"/>
                        </a:rPr>
                        <a:t>p</a:t>
                      </a:r>
                      <a:endParaRPr lang="en-US" sz="1600" dirty="0">
                        <a:latin typeface="Iowan Old Style" charset="0"/>
                        <a:ea typeface="Iowan Old Style" charset="0"/>
                        <a:cs typeface="Iowan Old Style" charset="0"/>
                      </a:endParaRPr>
                    </a:p>
                  </a:txBody>
                  <a:tcPr marL="63459" marR="6345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42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61616"/>
                          </a:solidFill>
                          <a:latin typeface="Iowan Old Style" pitchFamily="34" charset="0"/>
                          <a:ea typeface="Iowan Old Style" pitchFamily="34" charset="-122"/>
                          <a:cs typeface="Iowan Old Style" pitchFamily="34" charset="-120"/>
                        </a:rPr>
                        <a:t>Reasons (vs none)</a:t>
                      </a:r>
                      <a:endParaRPr lang="en-US" sz="1700" dirty="0">
                        <a:latin typeface="Iowan Old Style" charset="0"/>
                        <a:ea typeface="Iowan Old Style" charset="0"/>
                        <a:cs typeface="Iowan Old Style" charset="0"/>
                      </a:endParaRPr>
                    </a:p>
                  </a:txBody>
                  <a:tcPr marL="63459" marR="6345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61616"/>
                          </a:solidFill>
                          <a:latin typeface="Iowan Old Style" pitchFamily="34" charset="0"/>
                          <a:ea typeface="Iowan Old Style" pitchFamily="34" charset="-122"/>
                          <a:cs typeface="Iowan Old Style" pitchFamily="34" charset="-120"/>
                        </a:rPr>
                        <a:t>0.94</a:t>
                      </a:r>
                      <a:endParaRPr lang="en-US" sz="1700" dirty="0">
                        <a:latin typeface="Iowan Old Style" charset="0"/>
                        <a:ea typeface="Iowan Old Style" charset="0"/>
                        <a:cs typeface="Iowan Old Style" charset="0"/>
                      </a:endParaRPr>
                    </a:p>
                  </a:txBody>
                  <a:tcPr marL="63459" marR="6345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61616"/>
                          </a:solidFill>
                          <a:latin typeface="Iowan Old Style" pitchFamily="34" charset="0"/>
                          <a:ea typeface="Iowan Old Style" pitchFamily="34" charset="-122"/>
                          <a:cs typeface="Iowan Old Style" pitchFamily="34" charset="-120"/>
                        </a:rPr>
                        <a:t>0.12</a:t>
                      </a:r>
                      <a:endParaRPr lang="en-US" sz="1700" dirty="0">
                        <a:latin typeface="Iowan Old Style" charset="0"/>
                        <a:ea typeface="Iowan Old Style" charset="0"/>
                        <a:cs typeface="Iowan Old Style" charset="0"/>
                      </a:endParaRPr>
                    </a:p>
                  </a:txBody>
                  <a:tcPr marL="63459" marR="6345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61616"/>
                          </a:solidFill>
                          <a:latin typeface="Iowan Old Style" pitchFamily="34" charset="0"/>
                          <a:ea typeface="Iowan Old Style" pitchFamily="34" charset="-122"/>
                          <a:cs typeface="Iowan Old Style" pitchFamily="34" charset="-120"/>
                        </a:rPr>
                        <a:t>&lt; .001</a:t>
                      </a:r>
                      <a:endParaRPr lang="en-US" sz="1700" dirty="0">
                        <a:latin typeface="Iowan Old Style" charset="0"/>
                        <a:ea typeface="Iowan Old Style" charset="0"/>
                        <a:cs typeface="Iowan Old Style" charset="0"/>
                      </a:endParaRPr>
                    </a:p>
                  </a:txBody>
                  <a:tcPr marL="63459" marR="6345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842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61616"/>
                          </a:solidFill>
                          <a:latin typeface="Iowan Old Style" pitchFamily="34" charset="0"/>
                          <a:ea typeface="Iowan Old Style" pitchFamily="34" charset="-122"/>
                          <a:cs typeface="Iowan Old Style" pitchFamily="34" charset="-120"/>
                        </a:rPr>
                        <a:t>Confidence score</a:t>
                      </a:r>
                      <a:endParaRPr lang="en-US" sz="1700" dirty="0">
                        <a:latin typeface="Iowan Old Style" charset="0"/>
                        <a:ea typeface="Iowan Old Style" charset="0"/>
                        <a:cs typeface="Iowan Old Style" charset="0"/>
                      </a:endParaRPr>
                    </a:p>
                  </a:txBody>
                  <a:tcPr marL="63459" marR="6345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61616"/>
                          </a:solidFill>
                          <a:latin typeface="Iowan Old Style" pitchFamily="34" charset="0"/>
                          <a:ea typeface="Iowan Old Style" pitchFamily="34" charset="-122"/>
                          <a:cs typeface="Iowan Old Style" pitchFamily="34" charset="-120"/>
                        </a:rPr>
                        <a:t>0.41</a:t>
                      </a:r>
                      <a:endParaRPr lang="en-US" sz="1700" dirty="0">
                        <a:latin typeface="Iowan Old Style" charset="0"/>
                        <a:ea typeface="Iowan Old Style" charset="0"/>
                        <a:cs typeface="Iowan Old Style" charset="0"/>
                      </a:endParaRPr>
                    </a:p>
                  </a:txBody>
                  <a:tcPr marL="63459" marR="6345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61616"/>
                          </a:solidFill>
                          <a:latin typeface="Iowan Old Style" pitchFamily="34" charset="0"/>
                          <a:ea typeface="Iowan Old Style" pitchFamily="34" charset="-122"/>
                          <a:cs typeface="Iowan Old Style" pitchFamily="34" charset="-120"/>
                        </a:rPr>
                        <a:t>0.11</a:t>
                      </a:r>
                      <a:endParaRPr lang="en-US" sz="1700" dirty="0">
                        <a:latin typeface="Iowan Old Style" charset="0"/>
                        <a:ea typeface="Iowan Old Style" charset="0"/>
                        <a:cs typeface="Iowan Old Style" charset="0"/>
                      </a:endParaRPr>
                    </a:p>
                  </a:txBody>
                  <a:tcPr marL="63459" marR="6345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61616"/>
                          </a:solidFill>
                          <a:latin typeface="Iowan Old Style" pitchFamily="34" charset="0"/>
                          <a:ea typeface="Iowan Old Style" pitchFamily="34" charset="-122"/>
                          <a:cs typeface="Iowan Old Style" pitchFamily="34" charset="-120"/>
                        </a:rPr>
                        <a:t>&lt; .001</a:t>
                      </a:r>
                      <a:endParaRPr lang="en-US" sz="1700" dirty="0">
                        <a:latin typeface="Iowan Old Style" charset="0"/>
                        <a:ea typeface="Iowan Old Style" charset="0"/>
                        <a:cs typeface="Iowan Old Style" charset="0"/>
                      </a:endParaRPr>
                    </a:p>
                  </a:txBody>
                  <a:tcPr marL="63459" marR="6345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842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61616"/>
                          </a:solidFill>
                          <a:latin typeface="Iowan Old Style" pitchFamily="34" charset="0"/>
                          <a:ea typeface="Iowan Old Style" pitchFamily="34" charset="-122"/>
                          <a:cs typeface="Iowan Old Style" pitchFamily="34" charset="-120"/>
                        </a:rPr>
                        <a:t>Reasons × confidence</a:t>
                      </a:r>
                      <a:endParaRPr lang="en-US" sz="1700" dirty="0">
                        <a:latin typeface="Iowan Old Style" charset="0"/>
                        <a:ea typeface="Iowan Old Style" charset="0"/>
                        <a:cs typeface="Iowan Old Style" charset="0"/>
                      </a:endParaRPr>
                    </a:p>
                  </a:txBody>
                  <a:tcPr marL="63459" marR="6345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61616"/>
                          </a:solidFill>
                          <a:latin typeface="Iowan Old Style" pitchFamily="34" charset="0"/>
                          <a:ea typeface="Iowan Old Style" pitchFamily="34" charset="-122"/>
                          <a:cs typeface="Iowan Old Style" pitchFamily="34" charset="-120"/>
                        </a:rPr>
                        <a:t>0.18</a:t>
                      </a:r>
                      <a:endParaRPr lang="en-US" sz="1700" dirty="0">
                        <a:latin typeface="Iowan Old Style" charset="0"/>
                        <a:ea typeface="Iowan Old Style" charset="0"/>
                        <a:cs typeface="Iowan Old Style" charset="0"/>
                      </a:endParaRPr>
                    </a:p>
                  </a:txBody>
                  <a:tcPr marL="63459" marR="6345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61616"/>
                          </a:solidFill>
                          <a:latin typeface="Iowan Old Style" pitchFamily="34" charset="0"/>
                          <a:ea typeface="Iowan Old Style" pitchFamily="34" charset="-122"/>
                          <a:cs typeface="Iowan Old Style" pitchFamily="34" charset="-120"/>
                        </a:rPr>
                        <a:t>0.15</a:t>
                      </a:r>
                      <a:endParaRPr lang="en-US" sz="1700" dirty="0">
                        <a:latin typeface="Iowan Old Style" charset="0"/>
                        <a:ea typeface="Iowan Old Style" charset="0"/>
                        <a:cs typeface="Iowan Old Style" charset="0"/>
                      </a:endParaRPr>
                    </a:p>
                  </a:txBody>
                  <a:tcPr marL="63459" marR="6345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61616"/>
                          </a:solidFill>
                          <a:latin typeface="Iowan Old Style" pitchFamily="34" charset="0"/>
                          <a:ea typeface="Iowan Old Style" pitchFamily="34" charset="-122"/>
                          <a:cs typeface="Iowan Old Style" pitchFamily="34" charset="-120"/>
                        </a:rPr>
                        <a:t>.23</a:t>
                      </a:r>
                      <a:endParaRPr lang="en-US" sz="1700" dirty="0">
                        <a:latin typeface="Iowan Old Style" charset="0"/>
                        <a:ea typeface="Iowan Old Style" charset="0"/>
                        <a:cs typeface="Iowan Old Style" charset="0"/>
                      </a:endParaRPr>
                    </a:p>
                  </a:txBody>
                  <a:tcPr marL="63459" marR="6345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842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61616"/>
                          </a:solidFill>
                          <a:latin typeface="Iowan Old Style" pitchFamily="34" charset="0"/>
                          <a:ea typeface="Iowan Old Style" pitchFamily="34" charset="-122"/>
                          <a:cs typeface="Iowan Old Style" pitchFamily="34" charset="-120"/>
                        </a:rPr>
                        <a:t>Error observed</a:t>
                      </a:r>
                      <a:endParaRPr lang="en-US" sz="1700" dirty="0">
                        <a:latin typeface="Iowan Old Style" charset="0"/>
                        <a:ea typeface="Iowan Old Style" charset="0"/>
                        <a:cs typeface="Iowan Old Style" charset="0"/>
                      </a:endParaRPr>
                    </a:p>
                  </a:txBody>
                  <a:tcPr marL="63459" marR="6345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61616"/>
                          </a:solidFill>
                          <a:latin typeface="Iowan Old Style" pitchFamily="34" charset="0"/>
                          <a:ea typeface="Iowan Old Style" pitchFamily="34" charset="-122"/>
                          <a:cs typeface="Iowan Old Style" pitchFamily="34" charset="-120"/>
                        </a:rPr>
                        <a:t>−0.62</a:t>
                      </a:r>
                      <a:endParaRPr lang="en-US" sz="1700" dirty="0">
                        <a:latin typeface="Iowan Old Style" charset="0"/>
                        <a:ea typeface="Iowan Old Style" charset="0"/>
                        <a:cs typeface="Iowan Old Style" charset="0"/>
                      </a:endParaRPr>
                    </a:p>
                  </a:txBody>
                  <a:tcPr marL="63459" marR="6345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61616"/>
                          </a:solidFill>
                          <a:latin typeface="Iowan Old Style" pitchFamily="34" charset="0"/>
                          <a:ea typeface="Iowan Old Style" pitchFamily="34" charset="-122"/>
                          <a:cs typeface="Iowan Old Style" pitchFamily="34" charset="-120"/>
                        </a:rPr>
                        <a:t>0.14</a:t>
                      </a:r>
                      <a:endParaRPr lang="en-US" sz="1700" dirty="0">
                        <a:latin typeface="Iowan Old Style" charset="0"/>
                        <a:ea typeface="Iowan Old Style" charset="0"/>
                        <a:cs typeface="Iowan Old Style" charset="0"/>
                      </a:endParaRPr>
                    </a:p>
                  </a:txBody>
                  <a:tcPr marL="63459" marR="6345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61616"/>
                          </a:solidFill>
                          <a:latin typeface="Iowan Old Style" pitchFamily="34" charset="0"/>
                          <a:ea typeface="Iowan Old Style" pitchFamily="34" charset="-122"/>
                          <a:cs typeface="Iowan Old Style" pitchFamily="34" charset="-120"/>
                        </a:rPr>
                        <a:t>&lt; .001</a:t>
                      </a:r>
                      <a:endParaRPr lang="en-US" sz="1700" dirty="0">
                        <a:latin typeface="Iowan Old Style" charset="0"/>
                        <a:ea typeface="Iowan Old Style" charset="0"/>
                        <a:cs typeface="Iowan Old Style" charset="0"/>
                      </a:endParaRPr>
                    </a:p>
                  </a:txBody>
                  <a:tcPr marL="63459" marR="63459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015990" y="5270510"/>
            <a:ext cx="1015999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i="1" dirty="0">
                <a:solidFill>
                  <a:srgbClr val="4D4C48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Note.</a:t>
            </a:r>
            <a:r>
              <a:rPr lang="en-US" sz="1400" dirty="0">
                <a:solidFill>
                  <a:srgbClr val="4D4C48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 Random intercepts for participants and items. Sample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1020" y="330190"/>
            <a:ext cx="634959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8A83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2530" y="2413010"/>
            <a:ext cx="698510" cy="127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000"/>
              </a:lnSpc>
              <a:buNone/>
            </a:pPr>
            <a:r>
              <a:rPr lang="en-US" sz="10000" dirty="0">
                <a:solidFill>
                  <a:srgbClr val="8C8A83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“</a:t>
            </a:r>
            <a:endParaRPr lang="en-US" sz="10000" dirty="0"/>
          </a:p>
        </p:txBody>
      </p:sp>
      <p:sp>
        <p:nvSpPr>
          <p:cNvPr id="3" name="Text 3"/>
          <p:cNvSpPr/>
          <p:nvPr>
            <p:ph idx="103" type="body" hasCustomPrompt="1"/>
          </p:nvPr>
        </p:nvSpPr>
        <p:spPr>
          <a:xfrm>
            <a:off x="1714500" y="2540020"/>
            <a:ext cx="8889980" cy="1651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90"/>
              </a:lnSpc>
              <a:buNone/>
            </a:pPr>
            <a:r>
              <a:rPr lang="en-US" sz="4600" i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I’d follow it if it told me why.</a:t>
            </a:r>
            <a:endParaRPr lang="en-US" sz="4600" dirty="0"/>
          </a:p>
        </p:txBody>
      </p:sp>
      <p:sp>
        <p:nvSpPr>
          <p:cNvPr id="4" name="Text 3"/>
          <p:cNvSpPr/>
          <p:nvPr>
            <p:ph idx="104" type="body" hasCustomPrompt="1"/>
          </p:nvPr>
        </p:nvSpPr>
        <p:spPr>
          <a:xfrm>
            <a:off x="1714500" y="4444990"/>
            <a:ext cx="825502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4D4C48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— Participant 214, open response (sample)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1020" y="330190"/>
            <a:ext cx="634959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8A83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1015990" y="952530"/>
            <a:ext cx="10159990" cy="825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1015990" y="2095530"/>
            <a:ext cx="10159990" cy="4063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-406400" marL="406400">
              <a:lnSpc>
                <a:spcPts val="2400"/>
              </a:lnSpc>
              <a:spcAft>
                <a:spcPts val="1100"/>
              </a:spcAft>
              <a:buNone/>
            </a:pPr>
            <a:r>
              <a:rPr lang="en-US" sz="1500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Burton, J. W., Stein, M.-K., &amp; Jensen, T. B. (2020). </a:t>
            </a:r>
            <a:r>
              <a:rPr lang="en-US" sz="1500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A systematic review of algorithm aversion in augmented decision making. </a:t>
            </a:r>
            <a:r>
              <a:rPr lang="en-US" sz="1500" i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Journal of Behavioral Decision Making, 33</a:t>
            </a:r>
            <a:r>
              <a:rPr lang="en-US" sz="1500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(2), 220–239.</a:t>
            </a:r>
            <a:endParaRPr lang="en-US" sz="1500" dirty="0"/>
          </a:p>
          <a:p>
            <a:pPr algn="l" indent="-406400" marL="406400">
              <a:lnSpc>
                <a:spcPts val="2400"/>
              </a:lnSpc>
              <a:spcAft>
                <a:spcPts val="1100"/>
              </a:spcAft>
              <a:buNone/>
            </a:pPr>
            <a:r>
              <a:rPr lang="en-US" sz="1500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Castelo, N., Bos, M. W., &amp; Lehmann, D. R. (2019). </a:t>
            </a:r>
            <a:r>
              <a:rPr lang="en-US" sz="1500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Task-dependent algorithm aversion. </a:t>
            </a:r>
            <a:r>
              <a:rPr lang="en-US" sz="1500" i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Journal of Marketing Research, 56</a:t>
            </a:r>
            <a:r>
              <a:rPr lang="en-US" sz="1500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(5), 809–825.</a:t>
            </a:r>
            <a:endParaRPr lang="en-US" sz="1500" dirty="0"/>
          </a:p>
          <a:p>
            <a:pPr algn="l" indent="-406400" marL="406400">
              <a:lnSpc>
                <a:spcPts val="2400"/>
              </a:lnSpc>
              <a:spcAft>
                <a:spcPts val="1100"/>
              </a:spcAft>
              <a:buNone/>
            </a:pPr>
            <a:r>
              <a:rPr lang="en-US" sz="1500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Dietvorst, B. J., Simmons, J. P., &amp; Massey, C. (2015). </a:t>
            </a:r>
            <a:r>
              <a:rPr lang="en-US" sz="1500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Algorithm aversion: People erroneously avoid algorithms after seeing them err. </a:t>
            </a:r>
            <a:r>
              <a:rPr lang="en-US" sz="1500" i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Journal of Experimental Psychology: General, 144</a:t>
            </a:r>
            <a:r>
              <a:rPr lang="en-US" sz="1500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(1), 114–126.</a:t>
            </a:r>
            <a:endParaRPr lang="en-US" sz="1500" dirty="0"/>
          </a:p>
          <a:p>
            <a:pPr algn="l" indent="-406400" marL="406400">
              <a:lnSpc>
                <a:spcPts val="2400"/>
              </a:lnSpc>
              <a:spcAft>
                <a:spcPts val="1100"/>
              </a:spcAft>
              <a:buNone/>
            </a:pPr>
            <a:r>
              <a:rPr lang="en-US" sz="1500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Logg, J. M., Minson, J. A., &amp; Moore, D. A. (2019). </a:t>
            </a:r>
            <a:r>
              <a:rPr lang="en-US" sz="1500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Algorithm appreciation: People prefer algorithmic to human judgment. </a:t>
            </a:r>
            <a:r>
              <a:rPr lang="en-US" sz="1500" i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Organizational Behavior and Human Decision Processes, 151</a:t>
            </a:r>
            <a:r>
              <a:rPr lang="en-US" sz="1500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, 90–103.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1020" y="330190"/>
            <a:ext cx="634959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8A83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1015990" y="1651041"/>
            <a:ext cx="9525030" cy="1079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00"/>
              </a:lnSpc>
              <a:buNone/>
            </a:pPr>
            <a:r>
              <a:rPr lang="en-US" sz="75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Thank you.</a:t>
            </a:r>
            <a:endParaRPr lang="en-US" sz="75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1015990" y="2857500"/>
            <a:ext cx="95250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i="1" dirty="0">
                <a:solidFill>
                  <a:srgbClr val="161616"/>
                </a:solidFill>
                <a:highlight>
                  <a:srgbClr val="FFE35A"/>
                </a:highlight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Questions?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15990" y="4127510"/>
            <a:ext cx="825502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1616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Author note</a:t>
            </a:r>
            <a:endParaRPr lang="en-US" sz="1600" dirty="0"/>
          </a:p>
        </p:txBody>
      </p:sp>
      <p:sp>
        <p:nvSpPr>
          <p:cNvPr id="5" name="Text 3"/>
          <p:cNvSpPr/>
          <p:nvPr>
            <p:ph idx="105" type="body" hasCustomPrompt="1"/>
          </p:nvPr>
        </p:nvSpPr>
        <p:spPr>
          <a:xfrm>
            <a:off x="1015990" y="4508541"/>
            <a:ext cx="8255020" cy="127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D4C48"/>
                </a:solidFill>
                <a:latin typeface="Iowan Old Style" pitchFamily="34" charset="0"/>
                <a:ea typeface="Iowan Old Style" pitchFamily="34" charset="-122"/>
                <a:cs typeface="Iowan Old Style" pitchFamily="34" charset="-120"/>
              </a:rPr>
              <a:t>Correspondence concerning this talk should be addressed to Speaker Name, Department of Psychology, University Name. Email: speaker@university.edu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1020" y="330190"/>
            <a:ext cx="634959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8A83"/>
                </a:solidFill>
                <a:latin typeface="Menlo"/>
                <a:ea typeface="Menlo"/>
                <a:cs typeface="Menl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nuscript">
  <a:themeElements>
    <a:clrScheme name="Manuscript">
      <a:dk1>
        <a:srgbClr val="161616"/>
      </a:dk1>
      <a:lt1>
        <a:srgbClr val="FFFFFF"/>
      </a:lt1>
      <a:dk2>
        <a:srgbClr val="4D4C48"/>
      </a:dk2>
      <a:lt2>
        <a:srgbClr val="FBFAF6"/>
      </a:lt2>
      <a:accent1>
        <a:srgbClr val="C9A400"/>
      </a:accent1>
      <a:accent2>
        <a:srgbClr val="94918A"/>
      </a:accent2>
      <a:accent3>
        <a:srgbClr val="BDBAB1"/>
      </a:accent3>
      <a:accent4>
        <a:srgbClr val="5A6B7D"/>
      </a:accent4>
      <a:accent5>
        <a:srgbClr val="9C6B3F"/>
      </a:accent5>
      <a:accent6>
        <a:srgbClr val="4F7A5A"/>
      </a:accent6>
      <a:hlink>
        <a:srgbClr val="1F4FA0"/>
      </a:hlink>
      <a:folHlink>
        <a:srgbClr val="6B4FA0"/>
      </a:folHlink>
    </a:clrScheme>
    <a:fontScheme name="Manuscript">
      <a:majorFont>
        <a:latin typeface="Iowan Old Sty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owan Old Sty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Manuscript template</dc:title>
  <dc:subject>PptxGenJS Presentation</dc:subject>
  <dc:creator>Template</dc:creator>
  <cp:lastModifiedBy>Template</cp:lastModifiedBy>
  <cp:revision>1</cp:revision>
  <dcterms:created xsi:type="dcterms:W3CDTF">2026-10-18T17:11:19Z</dcterms:created>
  <dcterms:modified xsi:type="dcterms:W3CDTF">2026-10-18T17:11:19Z</dcterms:modified>
</cp:coreProperties>
</file>
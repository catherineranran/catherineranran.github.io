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a8d6aa57-d3a5-8553-328a-09b50f23dacf}">
          <p14:sldIdLst>
            <p14:sldId id="256"/>
            <p14:sldId id="257"/>
          </p14:sldIdLst>
        </p14:section>
        <p14:section name="Background" id="{cc20f147-3a91-268c-6472-92e8e4344505}">
          <p14:sldIdLst>
            <p14:sldId id="258"/>
            <p14:sldId id="259"/>
            <p14:sldId id="260"/>
          </p14:sldIdLst>
        </p14:section>
        <p14:section name="Method" id="{fa7082a1-5dba-0bdc-917c-7972c36f8e16}">
          <p14:sldIdLst>
            <p14:sldId id="261"/>
            <p14:sldId id="262"/>
          </p14:sldIdLst>
        </p14:section>
        <p14:section name="Results" id="{9efd0caa-06fe-8599-36aa-611855d00a54}">
          <p14:sldIdLst>
            <p14:sldId id="263"/>
            <p14:sldId id="264"/>
            <p14:sldId id="265"/>
            <p14:sldId id="266"/>
          </p14:sldIdLst>
        </p14:section>
        <p14:section name="Close" id="{bb2358a9-0f4a-7ea3-b831-33b6504effcf}">
          <p14:sldIdLst>
            <p14:sldId id="267"/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>
        <c:manualLayout>
          <c:layoutTarget val="inner"/>
          <c:xMode val="edge"/>
          <c:yMode val="edge"/>
          <c:x val="0"/>
          <c:y val="0.12307692307692308"/>
          <c:w val="1"/>
          <c:h val="0.703846153846153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</c:v>
                </c:pt>
              </c:strCache>
            </c:strRef>
          </c:tx>
          <c:spPr>
            <a:solidFill>
              <a:srgbClr val="CDC2F6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2000" u="none">
                    <a:solidFill>
                      <a:srgbClr val="1D2140"/>
                    </a:solidFill>
                    <a:latin typeface="Avenir Nex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DC2F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A999EE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846FE3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5A3FD1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No explanation</c:v>
                  </c:pt>
                  <c:pt idx="1">
                    <c:v>Confidence score</c:v>
                  </c:pt>
                  <c:pt idx="2">
                    <c:v>Reasons</c:v>
                  </c:pt>
                  <c:pt idx="3">
                    <c:v>Reasons + confidence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41</c:v>
                </c:pt>
                <c:pt idx="1">
                  <c:v>52</c:v>
                </c:pt>
                <c:pt idx="2">
                  <c:v>63</c:v>
                </c:pt>
                <c:pt idx="3">
                  <c:v>68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2000" u="none">
                  <a:solidFill>
                    <a:srgbClr val="1D2140"/>
                  </a:solidFill>
                  <a:latin typeface="Avenir Nex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12700" cap="flat">
            <a:solidFill>
              <a:srgbClr val="A9ABC4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4B5173"/>
                </a:solidFill>
                <a:latin typeface="Avenir Nex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layout. Replace the title, subtitle and speaker lines; the event line sits next to the violet dot.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Agenda. Four cards; delete a card group if you have fewer sections.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image" Target="../media/Big-number-image-1.jpe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Agenda-image-1.jpe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image" Target="../media/Quote-image-1.jpeg"/><Relationship Id="rId2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image" Target="../media/Agenda-image-1.jpeg"/><Relationship Id="rId2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image" Target="../media/Image-+-caption-image-1.jpeg"/><Relationship Id="rId2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image" Target="../media/Agenda-image-1.jpeg"/><Relationship Id="rId2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+-caption-image-1.jpeg"/><Relationship Id="rId2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image" Target="../media/Big-number-image-1.jpeg"/><Relationship Id="rId2" Type="http://schemas.openxmlformats.org/officeDocument/2006/relationships/slideMaster" Target="../slideMasters/slideMaster1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image" Target="../media/Agenda-image-1.jpeg"/><Relationship Id="rId2" Type="http://schemas.openxmlformats.org/officeDocument/2006/relationships/slideMaster" Target="../slideMasters/slideMaster1.xml"/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image" Target="../media/Image-+-caption-image-1.jpeg"/><Relationship Id="rId2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image" Target="../media/Quote-image-1.jpeg"/><Relationship Id="rId2" Type="http://schemas.openxmlformats.org/officeDocument/2006/relationships/slideMaster" Target="../slideMasters/slideMaster1.xml"/></Relationships>
</file>

<file path=ppt/slideLayouts/_rels/slideLayout13.xml.rels><?xml version="1.0" encoding="UTF-8" standalone="yes"?>
<Relationships xmlns="http://schemas.openxmlformats.org/package/2006/relationships"><Relationship Id="rId1" Type="http://schemas.openxmlformats.org/officeDocument/2006/relationships/image" Target="../media/Agenda-image-1.jpeg"/><Relationship Id="rId2" Type="http://schemas.openxmlformats.org/officeDocument/2006/relationships/slideMaster" Target="../slideMasters/slideMaster1.xml"/></Relationships>
</file>

<file path=ppt/slideLayouts/_rels/slideLayout14.xml.rels><?xml version="1.0" encoding="UTF-8" standalone="yes"?>
<Relationships xmlns="http://schemas.openxmlformats.org/package/2006/relationships"><Relationship Id="rId1" Type="http://schemas.openxmlformats.org/officeDocument/2006/relationships/image" Target="../media/Big-number-image-1.jpe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1970" y="952530"/>
            <a:ext cx="7302490" cy="4953030"/>
          </a:xfrm>
          <a:prstGeom prst="roundRect">
            <a:avLst>
              <a:gd name="adj" fmla="val 6153"/>
            </a:avLst>
          </a:prstGeom>
          <a:solidFill>
            <a:srgbClr val="FFFFFF">
              <a:alpha val="52000"/>
            </a:srgbClr>
          </a:solidFill>
          <a:ln w="12700">
            <a:solidFill>
              <a:srgbClr val="FFFFFF">
                <a:alpha val="90000"/>
              </a:srgbClr>
            </a:solidFill>
            <a:prstDash val="solid"/>
          </a:ln>
          <a:effectLst>
            <a:outerShdw sx="100000" sy="100000" kx="0" ky="0" algn="bl" rotWithShape="0" blurRad="381000" dist="152400" dir="5400000">
              <a:srgbClr val="2A2F6B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8826520" y="1206459"/>
            <a:ext cx="2286000" cy="2286000"/>
          </a:xfrm>
          <a:prstGeom prst="ellipse">
            <a:avLst/>
          </a:prstGeom>
          <a:solidFill>
            <a:srgbClr val="FFFFFF">
              <a:alpha val="34000"/>
            </a:srgbClr>
          </a:solidFill>
          <a:ln w="12700">
            <a:solidFill>
              <a:srgbClr val="FFFFFF">
                <a:alpha val="85000"/>
              </a:srgbClr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10159990" y="4063959"/>
            <a:ext cx="1206459" cy="1206459"/>
          </a:xfrm>
          <a:prstGeom prst="ellipse">
            <a:avLst/>
          </a:prstGeom>
          <a:solidFill>
            <a:srgbClr val="FFFFFF">
              <a:alpha val="34000"/>
            </a:srgbClr>
          </a:solidFill>
          <a:ln w="12700">
            <a:solidFill>
              <a:srgbClr val="FFFFFF">
                <a:alpha val="85000"/>
              </a:srgbClr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244590" y="1600200"/>
            <a:ext cx="101590" cy="101590"/>
          </a:xfrm>
          <a:prstGeom prst="ellipse">
            <a:avLst/>
          </a:prstGeom>
          <a:solidFill>
            <a:srgbClr val="5A3FD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>
            <p:ph idx="104" type="body" hasCustomPrompt="1"/>
          </p:nvPr>
        </p:nvSpPr>
        <p:spPr>
          <a:xfrm>
            <a:off x="1435059" y="1511320"/>
            <a:ext cx="5715000" cy="279441"/>
          </a:xfrm>
          <a:prstGeom prst="rect">
            <a:avLst/>
          </a:prstGeom>
          <a:noFill/>
          <a:ln/>
        </p:spPr>
        <p:txBody>
          <a:bodyPr wrap="square" rtlCol="0" lIns="0" tIns="0" rIns="0" bIns="0" anchor="ctr"/>
          <a:lstStyle>
            <a:lvl1pPr algn="l" indent="0" marL="0">
              <a:lnSpc>
                <a:spcPts val="1560"/>
              </a:lnSpc>
              <a:buNone/>
              <a:defRPr lang="en-US" sz="1300" b="1" dirty="0">
                <a:solidFill>
                  <a:srgbClr val="5A3FD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defRPr>
            </a:lvl1pPr>
          </a:lstStyle>
          <a:p>
            <a:pPr algn="l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5A3FD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Event · year</a:t>
            </a:r>
            <a:endParaRPr lang="en-US" sz="1300" dirty="0"/>
          </a:p>
        </p:txBody>
      </p:sp>
      <p:sp>
        <p:nvSpPr>
          <p:cNvPr id="7" name="Text 4"/>
          <p:cNvSpPr/>
          <p:nvPr>
            <p:ph idx="105" type="title" hasCustomPrompt="1"/>
          </p:nvPr>
        </p:nvSpPr>
        <p:spPr>
          <a:xfrm>
            <a:off x="1206459" y="1904970"/>
            <a:ext cx="6540520" cy="1841510"/>
          </a:xfrm>
          <a:prstGeom prst="rect">
            <a:avLst/>
          </a:prstGeom>
          <a:noFill/>
          <a:ln/>
        </p:spPr>
        <p:txBody>
          <a:bodyPr wrap="square" rtlCol="0" lIns="0" tIns="0" rIns="0" bIns="0" anchor="t"/>
          <a:lstStyle>
            <a:lvl1pPr algn="l" indent="0" marL="0">
              <a:lnSpc>
                <a:spcPts val="4664"/>
              </a:lnSpc>
              <a:buNone/>
              <a:defRPr lang="en-US" sz="4400" b="1" dirty="0">
                <a:solidFill>
                  <a:srgbClr val="1D214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defRPr>
            </a:lvl1pPr>
          </a:lstStyle>
          <a:p>
            <a:pPr algn="l" indent="0" marL="0">
              <a:lnSpc>
                <a:spcPts val="4664"/>
              </a:lnSpc>
              <a:buNone/>
            </a:pPr>
            <a:r>
              <a:rPr lang="en-US" sz="4400" b="1" dirty="0">
                <a:solidFill>
                  <a:srgbClr val="1D214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Talk title</a:t>
            </a:r>
            <a:endParaRPr lang="en-US" sz="4400" dirty="0"/>
          </a:p>
        </p:txBody>
      </p:sp>
      <p:sp>
        <p:nvSpPr>
          <p:cNvPr id="8" name="Text 4"/>
          <p:cNvSpPr/>
          <p:nvPr>
            <p:ph idx="106" type="body" hasCustomPrompt="1"/>
          </p:nvPr>
        </p:nvSpPr>
        <p:spPr>
          <a:xfrm>
            <a:off x="1206459" y="3873490"/>
            <a:ext cx="6096030" cy="698510"/>
          </a:xfrm>
          <a:prstGeom prst="rect">
            <a:avLst/>
          </a:prstGeom>
          <a:noFill/>
          <a:ln/>
        </p:spPr>
        <p:txBody>
          <a:bodyPr wrap="square" rtlCol="0" lIns="0" tIns="0" rIns="0" bIns="0" anchor="t"/>
          <a:lstStyle>
            <a:lvl1pPr algn="l" indent="0" marL="0">
              <a:lnSpc>
                <a:spcPts val="2340"/>
              </a:lnSpc>
              <a:buNone/>
              <a:defRPr lang="en-US" sz="1800" dirty="0">
                <a:solidFill>
                  <a:srgbClr val="4B5173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defRPr>
            </a:lvl1pPr>
          </a:lstStyle>
          <a:p>
            <a:pPr algn="l" indent="0" marL="0">
              <a:lnSpc>
                <a:spcPts val="2340"/>
              </a:lnSpc>
              <a:buNone/>
            </a:pPr>
            <a:r>
              <a:rPr lang="en-US" sz="1800" dirty="0">
                <a:solidFill>
                  <a:srgbClr val="4B5173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Subtitle</a:t>
            </a:r>
            <a:endParaRPr lang="en-US" sz="1800" dirty="0"/>
          </a:p>
        </p:txBody>
      </p:sp>
      <p:sp>
        <p:nvSpPr>
          <p:cNvPr id="9" name="Text 4"/>
          <p:cNvSpPr/>
          <p:nvPr>
            <p:ph idx="107" type="body" hasCustomPrompt="1"/>
          </p:nvPr>
        </p:nvSpPr>
        <p:spPr>
          <a:xfrm>
            <a:off x="1206459" y="4889480"/>
            <a:ext cx="6096030" cy="698510"/>
          </a:xfrm>
          <a:prstGeom prst="rect">
            <a:avLst/>
          </a:prstGeom>
          <a:noFill/>
          <a:ln/>
        </p:spPr>
        <p:txBody>
          <a:bodyPr wrap="square" rtlCol="0" lIns="0" tIns="0" rIns="0" bIns="0" anchor="t"/>
          <a:lstStyle>
            <a:lvl1pPr algn="l" indent="0" marL="0">
              <a:lnSpc>
                <a:spcPts val="1890"/>
              </a:lnSpc>
              <a:buNone/>
              <a:defRPr lang="en-US" sz="1400" dirty="0">
                <a:solidFill>
                  <a:srgbClr val="4B5173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defRPr>
            </a:lvl1pPr>
          </a:lstStyle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4B5173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Speaker name</a:t>
            </a:r>
            <a:endParaRPr lang="en-US" sz="1400" dirty="0"/>
          </a:p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4B5173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Affiliation</a:t>
            </a:r>
            <a:endParaRPr lang="en-US" sz="1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1970" y="6286500"/>
            <a:ext cx="5715000" cy="254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B709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Trust in algorithmic advice</a:t>
            </a:r>
            <a:endParaRPr lang="en-US" sz="11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761970" y="698510"/>
            <a:ext cx="10668030" cy="888980"/>
          </a:xfrm>
          <a:prstGeom prst="rect">
            <a:avLst/>
          </a:prstGeom>
          <a:noFill/>
          <a:ln/>
        </p:spPr>
        <p:txBody>
          <a:bodyPr wrap="square" rtlCol="0" lIns="0" tIns="0" rIns="0" bIns="0" anchor="b"/>
          <a:lstStyle>
            <a:lvl1pPr algn="l" indent="0" marL="0">
              <a:lnSpc>
                <a:spcPts val="3456"/>
              </a:lnSpc>
              <a:buNone/>
              <a:defRPr lang="en-US" sz="3200" b="1" dirty="0">
                <a:solidFill>
                  <a:srgbClr val="1D214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defRPr>
            </a:lvl1pPr>
          </a:lstStyle>
          <a:p>
            <a:pPr algn="l" indent="0" marL="0">
              <a:lnSpc>
                <a:spcPts val="3456"/>
              </a:lnSpc>
              <a:buNone/>
            </a:pPr>
            <a:r>
              <a:rPr lang="en-US" sz="3200" b="1" dirty="0">
                <a:solidFill>
                  <a:srgbClr val="1D214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Slide title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95041" y="6286500"/>
            <a:ext cx="634959" cy="2540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rgbClr val="6B7090"/>
                </a:solidFill>
                <a:latin typeface="Avenir Next"/>
                <a:ea typeface="Avenir Next"/>
                <a:cs typeface="Avenir Next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divider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1970" y="1333470"/>
            <a:ext cx="7873990" cy="4190970"/>
          </a:xfrm>
          <a:prstGeom prst="roundRect">
            <a:avLst>
              <a:gd name="adj" fmla="val 8485"/>
            </a:avLst>
          </a:prstGeom>
          <a:solidFill>
            <a:srgbClr val="FFFFFF">
              <a:alpha val="52000"/>
            </a:srgbClr>
          </a:solidFill>
          <a:ln w="12700">
            <a:solidFill>
              <a:srgbClr val="FFFFFF">
                <a:alpha val="90000"/>
              </a:srgbClr>
            </a:solidFill>
            <a:prstDash val="solid"/>
          </a:ln>
          <a:effectLst>
            <a:outerShdw sx="100000" sy="100000" kx="0" ky="0" algn="bl" rotWithShape="0" blurRad="381000" dist="152400" dir="5400000">
              <a:srgbClr val="2A2F6B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9207459" y="1460480"/>
            <a:ext cx="1904970" cy="1904970"/>
          </a:xfrm>
          <a:prstGeom prst="ellipse">
            <a:avLst/>
          </a:prstGeom>
          <a:solidFill>
            <a:srgbClr val="FFFFFF">
              <a:alpha val="34000"/>
            </a:srgbClr>
          </a:solidFill>
          <a:ln w="12700">
            <a:solidFill>
              <a:srgbClr val="FFFFFF">
                <a:alpha val="85000"/>
              </a:srgbClr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10032980" y="3810030"/>
            <a:ext cx="1397020" cy="1397020"/>
          </a:xfrm>
          <a:prstGeom prst="ellipse">
            <a:avLst/>
          </a:prstGeom>
          <a:solidFill>
            <a:srgbClr val="FFFFFF">
              <a:alpha val="34000"/>
            </a:srgbClr>
          </a:solidFill>
          <a:ln w="12700">
            <a:solidFill>
              <a:srgbClr val="FFFFFF">
                <a:alpha val="85000"/>
              </a:srgbClr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>
            <p:ph idx="103" type="body" hasCustomPrompt="1"/>
          </p:nvPr>
        </p:nvSpPr>
        <p:spPr>
          <a:xfrm>
            <a:off x="1270010" y="1714500"/>
            <a:ext cx="3810030" cy="1270010"/>
          </a:xfrm>
          <a:prstGeom prst="rect">
            <a:avLst/>
          </a:prstGeom>
          <a:noFill/>
          <a:ln/>
        </p:spPr>
        <p:txBody>
          <a:bodyPr wrap="square" rtlCol="0" lIns="0" tIns="0" rIns="0" bIns="0" anchor="t"/>
          <a:lstStyle>
            <a:lvl1pPr algn="l" indent="0" marL="0">
              <a:lnSpc>
                <a:spcPts val="9000"/>
              </a:lnSpc>
              <a:buNone/>
              <a:defRPr lang="en-US" sz="9000" b="1" dirty="0">
                <a:solidFill>
                  <a:srgbClr val="5A3FD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defRPr>
            </a:lvl1pPr>
          </a:lstStyle>
          <a:p>
            <a:pPr algn="l" indent="0" marL="0">
              <a:lnSpc>
                <a:spcPts val="9000"/>
              </a:lnSpc>
              <a:buNone/>
            </a:pPr>
            <a:r>
              <a:rPr lang="en-US" sz="9000" b="1" dirty="0">
                <a:solidFill>
                  <a:srgbClr val="5A3FD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01</a:t>
            </a:r>
            <a:endParaRPr lang="en-US" sz="9000" dirty="0"/>
          </a:p>
        </p:txBody>
      </p:sp>
      <p:sp>
        <p:nvSpPr>
          <p:cNvPr id="6" name="Text 3"/>
          <p:cNvSpPr/>
          <p:nvPr>
            <p:ph idx="104" type="title" hasCustomPrompt="1"/>
          </p:nvPr>
        </p:nvSpPr>
        <p:spPr>
          <a:xfrm>
            <a:off x="1270010" y="3174980"/>
            <a:ext cx="6858000" cy="952530"/>
          </a:xfrm>
          <a:prstGeom prst="rect">
            <a:avLst/>
          </a:prstGeom>
          <a:noFill/>
          <a:ln/>
        </p:spPr>
        <p:txBody>
          <a:bodyPr wrap="square" rtlCol="0" lIns="0" tIns="0" rIns="0" bIns="0" anchor="t"/>
          <a:lstStyle>
            <a:lvl1pPr algn="l" indent="0" marL="0">
              <a:lnSpc>
                <a:spcPts val="6300"/>
              </a:lnSpc>
              <a:buNone/>
              <a:defRPr lang="en-US" sz="6000" b="1" dirty="0">
                <a:solidFill>
                  <a:srgbClr val="1D214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defRPr>
            </a:lvl1pPr>
          </a:lstStyle>
          <a:p>
            <a:pPr algn="l" indent="0" marL="0">
              <a:lnSpc>
                <a:spcPts val="6300"/>
              </a:lnSpc>
              <a:buNone/>
            </a:pPr>
            <a:r>
              <a:rPr lang="en-US" sz="6000" b="1" dirty="0">
                <a:solidFill>
                  <a:srgbClr val="1D214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Section title</a:t>
            </a:r>
            <a:endParaRPr lang="en-US" sz="6000" dirty="0"/>
          </a:p>
        </p:txBody>
      </p:sp>
      <p:sp>
        <p:nvSpPr>
          <p:cNvPr id="7" name="Text 3"/>
          <p:cNvSpPr/>
          <p:nvPr>
            <p:ph idx="105" type="body" hasCustomPrompt="1"/>
          </p:nvPr>
        </p:nvSpPr>
        <p:spPr>
          <a:xfrm>
            <a:off x="1270010" y="4317980"/>
            <a:ext cx="6349959" cy="698510"/>
          </a:xfrm>
          <a:prstGeom prst="rect">
            <a:avLst/>
          </a:prstGeom>
          <a:noFill/>
          <a:ln/>
        </p:spPr>
        <p:txBody>
          <a:bodyPr wrap="square" rtlCol="0" lIns="0" tIns="0" rIns="0" bIns="0" anchor="t"/>
          <a:lstStyle>
            <a:lvl1pPr algn="l" indent="0" marL="0">
              <a:lnSpc>
                <a:spcPts val="2470"/>
              </a:lnSpc>
              <a:buNone/>
              <a:defRPr lang="en-US" sz="1900" dirty="0">
                <a:solidFill>
                  <a:srgbClr val="4B5173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defRPr>
            </a:lvl1pPr>
          </a:lstStyle>
          <a:p>
            <a:pPr algn="l" indent="0" marL="0">
              <a:lnSpc>
                <a:spcPts val="2470"/>
              </a:lnSpc>
              <a:buNone/>
            </a:pPr>
            <a:r>
              <a:rPr lang="en-US" sz="1900" dirty="0">
                <a:solidFill>
                  <a:srgbClr val="4B5173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One line on what this part answers</a:t>
            </a:r>
            <a:endParaRPr lang="en-US" sz="190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s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1970" y="6286500"/>
            <a:ext cx="5715000" cy="254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B709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Trust in algorithmic advice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61970" y="1904970"/>
            <a:ext cx="5206959" cy="4063959"/>
          </a:xfrm>
          <a:prstGeom prst="roundRect">
            <a:avLst>
              <a:gd name="adj" fmla="val 6251"/>
            </a:avLst>
          </a:prstGeom>
          <a:solidFill>
            <a:srgbClr val="FFFFFF">
              <a:alpha val="52000"/>
            </a:srgbClr>
          </a:solidFill>
          <a:ln w="12700">
            <a:solidFill>
              <a:srgbClr val="FFFFFF">
                <a:alpha val="90000"/>
              </a:srgbClr>
            </a:solidFill>
            <a:prstDash val="solid"/>
          </a:ln>
          <a:effectLst>
            <a:outerShdw sx="100000" sy="100000" kx="0" ky="0" algn="bl" rotWithShape="0" blurRad="381000" dist="152400" dir="5400000">
              <a:srgbClr val="2A2F6B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223041" y="1904970"/>
            <a:ext cx="5206959" cy="4063959"/>
          </a:xfrm>
          <a:prstGeom prst="roundRect">
            <a:avLst>
              <a:gd name="adj" fmla="val 6251"/>
            </a:avLst>
          </a:prstGeom>
          <a:solidFill>
            <a:srgbClr val="FFFFFF">
              <a:alpha val="52000"/>
            </a:srgbClr>
          </a:solidFill>
          <a:ln w="12700">
            <a:solidFill>
              <a:srgbClr val="FFFFFF">
                <a:alpha val="90000"/>
              </a:srgbClr>
            </a:solidFill>
            <a:prstDash val="solid"/>
          </a:ln>
          <a:effectLst>
            <a:outerShdw sx="100000" sy="100000" kx="0" ky="0" algn="bl" rotWithShape="0" blurRad="381000" dist="152400" dir="5400000">
              <a:srgbClr val="2A2F6B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>
            <p:ph idx="103" type="title" hasCustomPrompt="1"/>
          </p:nvPr>
        </p:nvSpPr>
        <p:spPr>
          <a:xfrm>
            <a:off x="761970" y="698510"/>
            <a:ext cx="10668030" cy="888980"/>
          </a:xfrm>
          <a:prstGeom prst="rect">
            <a:avLst/>
          </a:prstGeom>
          <a:noFill/>
          <a:ln/>
        </p:spPr>
        <p:txBody>
          <a:bodyPr wrap="square" rtlCol="0" lIns="0" tIns="0" rIns="0" bIns="0" anchor="b"/>
          <a:lstStyle>
            <a:lvl1pPr algn="l" indent="0" marL="0">
              <a:lnSpc>
                <a:spcPts val="3456"/>
              </a:lnSpc>
              <a:buNone/>
              <a:defRPr lang="en-US" sz="3200" b="1" dirty="0">
                <a:solidFill>
                  <a:srgbClr val="1D214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defRPr>
            </a:lvl1pPr>
          </a:lstStyle>
          <a:p>
            <a:pPr algn="l" indent="0" marL="0">
              <a:lnSpc>
                <a:spcPts val="3456"/>
              </a:lnSpc>
              <a:buNone/>
            </a:pPr>
            <a:r>
              <a:rPr lang="en-US" sz="3200" b="1" dirty="0">
                <a:solidFill>
                  <a:srgbClr val="1D214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Slide title</a:t>
            </a:r>
            <a:endParaRPr lang="en-US" sz="3200" dirty="0"/>
          </a:p>
        </p:txBody>
      </p:sp>
      <p:sp>
        <p:nvSpPr>
          <p:cNvPr id="6" name="Text 3"/>
          <p:cNvSpPr/>
          <p:nvPr>
            <p:ph idx="104" type="body" hasCustomPrompt="1"/>
          </p:nvPr>
        </p:nvSpPr>
        <p:spPr>
          <a:xfrm>
            <a:off x="1143000" y="2603480"/>
            <a:ext cx="4444990" cy="825520"/>
          </a:xfrm>
          <a:prstGeom prst="rect">
            <a:avLst/>
          </a:prstGeom>
          <a:noFill/>
          <a:ln/>
        </p:spPr>
        <p:txBody>
          <a:bodyPr wrap="square" rtlCol="0" lIns="0" tIns="0" rIns="0" bIns="0" anchor="t"/>
          <a:lstStyle>
            <a:lvl1pPr algn="l" indent="0" marL="0">
              <a:lnSpc>
                <a:spcPts val="2530"/>
              </a:lnSpc>
              <a:buNone/>
              <a:defRPr lang="en-US" sz="2200" b="1" dirty="0">
                <a:solidFill>
                  <a:srgbClr val="1D214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defRPr>
            </a:lvl1pPr>
          </a:lstStyle>
          <a:p>
            <a:pPr algn="l" indent="0" marL="0">
              <a:lnSpc>
                <a:spcPts val="2530"/>
              </a:lnSpc>
              <a:buNone/>
            </a:pPr>
            <a:r>
              <a:rPr lang="en-US" sz="2200" b="1" dirty="0">
                <a:solidFill>
                  <a:srgbClr val="1D214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Column heading</a:t>
            </a:r>
            <a:endParaRPr lang="en-US" sz="2200" dirty="0"/>
          </a:p>
        </p:txBody>
      </p:sp>
      <p:sp>
        <p:nvSpPr>
          <p:cNvPr id="7" name="Text 3"/>
          <p:cNvSpPr/>
          <p:nvPr>
            <p:ph idx="105" type="body" hasCustomPrompt="1"/>
          </p:nvPr>
        </p:nvSpPr>
        <p:spPr>
          <a:xfrm>
            <a:off x="1143000" y="3556010"/>
            <a:ext cx="4444990" cy="1460480"/>
          </a:xfrm>
          <a:prstGeom prst="rect">
            <a:avLst/>
          </a:prstGeom>
          <a:noFill/>
          <a:ln/>
        </p:spPr>
        <p:txBody>
          <a:bodyPr wrap="square" rtlCol="0" lIns="0" tIns="0" rIns="0" bIns="0" anchor="t"/>
          <a:lstStyle>
            <a:lvl1pPr algn="l" indent="0" marL="0">
              <a:lnSpc>
                <a:spcPts val="2201"/>
              </a:lnSpc>
              <a:buNone/>
              <a:defRPr lang="en-US" sz="1550" dirty="0">
                <a:solidFill>
                  <a:srgbClr val="4B5173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defRPr>
            </a:lvl1pPr>
          </a:lstStyle>
          <a:p>
            <a:pPr algn="l" indent="0" marL="0">
              <a:lnSpc>
                <a:spcPts val="2201"/>
              </a:lnSpc>
              <a:buNone/>
            </a:pPr>
            <a:r>
              <a:rPr lang="en-US" sz="1550" dirty="0">
                <a:solidFill>
                  <a:srgbClr val="4B5173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Column text</a:t>
            </a:r>
            <a:endParaRPr lang="en-US" sz="1550" dirty="0"/>
          </a:p>
        </p:txBody>
      </p:sp>
      <p:sp>
        <p:nvSpPr>
          <p:cNvPr id="8" name="Text 3"/>
          <p:cNvSpPr/>
          <p:nvPr>
            <p:ph idx="106" type="body" hasCustomPrompt="1"/>
          </p:nvPr>
        </p:nvSpPr>
        <p:spPr>
          <a:xfrm>
            <a:off x="6603980" y="2603480"/>
            <a:ext cx="4444990" cy="825520"/>
          </a:xfrm>
          <a:prstGeom prst="rect">
            <a:avLst/>
          </a:prstGeom>
          <a:noFill/>
          <a:ln/>
        </p:spPr>
        <p:txBody>
          <a:bodyPr wrap="square" rtlCol="0" lIns="0" tIns="0" rIns="0" bIns="0" anchor="t"/>
          <a:lstStyle>
            <a:lvl1pPr algn="l" indent="0" marL="0">
              <a:lnSpc>
                <a:spcPts val="2530"/>
              </a:lnSpc>
              <a:buNone/>
              <a:defRPr lang="en-US" sz="2200" b="1" dirty="0">
                <a:solidFill>
                  <a:srgbClr val="1D214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defRPr>
            </a:lvl1pPr>
          </a:lstStyle>
          <a:p>
            <a:pPr algn="l" indent="0" marL="0">
              <a:lnSpc>
                <a:spcPts val="2530"/>
              </a:lnSpc>
              <a:buNone/>
            </a:pPr>
            <a:r>
              <a:rPr lang="en-US" sz="2200" b="1" dirty="0">
                <a:solidFill>
                  <a:srgbClr val="1D214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Column heading</a:t>
            </a:r>
            <a:endParaRPr lang="en-US" sz="2200" dirty="0"/>
          </a:p>
        </p:txBody>
      </p:sp>
      <p:sp>
        <p:nvSpPr>
          <p:cNvPr id="9" name="Text 3"/>
          <p:cNvSpPr/>
          <p:nvPr>
            <p:ph idx="107" type="body" hasCustomPrompt="1"/>
          </p:nvPr>
        </p:nvSpPr>
        <p:spPr>
          <a:xfrm>
            <a:off x="6603980" y="3556010"/>
            <a:ext cx="4444990" cy="1460480"/>
          </a:xfrm>
          <a:prstGeom prst="rect">
            <a:avLst/>
          </a:prstGeom>
          <a:noFill/>
          <a:ln/>
        </p:spPr>
        <p:txBody>
          <a:bodyPr wrap="square" rtlCol="0" lIns="0" tIns="0" rIns="0" bIns="0" anchor="t"/>
          <a:lstStyle>
            <a:lvl1pPr algn="l" indent="0" marL="0">
              <a:lnSpc>
                <a:spcPts val="2201"/>
              </a:lnSpc>
              <a:buNone/>
              <a:defRPr lang="en-US" sz="1550" dirty="0">
                <a:solidFill>
                  <a:srgbClr val="4B5173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defRPr>
            </a:lvl1pPr>
          </a:lstStyle>
          <a:p>
            <a:pPr algn="l" indent="0" marL="0">
              <a:lnSpc>
                <a:spcPts val="2201"/>
              </a:lnSpc>
              <a:buNone/>
            </a:pPr>
            <a:r>
              <a:rPr lang="en-US" sz="1550" dirty="0">
                <a:solidFill>
                  <a:srgbClr val="4B5173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Column text</a:t>
            </a:r>
            <a:endParaRPr lang="en-US" sz="15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95041" y="6286500"/>
            <a:ext cx="634959" cy="2540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rgbClr val="6B7090"/>
                </a:solidFill>
                <a:latin typeface="Avenir Next"/>
                <a:ea typeface="Avenir Next"/>
                <a:cs typeface="Avenir Next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ints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1970" y="6286500"/>
            <a:ext cx="5715000" cy="254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B709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Trust in algorithmic advice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61970" y="1904970"/>
            <a:ext cx="10668030" cy="4063959"/>
          </a:xfrm>
          <a:prstGeom prst="roundRect">
            <a:avLst>
              <a:gd name="adj" fmla="val 6251"/>
            </a:avLst>
          </a:prstGeom>
          <a:solidFill>
            <a:srgbClr val="FFFFFF">
              <a:alpha val="52000"/>
            </a:srgbClr>
          </a:solidFill>
          <a:ln w="12700">
            <a:solidFill>
              <a:srgbClr val="FFFFFF">
                <a:alpha val="90000"/>
              </a:srgbClr>
            </a:solidFill>
            <a:prstDash val="solid"/>
          </a:ln>
          <a:effectLst>
            <a:outerShdw sx="100000" sy="100000" kx="0" ky="0" algn="bl" rotWithShape="0" blurRad="381000" dist="152400" dir="5400000">
              <a:srgbClr val="2A2F6B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1143000" y="3257550"/>
            <a:ext cx="9905970" cy="0"/>
          </a:xfrm>
          <a:prstGeom prst="line">
            <a:avLst/>
          </a:prstGeom>
          <a:noFill/>
          <a:ln w="12700">
            <a:solidFill>
              <a:srgbClr val="FFFFFF">
                <a:alpha val="9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43000" y="4610130"/>
            <a:ext cx="9905970" cy="0"/>
          </a:xfrm>
          <a:prstGeom prst="line">
            <a:avLst/>
          </a:prstGeom>
          <a:noFill/>
          <a:ln w="12700">
            <a:solidFill>
              <a:srgbClr val="FFFFFF">
                <a:alpha val="95000"/>
              </a:srgbClr>
            </a:solidFill>
            <a:prstDash val="solid"/>
          </a:ln>
        </p:spPr>
      </p:sp>
      <p:sp>
        <p:nvSpPr>
          <p:cNvPr id="6" name="Text 4"/>
          <p:cNvSpPr/>
          <p:nvPr>
            <p:ph idx="104" type="title" hasCustomPrompt="1"/>
          </p:nvPr>
        </p:nvSpPr>
        <p:spPr>
          <a:xfrm>
            <a:off x="761970" y="698510"/>
            <a:ext cx="10668030" cy="888980"/>
          </a:xfrm>
          <a:prstGeom prst="rect">
            <a:avLst/>
          </a:prstGeom>
          <a:noFill/>
          <a:ln/>
        </p:spPr>
        <p:txBody>
          <a:bodyPr wrap="square" rtlCol="0" lIns="0" tIns="0" rIns="0" bIns="0" anchor="b"/>
          <a:lstStyle>
            <a:lvl1pPr algn="l" indent="0" marL="0">
              <a:lnSpc>
                <a:spcPts val="3456"/>
              </a:lnSpc>
              <a:buNone/>
              <a:defRPr lang="en-US" sz="3200" b="1" dirty="0">
                <a:solidFill>
                  <a:srgbClr val="1D214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defRPr>
            </a:lvl1pPr>
          </a:lstStyle>
          <a:p>
            <a:pPr algn="l" indent="0" marL="0">
              <a:lnSpc>
                <a:spcPts val="3456"/>
              </a:lnSpc>
              <a:buNone/>
            </a:pPr>
            <a:r>
              <a:rPr lang="en-US" sz="3200" b="1" dirty="0">
                <a:solidFill>
                  <a:srgbClr val="1D214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Slide title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95041" y="6286500"/>
            <a:ext cx="634959" cy="2540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rgbClr val="6B7090"/>
                </a:solidFill>
                <a:latin typeface="Avenir Next"/>
                <a:ea typeface="Avenir Next"/>
                <a:cs typeface="Avenir Next"/>
              </a:defRPr>
            </a:lvl1pPr>
          </a:lstStyle>
          <a:p>
            <a:pPr algn="r"/>
            <a:fld id="{F7021451-1387-4CA6-816F-3879F97B5CBC}" type="slidenum">
              <a:rPr b="0" lang="en-US"/>
              <a:t>1006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ocess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1970" y="6286500"/>
            <a:ext cx="5715000" cy="254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B709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Trust in algorithmic advice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2031980" y="3810030"/>
            <a:ext cx="8128010" cy="0"/>
          </a:xfrm>
          <a:prstGeom prst="line">
            <a:avLst/>
          </a:prstGeom>
          <a:noFill/>
          <a:ln w="25400">
            <a:solidFill>
              <a:srgbClr val="FFFFFF">
                <a:alpha val="95000"/>
              </a:srgbClr>
            </a:solidFill>
            <a:prstDash val="solid"/>
          </a:ln>
        </p:spPr>
      </p:sp>
      <p:sp>
        <p:nvSpPr>
          <p:cNvPr id="4" name="Text 2"/>
          <p:cNvSpPr/>
          <p:nvPr>
            <p:ph idx="102" type="title" hasCustomPrompt="1"/>
          </p:nvPr>
        </p:nvSpPr>
        <p:spPr>
          <a:xfrm>
            <a:off x="761970" y="698510"/>
            <a:ext cx="10668030" cy="888980"/>
          </a:xfrm>
          <a:prstGeom prst="rect">
            <a:avLst/>
          </a:prstGeom>
          <a:noFill/>
          <a:ln/>
        </p:spPr>
        <p:txBody>
          <a:bodyPr wrap="square" rtlCol="0" lIns="0" tIns="0" rIns="0" bIns="0" anchor="b"/>
          <a:lstStyle>
            <a:lvl1pPr algn="l" indent="0" marL="0">
              <a:lnSpc>
                <a:spcPts val="3456"/>
              </a:lnSpc>
              <a:buNone/>
              <a:defRPr lang="en-US" sz="3200" b="1" dirty="0">
                <a:solidFill>
                  <a:srgbClr val="1D214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defRPr>
            </a:lvl1pPr>
          </a:lstStyle>
          <a:p>
            <a:pPr algn="l" indent="0" marL="0">
              <a:lnSpc>
                <a:spcPts val="3456"/>
              </a:lnSpc>
              <a:buNone/>
            </a:pPr>
            <a:r>
              <a:rPr lang="en-US" sz="3200" b="1" dirty="0">
                <a:solidFill>
                  <a:srgbClr val="1D214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Slide title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95041" y="6286500"/>
            <a:ext cx="634959" cy="2540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rgbClr val="6B7090"/>
                </a:solidFill>
                <a:latin typeface="Avenir Next"/>
                <a:ea typeface="Avenir Next"/>
                <a:cs typeface="Avenir Next"/>
              </a:defRPr>
            </a:lvl1pPr>
          </a:lstStyle>
          <a:p>
            <a:pPr algn="r"/>
            <a:fld id="{F7021451-1387-4CA6-816F-3879F97B5CBC}" type="slidenum">
              <a:rPr b="0" lang="en-US"/>
              <a:t>1007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+ caption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1970" y="6286500"/>
            <a:ext cx="5715000" cy="254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B709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Trust in algorithmic advice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382030" y="1841510"/>
            <a:ext cx="3047970" cy="4140220"/>
          </a:xfrm>
          <a:prstGeom prst="roundRect">
            <a:avLst>
              <a:gd name="adj" fmla="val 8334"/>
            </a:avLst>
          </a:prstGeom>
          <a:solidFill>
            <a:srgbClr val="FFFFFF">
              <a:alpha val="52000"/>
            </a:srgbClr>
          </a:solidFill>
          <a:ln w="12700">
            <a:solidFill>
              <a:srgbClr val="FFFFFF">
                <a:alpha val="90000"/>
              </a:srgbClr>
            </a:solidFill>
            <a:prstDash val="solid"/>
          </a:ln>
          <a:effectLst>
            <a:outerShdw sx="100000" sy="100000" kx="0" ky="0" algn="bl" rotWithShape="0" blurRad="381000" dist="152400" dir="5400000">
              <a:srgbClr val="2A2F6B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>
            <p:ph idx="102" type="title" hasCustomPrompt="1"/>
          </p:nvPr>
        </p:nvSpPr>
        <p:spPr>
          <a:xfrm>
            <a:off x="761970" y="698510"/>
            <a:ext cx="10668030" cy="888980"/>
          </a:xfrm>
          <a:prstGeom prst="rect">
            <a:avLst/>
          </a:prstGeom>
          <a:noFill/>
          <a:ln/>
        </p:spPr>
        <p:txBody>
          <a:bodyPr wrap="square" rtlCol="0" lIns="0" tIns="0" rIns="0" bIns="0" anchor="b"/>
          <a:lstStyle>
            <a:lvl1pPr algn="l" indent="0" marL="0">
              <a:lnSpc>
                <a:spcPts val="3456"/>
              </a:lnSpc>
              <a:buNone/>
              <a:defRPr lang="en-US" sz="3200" b="1" dirty="0">
                <a:solidFill>
                  <a:srgbClr val="1D214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defRPr>
            </a:lvl1pPr>
          </a:lstStyle>
          <a:p>
            <a:pPr algn="l" indent="0" marL="0">
              <a:lnSpc>
                <a:spcPts val="3456"/>
              </a:lnSpc>
              <a:buNone/>
            </a:pPr>
            <a:r>
              <a:rPr lang="en-US" sz="3200" b="1" dirty="0">
                <a:solidFill>
                  <a:srgbClr val="1D214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Slide title</a:t>
            </a:r>
            <a:endParaRPr lang="en-US" sz="3200" dirty="0"/>
          </a:p>
        </p:txBody>
      </p:sp>
      <p:sp>
        <p:nvSpPr>
          <p:cNvPr id="5" name="Text 2"/>
          <p:cNvSpPr/>
          <p:nvPr>
            <p:ph idx="103" hasCustomPrompt="1"/>
          </p:nvPr>
        </p:nvSpPr>
        <p:spPr>
          <a:xfrm>
            <a:off x="761970" y="1841510"/>
            <a:ext cx="7366041" cy="4140220"/>
          </a:xfrm>
          <a:prstGeom prst="roundRect">
            <a:avLst>
              <a:gd name="adj" fmla="val 4294"/>
            </a:avLst>
          </a:prstGeom>
          <a:noFill/>
          <a:ln w="38100">
            <a:solidFill>
              <a:srgbClr val="FFFFFF"/>
            </a:solidFill>
          </a:ln>
        </p:spPr>
        <p:txBody>
          <a:bodyPr wrap="square" rtlCol="0" lIns="0" tIns="0" rIns="0" bIns="0" anchor="t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  <p:sp>
        <p:nvSpPr>
          <p:cNvPr id="6" name="Text 2"/>
          <p:cNvSpPr/>
          <p:nvPr>
            <p:ph idx="104" type="body" hasCustomPrompt="1"/>
          </p:nvPr>
        </p:nvSpPr>
        <p:spPr>
          <a:xfrm>
            <a:off x="8699510" y="2571750"/>
            <a:ext cx="2413010" cy="3047970"/>
          </a:xfrm>
          <a:prstGeom prst="rect">
            <a:avLst/>
          </a:prstGeom>
          <a:noFill/>
          <a:ln/>
        </p:spPr>
        <p:txBody>
          <a:bodyPr wrap="square" rtlCol="0" lIns="0" tIns="0" rIns="0" bIns="0" anchor="t"/>
          <a:lstStyle>
            <a:lvl1pPr algn="l" indent="0" marL="0">
              <a:lnSpc>
                <a:spcPts val="2175"/>
              </a:lnSpc>
              <a:buNone/>
              <a:defRPr lang="en-US" sz="1500" dirty="0">
                <a:solidFill>
                  <a:srgbClr val="4B5173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defRPr>
            </a:lvl1pPr>
          </a:lstStyle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4B5173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Caption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95041" y="6286500"/>
            <a:ext cx="634959" cy="2540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rgbClr val="6B7090"/>
                </a:solidFill>
                <a:latin typeface="Avenir Next"/>
                <a:ea typeface="Avenir Next"/>
                <a:cs typeface="Avenir Next"/>
              </a:defRPr>
            </a:lvl1pPr>
          </a:lstStyle>
          <a:p>
            <a:pPr algn="r"/>
            <a:fld id="{F7021451-1387-4CA6-816F-3879F97B5CBC}" type="slidenum">
              <a:rPr b="0" lang="en-US"/>
              <a:t>1008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number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1970" y="1079541"/>
            <a:ext cx="10668030" cy="4699010"/>
          </a:xfrm>
          <a:prstGeom prst="roundRect">
            <a:avLst>
              <a:gd name="adj" fmla="val 7568"/>
            </a:avLst>
          </a:prstGeom>
          <a:solidFill>
            <a:srgbClr val="FFFFFF">
              <a:alpha val="52000"/>
            </a:srgbClr>
          </a:solidFill>
          <a:ln w="12700">
            <a:solidFill>
              <a:srgbClr val="FFFFFF">
                <a:alpha val="90000"/>
              </a:srgbClr>
            </a:solidFill>
            <a:prstDash val="solid"/>
          </a:ln>
          <a:effectLst>
            <a:outerShdw sx="100000" sy="100000" kx="0" ky="0" algn="bl" rotWithShape="0" blurRad="381000" dist="152400" dir="5400000">
              <a:srgbClr val="2A2F6B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>
            <p:ph idx="101" type="body" hasCustomPrompt="1"/>
          </p:nvPr>
        </p:nvSpPr>
        <p:spPr>
          <a:xfrm>
            <a:off x="1206459" y="1587490"/>
            <a:ext cx="5587990" cy="2667030"/>
          </a:xfrm>
          <a:prstGeom prst="rect">
            <a:avLst/>
          </a:prstGeom>
          <a:noFill/>
          <a:ln/>
        </p:spPr>
        <p:txBody>
          <a:bodyPr wrap="square" rtlCol="0" lIns="0" tIns="0" rIns="0" bIns="0" anchor="ctr"/>
          <a:lstStyle>
            <a:lvl1pPr algn="l" indent="0" marL="0">
              <a:lnSpc>
                <a:spcPts val="17000"/>
              </a:lnSpc>
              <a:buNone/>
              <a:defRPr lang="en-US" sz="17000" b="1" dirty="0">
                <a:solidFill>
                  <a:srgbClr val="5A3FD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defRPr>
            </a:lvl1pPr>
          </a:lstStyle>
          <a:p>
            <a:pPr algn="l" indent="0" marL="0">
              <a:lnSpc>
                <a:spcPts val="17000"/>
              </a:lnSpc>
              <a:buNone/>
            </a:pPr>
            <a:r>
              <a:rPr lang="en-US" sz="17000" b="1" dirty="0">
                <a:solidFill>
                  <a:srgbClr val="5A3FD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68%</a:t>
            </a:r>
            <a:endParaRPr lang="en-US" sz="170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6730990" y="1904970"/>
            <a:ext cx="4317980" cy="1651041"/>
          </a:xfrm>
          <a:prstGeom prst="rect">
            <a:avLst/>
          </a:prstGeom>
          <a:noFill/>
          <a:ln/>
        </p:spPr>
        <p:txBody>
          <a:bodyPr wrap="square" rtlCol="0" lIns="0" tIns="0" rIns="0" bIns="0" anchor="t"/>
          <a:lstStyle>
            <a:lvl1pPr algn="l" indent="0" marL="0">
              <a:lnSpc>
                <a:spcPts val="2880"/>
              </a:lnSpc>
              <a:buNone/>
              <a:defRPr lang="en-US" sz="2400" b="1" dirty="0">
                <a:solidFill>
                  <a:srgbClr val="1D214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defRPr>
            </a:lvl1pPr>
          </a:lstStyle>
          <a:p>
            <a:pPr algn="l" indent="0" marL="0">
              <a:lnSpc>
                <a:spcPts val="2880"/>
              </a:lnSpc>
              <a:buNone/>
            </a:pPr>
            <a:r>
              <a:rPr lang="en-US" sz="2400" b="1" dirty="0">
                <a:solidFill>
                  <a:srgbClr val="1D214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What the number means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95041" y="6286500"/>
            <a:ext cx="634959" cy="2540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rgbClr val="6B7090"/>
                </a:solidFill>
                <a:latin typeface="Avenir Next"/>
                <a:ea typeface="Avenir Next"/>
                <a:cs typeface="Avenir Next"/>
              </a:defRPr>
            </a:lvl1pPr>
          </a:lstStyle>
          <a:p>
            <a:pPr algn="r"/>
            <a:fld id="{F7021451-1387-4CA6-816F-3879F97B5CBC}" type="slidenum">
              <a:rPr b="0" lang="en-US"/>
              <a:t>1009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rt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1970" y="6286500"/>
            <a:ext cx="5715000" cy="254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B709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Trust in algorithmic advice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61970" y="1841510"/>
            <a:ext cx="10668030" cy="4254520"/>
          </a:xfrm>
          <a:prstGeom prst="roundRect">
            <a:avLst>
              <a:gd name="adj" fmla="val 5971"/>
            </a:avLst>
          </a:prstGeom>
          <a:solidFill>
            <a:srgbClr val="FFFFFF">
              <a:alpha val="52000"/>
            </a:srgbClr>
          </a:solidFill>
          <a:ln w="12700">
            <a:solidFill>
              <a:srgbClr val="FFFFFF">
                <a:alpha val="90000"/>
              </a:srgbClr>
            </a:solidFill>
            <a:prstDash val="solid"/>
          </a:ln>
          <a:effectLst>
            <a:outerShdw sx="100000" sy="100000" kx="0" ky="0" algn="bl" rotWithShape="0" blurRad="381000" dist="152400" dir="5400000">
              <a:srgbClr val="2A2F6B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>
            <p:ph idx="102" type="title" hasCustomPrompt="1"/>
          </p:nvPr>
        </p:nvSpPr>
        <p:spPr>
          <a:xfrm>
            <a:off x="761970" y="698510"/>
            <a:ext cx="10668030" cy="888980"/>
          </a:xfrm>
          <a:prstGeom prst="rect">
            <a:avLst/>
          </a:prstGeom>
          <a:noFill/>
          <a:ln/>
        </p:spPr>
        <p:txBody>
          <a:bodyPr wrap="square" rtlCol="0" lIns="0" tIns="0" rIns="0" bIns="0" anchor="b"/>
          <a:lstStyle>
            <a:lvl1pPr algn="l" indent="0" marL="0">
              <a:lnSpc>
                <a:spcPts val="3456"/>
              </a:lnSpc>
              <a:buNone/>
              <a:defRPr lang="en-US" sz="3200" b="1" dirty="0">
                <a:solidFill>
                  <a:srgbClr val="1D214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defRPr>
            </a:lvl1pPr>
          </a:lstStyle>
          <a:p>
            <a:pPr algn="l" indent="0" marL="0">
              <a:lnSpc>
                <a:spcPts val="3456"/>
              </a:lnSpc>
              <a:buNone/>
            </a:pPr>
            <a:r>
              <a:rPr lang="en-US" sz="3200" b="1" dirty="0">
                <a:solidFill>
                  <a:srgbClr val="1D214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Slide title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95041" y="6286500"/>
            <a:ext cx="634959" cy="2540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rgbClr val="6B7090"/>
                </a:solidFill>
                <a:latin typeface="Avenir Next"/>
                <a:ea typeface="Avenir Next"/>
                <a:cs typeface="Avenir Next"/>
              </a:defRPr>
            </a:lvl1pPr>
          </a:lstStyle>
          <a:p>
            <a:pPr algn="r"/>
            <a:fld id="{F7021451-1387-4CA6-816F-3879F97B5CBC}" type="slidenum">
              <a:rPr b="0" lang="en-US"/>
              <a:t>1010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ble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1970" y="6286500"/>
            <a:ext cx="5715000" cy="254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B709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Trust in algorithmic advice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61970" y="1841510"/>
            <a:ext cx="10668030" cy="4063959"/>
          </a:xfrm>
          <a:prstGeom prst="roundRect">
            <a:avLst>
              <a:gd name="adj" fmla="val 6251"/>
            </a:avLst>
          </a:prstGeom>
          <a:solidFill>
            <a:srgbClr val="FFFFFF">
              <a:alpha val="52000"/>
            </a:srgbClr>
          </a:solidFill>
          <a:ln w="12700">
            <a:solidFill>
              <a:srgbClr val="FFFFFF">
                <a:alpha val="90000"/>
              </a:srgbClr>
            </a:solidFill>
            <a:prstDash val="solid"/>
          </a:ln>
          <a:effectLst>
            <a:outerShdw sx="100000" sy="100000" kx="0" ky="0" algn="bl" rotWithShape="0" blurRad="381000" dist="152400" dir="5400000">
              <a:srgbClr val="2A2F6B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>
            <p:ph idx="102" type="title" hasCustomPrompt="1"/>
          </p:nvPr>
        </p:nvSpPr>
        <p:spPr>
          <a:xfrm>
            <a:off x="761970" y="698510"/>
            <a:ext cx="10668030" cy="888980"/>
          </a:xfrm>
          <a:prstGeom prst="rect">
            <a:avLst/>
          </a:prstGeom>
          <a:noFill/>
          <a:ln/>
        </p:spPr>
        <p:txBody>
          <a:bodyPr wrap="square" rtlCol="0" lIns="0" tIns="0" rIns="0" bIns="0" anchor="b"/>
          <a:lstStyle>
            <a:lvl1pPr algn="l" indent="0" marL="0">
              <a:lnSpc>
                <a:spcPts val="3456"/>
              </a:lnSpc>
              <a:buNone/>
              <a:defRPr lang="en-US" sz="3200" b="1" dirty="0">
                <a:solidFill>
                  <a:srgbClr val="1D214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defRPr>
            </a:lvl1pPr>
          </a:lstStyle>
          <a:p>
            <a:pPr algn="l" indent="0" marL="0">
              <a:lnSpc>
                <a:spcPts val="3456"/>
              </a:lnSpc>
              <a:buNone/>
            </a:pPr>
            <a:r>
              <a:rPr lang="en-US" sz="3200" b="1" dirty="0">
                <a:solidFill>
                  <a:srgbClr val="1D214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Slide title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95041" y="6286500"/>
            <a:ext cx="634959" cy="2540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rgbClr val="6B7090"/>
                </a:solidFill>
                <a:latin typeface="Avenir Next"/>
                <a:ea typeface="Avenir Next"/>
                <a:cs typeface="Avenir Next"/>
              </a:defRPr>
            </a:lvl1pPr>
          </a:lstStyle>
          <a:p>
            <a:pPr algn="r"/>
            <a:fld id="{F7021451-1387-4CA6-816F-3879F97B5CBC}" type="slidenum">
              <a:rPr b="0" lang="en-US"/>
              <a:t>1011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97020" y="1206459"/>
            <a:ext cx="9398020" cy="4444990"/>
          </a:xfrm>
          <a:prstGeom prst="roundRect">
            <a:avLst>
              <a:gd name="adj" fmla="val 8000"/>
            </a:avLst>
          </a:prstGeom>
          <a:solidFill>
            <a:srgbClr val="FFFFFF">
              <a:alpha val="52000"/>
            </a:srgbClr>
          </a:solidFill>
          <a:ln w="12700">
            <a:solidFill>
              <a:srgbClr val="FFFFFF">
                <a:alpha val="90000"/>
              </a:srgbClr>
            </a:solidFill>
            <a:prstDash val="solid"/>
          </a:ln>
          <a:effectLst>
            <a:outerShdw sx="100000" sy="100000" kx="0" ky="0" algn="bl" rotWithShape="0" blurRad="381000" dist="152400" dir="5400000">
              <a:srgbClr val="2A2F6B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841510" y="1206459"/>
            <a:ext cx="1904970" cy="16510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0"/>
              </a:lnSpc>
              <a:buNone/>
            </a:pPr>
            <a:r>
              <a:rPr lang="en-US" sz="15000" b="1" dirty="0">
                <a:solidFill>
                  <a:srgbClr val="5A3FD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“</a:t>
            </a:r>
            <a:endParaRPr lang="en-US" sz="15000" dirty="0"/>
          </a:p>
        </p:txBody>
      </p:sp>
      <p:sp>
        <p:nvSpPr>
          <p:cNvPr id="4" name="Text 2"/>
          <p:cNvSpPr/>
          <p:nvPr>
            <p:ph idx="102" type="body" hasCustomPrompt="1"/>
          </p:nvPr>
        </p:nvSpPr>
        <p:spPr>
          <a:xfrm>
            <a:off x="1904970" y="2730490"/>
            <a:ext cx="8382030" cy="1587490"/>
          </a:xfrm>
          <a:prstGeom prst="rect">
            <a:avLst/>
          </a:prstGeom>
          <a:noFill/>
          <a:ln/>
        </p:spPr>
        <p:txBody>
          <a:bodyPr wrap="square" rtlCol="0" lIns="0" tIns="0" rIns="0" bIns="0" anchor="t"/>
          <a:lstStyle>
            <a:lvl1pPr algn="l" indent="0" marL="0">
              <a:lnSpc>
                <a:spcPts val="5376"/>
              </a:lnSpc>
              <a:buNone/>
              <a:defRPr lang="en-US" sz="4800" b="1" dirty="0">
                <a:solidFill>
                  <a:srgbClr val="1D214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defRPr>
            </a:lvl1pPr>
          </a:lstStyle>
          <a:p>
            <a:pPr algn="l" indent="0" marL="0">
              <a:lnSpc>
                <a:spcPts val="5376"/>
              </a:lnSpc>
              <a:buNone/>
            </a:pPr>
            <a:r>
              <a:rPr lang="en-US" sz="4800" b="1" dirty="0">
                <a:solidFill>
                  <a:srgbClr val="1D214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Quote</a:t>
            </a:r>
            <a:endParaRPr lang="en-US" sz="4800" dirty="0"/>
          </a:p>
        </p:txBody>
      </p:sp>
      <p:sp>
        <p:nvSpPr>
          <p:cNvPr id="5" name="Text 2"/>
          <p:cNvSpPr/>
          <p:nvPr>
            <p:ph idx="103" type="body" hasCustomPrompt="1"/>
          </p:nvPr>
        </p:nvSpPr>
        <p:spPr>
          <a:xfrm>
            <a:off x="1904970" y="4699010"/>
            <a:ext cx="8255020" cy="381030"/>
          </a:xfrm>
          <a:prstGeom prst="rect">
            <a:avLst/>
          </a:prstGeom>
          <a:noFill/>
          <a:ln/>
        </p:spPr>
        <p:txBody>
          <a:bodyPr wrap="square" rtlCol="0" lIns="0" tIns="0" rIns="0" bIns="0" anchor="t"/>
          <a:lstStyle>
            <a:lvl1pPr algn="l" indent="0" marL="0">
              <a:lnSpc>
                <a:spcPts val="1800"/>
              </a:lnSpc>
              <a:buNone/>
              <a:defRPr lang="en-US" sz="1500" dirty="0">
                <a:solidFill>
                  <a:srgbClr val="4B5173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defRPr>
            </a:lvl1pPr>
          </a:lstStyle>
          <a:p>
            <a:pPr algn="l"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4B5173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— Who said it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95041" y="6286500"/>
            <a:ext cx="634959" cy="2540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rgbClr val="6B7090"/>
                </a:solidFill>
                <a:latin typeface="Avenir Next"/>
                <a:ea typeface="Avenir Next"/>
                <a:cs typeface="Avenir Next"/>
              </a:defRPr>
            </a:lvl1pPr>
          </a:lstStyle>
          <a:p>
            <a:pPr algn="r"/>
            <a:fld id="{F7021451-1387-4CA6-816F-3879F97B5CBC}" type="slidenum">
              <a:rPr b="0" lang="en-US"/>
              <a:t>1012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References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1970" y="6286500"/>
            <a:ext cx="5715000" cy="254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B709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Trust in algorithmic advice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61970" y="1841510"/>
            <a:ext cx="10668030" cy="4254520"/>
          </a:xfrm>
          <a:prstGeom prst="roundRect">
            <a:avLst>
              <a:gd name="adj" fmla="val 5971"/>
            </a:avLst>
          </a:prstGeom>
          <a:solidFill>
            <a:srgbClr val="FFFFFF">
              <a:alpha val="52000"/>
            </a:srgbClr>
          </a:solidFill>
          <a:ln w="12700">
            <a:solidFill>
              <a:srgbClr val="FFFFFF">
                <a:alpha val="90000"/>
              </a:srgbClr>
            </a:solidFill>
            <a:prstDash val="solid"/>
          </a:ln>
          <a:effectLst>
            <a:outerShdw sx="100000" sy="100000" kx="0" ky="0" algn="bl" rotWithShape="0" blurRad="381000" dist="152400" dir="5400000">
              <a:srgbClr val="2A2F6B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>
            <p:ph idx="102" type="title" hasCustomPrompt="1"/>
          </p:nvPr>
        </p:nvSpPr>
        <p:spPr>
          <a:xfrm>
            <a:off x="761970" y="698510"/>
            <a:ext cx="10668030" cy="888980"/>
          </a:xfrm>
          <a:prstGeom prst="rect">
            <a:avLst/>
          </a:prstGeom>
          <a:noFill/>
          <a:ln/>
        </p:spPr>
        <p:txBody>
          <a:bodyPr wrap="square" rtlCol="0" lIns="0" tIns="0" rIns="0" bIns="0" anchor="b"/>
          <a:lstStyle>
            <a:lvl1pPr algn="l" indent="0" marL="0">
              <a:lnSpc>
                <a:spcPts val="3456"/>
              </a:lnSpc>
              <a:buNone/>
              <a:defRPr lang="en-US" sz="3200" b="1" dirty="0">
                <a:solidFill>
                  <a:srgbClr val="1D214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defRPr>
            </a:lvl1pPr>
          </a:lstStyle>
          <a:p>
            <a:pPr algn="l" indent="0" marL="0">
              <a:lnSpc>
                <a:spcPts val="3456"/>
              </a:lnSpc>
              <a:buNone/>
            </a:pPr>
            <a:r>
              <a:rPr lang="en-US" sz="3200" b="1" dirty="0">
                <a:solidFill>
                  <a:srgbClr val="1D214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Slide title</a:t>
            </a:r>
            <a:endParaRPr lang="en-US" sz="3200" dirty="0"/>
          </a:p>
        </p:txBody>
      </p:sp>
      <p:sp>
        <p:nvSpPr>
          <p:cNvPr id="5" name="Text 2"/>
          <p:cNvSpPr/>
          <p:nvPr>
            <p:ph idx="103" type="body" hasCustomPrompt="1"/>
          </p:nvPr>
        </p:nvSpPr>
        <p:spPr>
          <a:xfrm>
            <a:off x="1270010" y="2222541"/>
            <a:ext cx="9652041" cy="3556010"/>
          </a:xfrm>
          <a:prstGeom prst="rect">
            <a:avLst/>
          </a:prstGeom>
          <a:noFill/>
          <a:ln/>
        </p:spPr>
        <p:txBody>
          <a:bodyPr wrap="square" rtlCol="0" lIns="0" tIns="0" rIns="0" bIns="0" anchor="t"/>
          <a:lstStyle>
            <a:lvl1pPr algn="l" indent="-304800" marL="304800">
              <a:lnSpc>
                <a:spcPts val="1917"/>
              </a:lnSpc>
              <a:spcAft>
                <a:spcPts val="1300"/>
              </a:spcAft>
              <a:buNone/>
              <a:defRPr lang="en-US" sz="1350" dirty="0">
                <a:solidFill>
                  <a:srgbClr val="1D214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defRPr>
            </a:lvl1pPr>
          </a:lstStyle>
          <a:p>
            <a:pPr algn="l" indent="0" marL="0">
              <a:lnSpc>
                <a:spcPts val="1917"/>
              </a:lnSpc>
              <a:spcAft>
                <a:spcPts val="1300"/>
              </a:spcAft>
              <a:buNone/>
            </a:pPr>
            <a:r>
              <a:rPr lang="en-US" sz="1350" dirty="0">
                <a:solidFill>
                  <a:srgbClr val="1D214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Author, A. (Year). Title. Journal, Volume(Issue), pages.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95041" y="6286500"/>
            <a:ext cx="634959" cy="2540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rgbClr val="6B7090"/>
                </a:solidFill>
                <a:latin typeface="Avenir Next"/>
                <a:ea typeface="Avenir Next"/>
                <a:cs typeface="Avenir Next"/>
              </a:defRPr>
            </a:lvl1pPr>
          </a:lstStyle>
          <a:p>
            <a:pPr algn="r"/>
            <a:fld id="{F7021451-1387-4CA6-816F-3879F97B5CBC}" type="slidenum">
              <a:rPr b="0" lang="en-US"/>
              <a:t>1013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1970" y="1079541"/>
            <a:ext cx="7112020" cy="4699010"/>
          </a:xfrm>
          <a:prstGeom prst="roundRect">
            <a:avLst>
              <a:gd name="adj" fmla="val 7568"/>
            </a:avLst>
          </a:prstGeom>
          <a:solidFill>
            <a:srgbClr val="FFFFFF">
              <a:alpha val="52000"/>
            </a:srgbClr>
          </a:solidFill>
          <a:ln w="12700">
            <a:solidFill>
              <a:srgbClr val="FFFFFF">
                <a:alpha val="90000"/>
              </a:srgbClr>
            </a:solidFill>
            <a:prstDash val="solid"/>
          </a:ln>
          <a:effectLst>
            <a:outerShdw sx="100000" sy="100000" kx="0" ky="0" algn="bl" rotWithShape="0" blurRad="381000" dist="152400" dir="5400000">
              <a:srgbClr val="2A2F6B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8635959" y="1333470"/>
            <a:ext cx="2413010" cy="2413010"/>
          </a:xfrm>
          <a:prstGeom prst="ellipse">
            <a:avLst/>
          </a:prstGeom>
          <a:solidFill>
            <a:srgbClr val="FFFFFF">
              <a:alpha val="34000"/>
            </a:srgbClr>
          </a:solidFill>
          <a:ln w="12700">
            <a:solidFill>
              <a:srgbClr val="FFFFFF">
                <a:alpha val="85000"/>
              </a:srgbClr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10223541" y="4190970"/>
            <a:ext cx="1270010" cy="1270010"/>
          </a:xfrm>
          <a:prstGeom prst="ellipse">
            <a:avLst/>
          </a:prstGeom>
          <a:solidFill>
            <a:srgbClr val="FFFFFF">
              <a:alpha val="34000"/>
            </a:srgbClr>
          </a:solidFill>
          <a:ln w="12700">
            <a:solidFill>
              <a:srgbClr val="FFFFFF">
                <a:alpha val="85000"/>
              </a:srgbClr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>
            <p:ph idx="103" type="title" hasCustomPrompt="1"/>
          </p:nvPr>
        </p:nvSpPr>
        <p:spPr>
          <a:xfrm>
            <a:off x="1270010" y="1587490"/>
            <a:ext cx="6096030" cy="1143000"/>
          </a:xfrm>
          <a:prstGeom prst="rect">
            <a:avLst/>
          </a:prstGeom>
          <a:noFill/>
          <a:ln/>
        </p:spPr>
        <p:txBody>
          <a:bodyPr wrap="square" rtlCol="0" lIns="0" tIns="0" rIns="0" bIns="0" anchor="t"/>
          <a:lstStyle>
            <a:lvl1pPr algn="l" indent="0" marL="0">
              <a:lnSpc>
                <a:spcPts val="7350"/>
              </a:lnSpc>
              <a:buNone/>
              <a:defRPr lang="en-US" sz="7000" b="1" dirty="0">
                <a:solidFill>
                  <a:srgbClr val="1D214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defRPr>
            </a:lvl1pPr>
          </a:lstStyle>
          <a:p>
            <a:pPr algn="l" indent="0" marL="0">
              <a:lnSpc>
                <a:spcPts val="7350"/>
              </a:lnSpc>
              <a:buNone/>
            </a:pPr>
            <a:r>
              <a:rPr lang="en-US" sz="7000" b="1" dirty="0">
                <a:solidFill>
                  <a:srgbClr val="1D214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Thank you</a:t>
            </a:r>
            <a:endParaRPr lang="en-US" sz="7000" dirty="0"/>
          </a:p>
        </p:txBody>
      </p:sp>
      <p:sp>
        <p:nvSpPr>
          <p:cNvPr id="6" name="Text 3"/>
          <p:cNvSpPr/>
          <p:nvPr>
            <p:ph idx="104" type="body" hasCustomPrompt="1"/>
          </p:nvPr>
        </p:nvSpPr>
        <p:spPr>
          <a:xfrm>
            <a:off x="1270010" y="2857500"/>
            <a:ext cx="5715000" cy="571500"/>
          </a:xfrm>
          <a:prstGeom prst="rect">
            <a:avLst/>
          </a:prstGeom>
          <a:noFill/>
          <a:ln/>
        </p:spPr>
        <p:txBody>
          <a:bodyPr wrap="square" rtlCol="0" lIns="0" tIns="0" rIns="0" bIns="0" anchor="t"/>
          <a:lstStyle>
            <a:lvl1pPr algn="l" indent="0" marL="0">
              <a:lnSpc>
                <a:spcPts val="3600"/>
              </a:lnSpc>
              <a:buNone/>
              <a:defRPr lang="en-US" sz="3000" b="1" dirty="0">
                <a:solidFill>
                  <a:srgbClr val="5A3FD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defRPr>
            </a:lvl1pPr>
          </a:lstStyle>
          <a:p>
            <a:pPr algn="l" indent="0" marL="0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5A3FD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Questions?</a:t>
            </a:r>
            <a:endParaRPr lang="en-US" sz="3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95041" y="6286500"/>
            <a:ext cx="634959" cy="2540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B7090"/>
                </a:solidFill>
                <a:latin typeface="Avenir Next"/>
                <a:ea typeface="Avenir Next"/>
                <a:cs typeface="Avenir Next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0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4" type="body" hasCustomPrompt="1"/>
          </p:nvPr>
        </p:nvSpPr>
        <p:spPr>
          <a:xfrm>
            <a:off x="1435059" y="1511320"/>
            <a:ext cx="5715000" cy="2794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5A3FD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Conference Name · 2026</a:t>
            </a:r>
            <a:endParaRPr lang="en-US" sz="1300" dirty="0"/>
          </a:p>
        </p:txBody>
      </p:sp>
      <p:sp>
        <p:nvSpPr>
          <p:cNvPr id="3" name="Text 4"/>
          <p:cNvSpPr/>
          <p:nvPr>
            <p:ph idx="105" type="title" hasCustomPrompt="1"/>
          </p:nvPr>
        </p:nvSpPr>
        <p:spPr>
          <a:xfrm>
            <a:off x="1206459" y="1904970"/>
            <a:ext cx="6540520" cy="18415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664"/>
              </a:lnSpc>
              <a:buNone/>
            </a:pPr>
            <a:r>
              <a:rPr lang="en-US" sz="4400" b="1" dirty="0">
                <a:solidFill>
                  <a:srgbClr val="1D214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When do people trust an algorithm?</a:t>
            </a:r>
            <a:endParaRPr lang="en-US" sz="4400" dirty="0"/>
          </a:p>
        </p:txBody>
      </p:sp>
      <p:sp>
        <p:nvSpPr>
          <p:cNvPr id="4" name="Text 4"/>
          <p:cNvSpPr/>
          <p:nvPr>
            <p:ph idx="106" type="body" hasCustomPrompt="1"/>
          </p:nvPr>
        </p:nvSpPr>
        <p:spPr>
          <a:xfrm>
            <a:off x="1206459" y="3873490"/>
            <a:ext cx="6096030" cy="6985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800" dirty="0">
                <a:solidFill>
                  <a:srgbClr val="4B5173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Three online experiments on explanations and advice-taking</a:t>
            </a:r>
            <a:endParaRPr lang="en-US" sz="1800" dirty="0"/>
          </a:p>
        </p:txBody>
      </p:sp>
      <p:sp>
        <p:nvSpPr>
          <p:cNvPr id="5" name="Text 4"/>
          <p:cNvSpPr/>
          <p:nvPr>
            <p:ph idx="107" type="body" hasCustomPrompt="1"/>
          </p:nvPr>
        </p:nvSpPr>
        <p:spPr>
          <a:xfrm>
            <a:off x="1206459" y="4889480"/>
            <a:ext cx="6096030" cy="6985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b="1" dirty="0">
                <a:solidFill>
                  <a:srgbClr val="1D214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Speaker Name</a:t>
            </a:r>
            <a:endParaRPr lang="en-US" sz="1400" dirty="0"/>
          </a:p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4B5173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Department of Psychology, University Name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761970" y="698510"/>
            <a:ext cx="10668030" cy="8889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ts val="3456"/>
              </a:lnSpc>
              <a:buNone/>
            </a:pPr>
            <a:r>
              <a:rPr lang="en-US" sz="3200" b="1" dirty="0">
                <a:solidFill>
                  <a:srgbClr val="1D214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Today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61970" y="1904970"/>
            <a:ext cx="5206959" cy="1904970"/>
          </a:xfrm>
          <a:prstGeom prst="roundRect">
            <a:avLst>
              <a:gd name="adj" fmla="val 12000"/>
            </a:avLst>
          </a:prstGeom>
          <a:solidFill>
            <a:srgbClr val="FFFFFF">
              <a:alpha val="52000"/>
            </a:srgbClr>
          </a:solidFill>
          <a:ln w="12700">
            <a:solidFill>
              <a:srgbClr val="FFFFFF">
                <a:alpha val="90000"/>
              </a:srgbClr>
            </a:solidFill>
            <a:prstDash val="solid"/>
          </a:ln>
          <a:effectLst>
            <a:outerShdw sx="100000" sy="100000" kx="0" ky="0" algn="bl" rotWithShape="0" blurRad="381000" dist="152400" dir="5400000">
              <a:srgbClr val="2A2F6B">
                <a:alpha val="10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1117580" y="2222541"/>
            <a:ext cx="1904970" cy="31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5A3FD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01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1117580" y="2641610"/>
            <a:ext cx="4572000" cy="4063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400" b="1" dirty="0">
                <a:solidFill>
                  <a:srgbClr val="1D214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The puzzle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1117580" y="3111520"/>
            <a:ext cx="4572000" cy="31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4B5173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Aversion and appreciation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223041" y="1904970"/>
            <a:ext cx="5206959" cy="1904970"/>
          </a:xfrm>
          <a:prstGeom prst="roundRect">
            <a:avLst>
              <a:gd name="adj" fmla="val 12000"/>
            </a:avLst>
          </a:prstGeom>
          <a:solidFill>
            <a:srgbClr val="FFFFFF">
              <a:alpha val="52000"/>
            </a:srgbClr>
          </a:solidFill>
          <a:ln w="12700">
            <a:solidFill>
              <a:srgbClr val="FFFFFF">
                <a:alpha val="90000"/>
              </a:srgbClr>
            </a:solidFill>
            <a:prstDash val="solid"/>
          </a:ln>
          <a:effectLst>
            <a:outerShdw sx="100000" sy="100000" kx="0" ky="0" algn="bl" rotWithShape="0" blurRad="381000" dist="152400" dir="5400000">
              <a:srgbClr val="2A2F6B">
                <a:alpha val="10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578559" y="2222541"/>
            <a:ext cx="1904970" cy="31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5A3FD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02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6578559" y="2641610"/>
            <a:ext cx="4572000" cy="4063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400" b="1" dirty="0">
                <a:solidFill>
                  <a:srgbClr val="1D214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Three experiments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6578559" y="3111520"/>
            <a:ext cx="4572000" cy="31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4B5173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N = 3,412 online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61970" y="4063959"/>
            <a:ext cx="5206959" cy="1904970"/>
          </a:xfrm>
          <a:prstGeom prst="roundRect">
            <a:avLst>
              <a:gd name="adj" fmla="val 12000"/>
            </a:avLst>
          </a:prstGeom>
          <a:solidFill>
            <a:srgbClr val="FFFFFF">
              <a:alpha val="52000"/>
            </a:srgbClr>
          </a:solidFill>
          <a:ln w="12700">
            <a:solidFill>
              <a:srgbClr val="FFFFFF">
                <a:alpha val="90000"/>
              </a:srgbClr>
            </a:solidFill>
            <a:prstDash val="solid"/>
          </a:ln>
          <a:effectLst>
            <a:outerShdw sx="100000" sy="100000" kx="0" ky="0" algn="bl" rotWithShape="0" blurRad="381000" dist="152400" dir="5400000">
              <a:srgbClr val="2A2F6B">
                <a:alpha val="10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1117580" y="4381530"/>
            <a:ext cx="1904970" cy="31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5A3FD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03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1117580" y="4800600"/>
            <a:ext cx="4572000" cy="4063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400" b="1" dirty="0">
                <a:solidFill>
                  <a:srgbClr val="1D214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What we found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1117580" y="5270510"/>
            <a:ext cx="4572000" cy="31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4B5173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Reasons raise advice-taking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223041" y="4063959"/>
            <a:ext cx="5206959" cy="1904970"/>
          </a:xfrm>
          <a:prstGeom prst="roundRect">
            <a:avLst>
              <a:gd name="adj" fmla="val 12000"/>
            </a:avLst>
          </a:prstGeom>
          <a:solidFill>
            <a:srgbClr val="FFFFFF">
              <a:alpha val="52000"/>
            </a:srgbClr>
          </a:solidFill>
          <a:ln w="12700">
            <a:solidFill>
              <a:srgbClr val="FFFFFF">
                <a:alpha val="90000"/>
              </a:srgbClr>
            </a:solidFill>
            <a:prstDash val="solid"/>
          </a:ln>
          <a:effectLst>
            <a:outerShdw sx="100000" sy="100000" kx="0" ky="0" algn="bl" rotWithShape="0" blurRad="381000" dist="152400" dir="5400000">
              <a:srgbClr val="2A2F6B">
                <a:alpha val="10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6578559" y="4381530"/>
            <a:ext cx="1904970" cy="31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5A3FD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04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6578559" y="4800600"/>
            <a:ext cx="4572000" cy="4063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400" b="1" dirty="0">
                <a:solidFill>
                  <a:srgbClr val="1D214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What it means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6578559" y="5270510"/>
            <a:ext cx="4572000" cy="31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4B5173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For design and policy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95041" y="6286500"/>
            <a:ext cx="634959" cy="2540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rgbClr val="6B7090"/>
                </a:solidFill>
                <a:latin typeface="Avenir Next"/>
                <a:ea typeface="Avenir Next"/>
                <a:cs typeface="Avenir Next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body" hasCustomPrompt="1"/>
          </p:nvPr>
        </p:nvSpPr>
        <p:spPr>
          <a:xfrm>
            <a:off x="1270010" y="1714500"/>
            <a:ext cx="3810030" cy="1270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000"/>
              </a:lnSpc>
              <a:buNone/>
            </a:pPr>
            <a:r>
              <a:rPr lang="en-US" sz="9000" b="1" dirty="0">
                <a:solidFill>
                  <a:srgbClr val="5A3FD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01</a:t>
            </a:r>
            <a:endParaRPr lang="en-US" sz="9000" dirty="0"/>
          </a:p>
        </p:txBody>
      </p:sp>
      <p:sp>
        <p:nvSpPr>
          <p:cNvPr id="3" name="Text 3"/>
          <p:cNvSpPr/>
          <p:nvPr>
            <p:ph idx="104" type="title" hasCustomPrompt="1"/>
          </p:nvPr>
        </p:nvSpPr>
        <p:spPr>
          <a:xfrm>
            <a:off x="1270010" y="3174980"/>
            <a:ext cx="6858000" cy="952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300"/>
              </a:lnSpc>
              <a:buNone/>
            </a:pPr>
            <a:r>
              <a:rPr lang="en-US" sz="6000" b="1" dirty="0">
                <a:solidFill>
                  <a:srgbClr val="1D214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The puzzle</a:t>
            </a:r>
            <a:endParaRPr lang="en-US" sz="6000" dirty="0"/>
          </a:p>
        </p:txBody>
      </p:sp>
      <p:sp>
        <p:nvSpPr>
          <p:cNvPr id="4" name="Text 3"/>
          <p:cNvSpPr/>
          <p:nvPr>
            <p:ph idx="105" type="body" hasCustomPrompt="1"/>
          </p:nvPr>
        </p:nvSpPr>
        <p:spPr>
          <a:xfrm>
            <a:off x="1270010" y="4317980"/>
            <a:ext cx="6349959" cy="6985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70"/>
              </a:lnSpc>
              <a:buNone/>
            </a:pPr>
            <a:r>
              <a:rPr lang="en-US" sz="1900" dirty="0">
                <a:solidFill>
                  <a:srgbClr val="4B5173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Why do people follow some algorithms and ignore others?</a:t>
            </a:r>
            <a:endParaRPr lang="en-US" sz="1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761970" y="698510"/>
            <a:ext cx="10668030" cy="8889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ts val="3456"/>
              </a:lnSpc>
              <a:buNone/>
            </a:pPr>
            <a:r>
              <a:rPr lang="en-US" sz="3200" b="1" dirty="0">
                <a:solidFill>
                  <a:srgbClr val="1D214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Two findings that don’t fit together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1143000" y="2286000"/>
            <a:ext cx="4444990" cy="254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spc="150" kern="0" dirty="0">
                <a:solidFill>
                  <a:srgbClr val="5A3FD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AVERSION</a:t>
            </a:r>
            <a:endParaRPr lang="en-US" sz="1200" dirty="0"/>
          </a:p>
        </p:txBody>
      </p:sp>
      <p:sp>
        <p:nvSpPr>
          <p:cNvPr id="4" name="Text 3"/>
          <p:cNvSpPr/>
          <p:nvPr>
            <p:ph idx="104" type="body" hasCustomPrompt="1"/>
          </p:nvPr>
        </p:nvSpPr>
        <p:spPr>
          <a:xfrm>
            <a:off x="1143000" y="2603480"/>
            <a:ext cx="4444990" cy="825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30"/>
              </a:lnSpc>
              <a:buNone/>
            </a:pPr>
            <a:r>
              <a:rPr lang="en-US" sz="2200" b="1" dirty="0">
                <a:solidFill>
                  <a:srgbClr val="1D214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People abandon algorithms after seeing them err</a:t>
            </a:r>
            <a:endParaRPr lang="en-US" sz="2200" dirty="0"/>
          </a:p>
        </p:txBody>
      </p:sp>
      <p:sp>
        <p:nvSpPr>
          <p:cNvPr id="5" name="Text 3"/>
          <p:cNvSpPr/>
          <p:nvPr>
            <p:ph idx="105" type="body" hasCustomPrompt="1"/>
          </p:nvPr>
        </p:nvSpPr>
        <p:spPr>
          <a:xfrm>
            <a:off x="1143000" y="3556010"/>
            <a:ext cx="4444990" cy="146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1"/>
              </a:lnSpc>
              <a:buNone/>
            </a:pPr>
            <a:r>
              <a:rPr lang="en-US" sz="1550" dirty="0">
                <a:solidFill>
                  <a:srgbClr val="4B5173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After watching a forecasting algorithm make mistakes, people chose it less often, even when it still outperformed a human forecaster.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5460980"/>
            <a:ext cx="4444990" cy="254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6B709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Dietvorst, Simmons &amp; Massey (2015)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603980" y="2286000"/>
            <a:ext cx="4444990" cy="254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spc="150" kern="0" dirty="0">
                <a:solidFill>
                  <a:srgbClr val="5A3FD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APPRECIATION</a:t>
            </a:r>
            <a:endParaRPr lang="en-US" sz="1200" dirty="0"/>
          </a:p>
        </p:txBody>
      </p:sp>
      <p:sp>
        <p:nvSpPr>
          <p:cNvPr id="8" name="Text 3"/>
          <p:cNvSpPr/>
          <p:nvPr>
            <p:ph idx="106" type="body" hasCustomPrompt="1"/>
          </p:nvPr>
        </p:nvSpPr>
        <p:spPr>
          <a:xfrm>
            <a:off x="6603980" y="2603480"/>
            <a:ext cx="4444990" cy="825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30"/>
              </a:lnSpc>
              <a:buNone/>
            </a:pPr>
            <a:r>
              <a:rPr lang="en-US" sz="2200" b="1" dirty="0">
                <a:solidFill>
                  <a:srgbClr val="1D214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People prefer algorithmic to human advice</a:t>
            </a:r>
            <a:endParaRPr lang="en-US" sz="2200" dirty="0"/>
          </a:p>
        </p:txBody>
      </p:sp>
      <p:sp>
        <p:nvSpPr>
          <p:cNvPr id="9" name="Text 3"/>
          <p:cNvSpPr/>
          <p:nvPr>
            <p:ph idx="107" type="body" hasCustomPrompt="1"/>
          </p:nvPr>
        </p:nvSpPr>
        <p:spPr>
          <a:xfrm>
            <a:off x="6603980" y="3556010"/>
            <a:ext cx="4444990" cy="146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1"/>
              </a:lnSpc>
              <a:buNone/>
            </a:pPr>
            <a:r>
              <a:rPr lang="en-US" sz="1550" dirty="0">
                <a:solidFill>
                  <a:srgbClr val="4B5173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In estimation and forecasting tasks, people weighted advice more when they thought it came from an algorithm than from a person.</a:t>
            </a:r>
            <a:endParaRPr lang="en-US" sz="1550" dirty="0"/>
          </a:p>
        </p:txBody>
      </p:sp>
      <p:sp>
        <p:nvSpPr>
          <p:cNvPr id="10" name="Text 8"/>
          <p:cNvSpPr txBox="1"/>
          <p:nvPr/>
        </p:nvSpPr>
        <p:spPr>
          <a:xfrm>
            <a:off x="6603980" y="5460980"/>
            <a:ext cx="4444990" cy="254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6B709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Logg, Minson &amp; Moore (2019)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95041" y="6286500"/>
            <a:ext cx="634959" cy="2540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rgbClr val="6B7090"/>
                </a:solidFill>
                <a:latin typeface="Avenir Next"/>
                <a:ea typeface="Avenir Next"/>
                <a:cs typeface="Avenir Next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4" type="title" hasCustomPrompt="1"/>
          </p:nvPr>
        </p:nvSpPr>
        <p:spPr>
          <a:xfrm>
            <a:off x="761970" y="698510"/>
            <a:ext cx="10668030" cy="8889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ts val="3456"/>
              </a:lnSpc>
              <a:buNone/>
            </a:pPr>
            <a:r>
              <a:rPr lang="en-US" sz="3200" b="1" dirty="0">
                <a:solidFill>
                  <a:srgbClr val="1D214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Our predictions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206459" y="2273290"/>
            <a:ext cx="609630" cy="609630"/>
          </a:xfrm>
          <a:prstGeom prst="ellipse">
            <a:avLst/>
          </a:prstGeom>
          <a:solidFill>
            <a:srgbClr val="5A3FD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206459" y="2273290"/>
            <a:ext cx="609630" cy="6096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H1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2158990" y="2095530"/>
            <a:ext cx="8762970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625"/>
              </a:lnSpc>
              <a:buNone/>
            </a:pPr>
            <a:r>
              <a:rPr lang="en-US" sz="2100" dirty="0">
                <a:solidFill>
                  <a:srgbClr val="1D214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Advice that explains its reasoning is followed more often.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1206459" y="3625870"/>
            <a:ext cx="609630" cy="609630"/>
          </a:xfrm>
          <a:prstGeom prst="ellipse">
            <a:avLst/>
          </a:prstGeom>
          <a:solidFill>
            <a:srgbClr val="5A3FD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206459" y="3625870"/>
            <a:ext cx="609630" cy="6096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H2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2158990" y="3448020"/>
            <a:ext cx="8762970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625"/>
              </a:lnSpc>
              <a:buNone/>
            </a:pPr>
            <a:r>
              <a:rPr lang="en-US" sz="2100" dirty="0">
                <a:solidFill>
                  <a:srgbClr val="1D214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 confidence score adds to the effect of the reasons.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1206459" y="4978359"/>
            <a:ext cx="609630" cy="609630"/>
          </a:xfrm>
          <a:prstGeom prst="ellipse">
            <a:avLst/>
          </a:prstGeom>
          <a:solidFill>
            <a:srgbClr val="5A3FD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206459" y="4978359"/>
            <a:ext cx="609630" cy="6096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H3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2158990" y="4800600"/>
            <a:ext cx="8762970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625"/>
              </a:lnSpc>
              <a:buNone/>
            </a:pPr>
            <a:r>
              <a:rPr lang="en-US" sz="2100" dirty="0">
                <a:solidFill>
                  <a:srgbClr val="1D214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The effect holds after people see the algorithm err.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95041" y="6286500"/>
            <a:ext cx="634959" cy="2540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rgbClr val="6B7090"/>
                </a:solidFill>
                <a:latin typeface="Avenir Next"/>
                <a:ea typeface="Avenir Next"/>
                <a:cs typeface="Avenir Next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761970" y="698510"/>
            <a:ext cx="10668030" cy="8889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ts val="3456"/>
              </a:lnSpc>
              <a:buNone/>
            </a:pPr>
            <a:r>
              <a:rPr lang="en-US" sz="3200" b="1" dirty="0">
                <a:solidFill>
                  <a:srgbClr val="1D214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How each session ran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761970" y="1714500"/>
            <a:ext cx="7619970" cy="31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4B5173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25 minutes in total, run online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61970" y="2413010"/>
            <a:ext cx="2476470" cy="2794041"/>
          </a:xfrm>
          <a:prstGeom prst="roundRect">
            <a:avLst>
              <a:gd name="adj" fmla="val 9231"/>
            </a:avLst>
          </a:prstGeom>
          <a:solidFill>
            <a:srgbClr val="FFFFFF">
              <a:alpha val="52000"/>
            </a:srgbClr>
          </a:solidFill>
          <a:ln w="12700">
            <a:solidFill>
              <a:srgbClr val="FFFFFF">
                <a:alpha val="90000"/>
              </a:srgbClr>
            </a:solidFill>
            <a:prstDash val="solid"/>
          </a:ln>
          <a:effectLst>
            <a:outerShdw sx="100000" sy="100000" kx="0" ky="0" algn="bl" rotWithShape="0" blurRad="381000" dist="152400" dir="5400000">
              <a:srgbClr val="2A2F6B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41410" y="2692359"/>
            <a:ext cx="533370" cy="533370"/>
          </a:xfrm>
          <a:prstGeom prst="ellipse">
            <a:avLst/>
          </a:prstGeom>
          <a:solidFill>
            <a:srgbClr val="5A3FD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41410" y="2692359"/>
            <a:ext cx="533370" cy="5333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041410" y="3479841"/>
            <a:ext cx="1968520" cy="1015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2"/>
              </a:lnSpc>
              <a:buNone/>
            </a:pPr>
            <a:r>
              <a:rPr lang="en-US" sz="1900" b="1" dirty="0">
                <a:solidFill>
                  <a:srgbClr val="1D214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Consent and demographics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1041410" y="4648170"/>
            <a:ext cx="952530" cy="330190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041410" y="4648170"/>
            <a:ext cx="952530" cy="330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5A3FD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2 min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92459" y="2413010"/>
            <a:ext cx="2476470" cy="2794041"/>
          </a:xfrm>
          <a:prstGeom prst="roundRect">
            <a:avLst>
              <a:gd name="adj" fmla="val 9231"/>
            </a:avLst>
          </a:prstGeom>
          <a:solidFill>
            <a:srgbClr val="FFFFFF">
              <a:alpha val="52000"/>
            </a:srgbClr>
          </a:solidFill>
          <a:ln w="12700">
            <a:solidFill>
              <a:srgbClr val="FFFFFF">
                <a:alpha val="90000"/>
              </a:srgbClr>
            </a:solidFill>
            <a:prstDash val="solid"/>
          </a:ln>
          <a:effectLst>
            <a:outerShdw sx="100000" sy="100000" kx="0" ky="0" algn="bl" rotWithShape="0" blurRad="381000" dist="152400" dir="5400000">
              <a:srgbClr val="2A2F6B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771900" y="2692359"/>
            <a:ext cx="533370" cy="533370"/>
          </a:xfrm>
          <a:prstGeom prst="ellipse">
            <a:avLst/>
          </a:prstGeom>
          <a:solidFill>
            <a:srgbClr val="5A3FD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771900" y="2692359"/>
            <a:ext cx="533370" cy="5333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3771900" y="3479841"/>
            <a:ext cx="1968520" cy="1015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2"/>
              </a:lnSpc>
              <a:buNone/>
            </a:pPr>
            <a:r>
              <a:rPr lang="en-US" sz="1900" b="1" dirty="0">
                <a:solidFill>
                  <a:srgbClr val="1D214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Practice trials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3771900" y="4648170"/>
            <a:ext cx="952530" cy="330190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3771900" y="4648170"/>
            <a:ext cx="952530" cy="330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5A3FD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5 min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23041" y="2413010"/>
            <a:ext cx="2476470" cy="2794041"/>
          </a:xfrm>
          <a:prstGeom prst="roundRect">
            <a:avLst>
              <a:gd name="adj" fmla="val 9231"/>
            </a:avLst>
          </a:prstGeom>
          <a:solidFill>
            <a:srgbClr val="FFFFFF">
              <a:alpha val="52000"/>
            </a:srgbClr>
          </a:solidFill>
          <a:ln w="12700">
            <a:solidFill>
              <a:srgbClr val="FFFFFF">
                <a:alpha val="90000"/>
              </a:srgbClr>
            </a:solidFill>
            <a:prstDash val="solid"/>
          </a:ln>
          <a:effectLst>
            <a:outerShdw sx="100000" sy="100000" kx="0" ky="0" algn="bl" rotWithShape="0" blurRad="381000" dist="152400" dir="5400000">
              <a:srgbClr val="2A2F6B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502390" y="2692359"/>
            <a:ext cx="533370" cy="533370"/>
          </a:xfrm>
          <a:prstGeom prst="ellipse">
            <a:avLst/>
          </a:prstGeom>
          <a:solidFill>
            <a:srgbClr val="5A3FD1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502390" y="2692359"/>
            <a:ext cx="533370" cy="5333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6502390" y="3479841"/>
            <a:ext cx="1968520" cy="1015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2"/>
              </a:lnSpc>
              <a:buNone/>
            </a:pPr>
            <a:r>
              <a:rPr lang="en-US" sz="1900" b="1" dirty="0">
                <a:solidFill>
                  <a:srgbClr val="1D214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Advice task, 24 trials</a:t>
            </a:r>
            <a:endParaRPr lang="en-US" sz="1900" dirty="0"/>
          </a:p>
        </p:txBody>
      </p:sp>
      <p:sp>
        <p:nvSpPr>
          <p:cNvPr id="20" name="Shape 18"/>
          <p:cNvSpPr/>
          <p:nvPr/>
        </p:nvSpPr>
        <p:spPr>
          <a:xfrm>
            <a:off x="6502390" y="4648170"/>
            <a:ext cx="952530" cy="330190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502390" y="4648170"/>
            <a:ext cx="952530" cy="330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5A3FD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15 min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8953530" y="2413010"/>
            <a:ext cx="2476470" cy="2794041"/>
          </a:xfrm>
          <a:prstGeom prst="roundRect">
            <a:avLst>
              <a:gd name="adj" fmla="val 9231"/>
            </a:avLst>
          </a:prstGeom>
          <a:solidFill>
            <a:srgbClr val="FFFFFF">
              <a:alpha val="52000"/>
            </a:srgbClr>
          </a:solidFill>
          <a:ln w="12700">
            <a:solidFill>
              <a:srgbClr val="FFFFFF">
                <a:alpha val="90000"/>
              </a:srgbClr>
            </a:solidFill>
            <a:prstDash val="solid"/>
          </a:ln>
          <a:effectLst>
            <a:outerShdw sx="100000" sy="100000" kx="0" ky="0" algn="bl" rotWithShape="0" blurRad="381000" dist="152400" dir="5400000">
              <a:srgbClr val="2A2F6B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232880" y="2692359"/>
            <a:ext cx="533370" cy="533370"/>
          </a:xfrm>
          <a:prstGeom prst="ellipse">
            <a:avLst/>
          </a:prstGeom>
          <a:solidFill>
            <a:srgbClr val="5A3FD1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232880" y="2692359"/>
            <a:ext cx="533370" cy="5333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4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9232880" y="3479841"/>
            <a:ext cx="1968520" cy="1015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2"/>
              </a:lnSpc>
              <a:buNone/>
            </a:pPr>
            <a:r>
              <a:rPr lang="en-US" sz="1900" b="1" dirty="0">
                <a:solidFill>
                  <a:srgbClr val="1D214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Debrief</a:t>
            </a:r>
            <a:endParaRPr lang="en-US" sz="1900" dirty="0"/>
          </a:p>
        </p:txBody>
      </p:sp>
      <p:sp>
        <p:nvSpPr>
          <p:cNvPr id="26" name="Shape 24"/>
          <p:cNvSpPr/>
          <p:nvPr/>
        </p:nvSpPr>
        <p:spPr>
          <a:xfrm>
            <a:off x="9232880" y="4648170"/>
            <a:ext cx="952530" cy="330190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9232880" y="4648170"/>
            <a:ext cx="952530" cy="330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5A3FD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3 min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95041" y="6286500"/>
            <a:ext cx="634959" cy="2540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rgbClr val="6B7090"/>
                </a:solidFill>
                <a:latin typeface="Avenir Next"/>
                <a:ea typeface="Avenir Next"/>
                <a:cs typeface="Avenir Next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761970" y="698510"/>
            <a:ext cx="10668030" cy="8889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ts val="3456"/>
              </a:lnSpc>
              <a:buNone/>
            </a:pPr>
            <a:r>
              <a:rPr lang="en-US" sz="3200" b="1" dirty="0">
                <a:solidFill>
                  <a:srgbClr val="1D214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What participants saw</a:t>
            </a:r>
            <a:endParaRPr lang="en-US" sz="3200" dirty="0"/>
          </a:p>
        </p:txBody>
      </p:sp>
      <p:pic>
        <p:nvPicPr>
          <p:cNvPr id="3" name="Image 0" descr="Advice screen from the study">    </p:cNvPr>
          <p:cNvPicPr>
            <a:picLocks noChangeAspect="1"/>
          </p:cNvPicPr>
          <p:nvPr>
            <p:ph idx="103" hasCustomPrompt="1"/>
          </p:nvPr>
        </p:nvPicPr>
        <p:blipFill>
          <a:blip r:embed="rId1"/>
          <a:srcRect l="0" r="0" t="0" b="0"/>
          <a:stretch/>
        </p:blipFill>
        <p:spPr>
          <a:xfrm>
            <a:off x="761970" y="1841510"/>
            <a:ext cx="7366041" cy="4140220"/>
          </a:xfrm>
          <a:prstGeom prst="roundRect">
            <a:avLst>
              <a:gd name="adj" fmla="val 4294"/>
            </a:avLst>
          </a:prstGeom>
          <a:ln w="38100">
            <a:solidFill>
              <a:srgbClr val="FFFFFF"/>
            </a:solidFill>
          </a:ln>
        </p:spPr>
      </p:pic>
      <p:sp>
        <p:nvSpPr>
          <p:cNvPr id="4" name="Text 1"/>
          <p:cNvSpPr txBox="1"/>
          <p:nvPr/>
        </p:nvSpPr>
        <p:spPr>
          <a:xfrm>
            <a:off x="8699510" y="2190720"/>
            <a:ext cx="2413010" cy="254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spc="150" kern="0" dirty="0">
                <a:solidFill>
                  <a:srgbClr val="5A3FD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FIGURE 2</a:t>
            </a:r>
            <a:endParaRPr lang="en-US" sz="1200" dirty="0"/>
          </a:p>
        </p:txBody>
      </p:sp>
      <p:sp>
        <p:nvSpPr>
          <p:cNvPr id="5" name="Text 2"/>
          <p:cNvSpPr/>
          <p:nvPr>
            <p:ph idx="104" type="body" hasCustomPrompt="1"/>
          </p:nvPr>
        </p:nvSpPr>
        <p:spPr>
          <a:xfrm>
            <a:off x="8699510" y="2571750"/>
            <a:ext cx="2413010" cy="3047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4B5173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The advice screen in the Reasons + confidence condition. On each trial, participants followed the recommendation or chose for themselves.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95041" y="6286500"/>
            <a:ext cx="634959" cy="2540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rgbClr val="6B7090"/>
                </a:solidFill>
                <a:latin typeface="Avenir Next"/>
                <a:ea typeface="Avenir Next"/>
                <a:cs typeface="Avenir Next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1206459" y="1587490"/>
            <a:ext cx="5587990" cy="2667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000"/>
              </a:lnSpc>
              <a:buNone/>
            </a:pPr>
            <a:r>
              <a:rPr lang="en-US" sz="17000" b="1" dirty="0">
                <a:solidFill>
                  <a:srgbClr val="5A3FD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68%</a:t>
            </a:r>
            <a:endParaRPr lang="en-US" sz="170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6730990" y="1904970"/>
            <a:ext cx="4317980" cy="16510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80"/>
              </a:lnSpc>
              <a:buNone/>
            </a:pPr>
            <a:r>
              <a:rPr lang="en-US" sz="2400" b="1" dirty="0">
                <a:solidFill>
                  <a:srgbClr val="1D214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of choices followed the algorithm when it explained its reasoning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6730990" y="3810030"/>
            <a:ext cx="4317980" cy="381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4B5173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vs 41% with no explanation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1206459" y="5080041"/>
            <a:ext cx="8889980" cy="254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6B709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Study 2, N = 1,204 · sample data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95041" y="6286500"/>
            <a:ext cx="634959" cy="2540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rgbClr val="6B7090"/>
                </a:solidFill>
                <a:latin typeface="Avenir Next"/>
                <a:ea typeface="Avenir Next"/>
                <a:cs typeface="Avenir Next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761970" y="698510"/>
            <a:ext cx="10668030" cy="8889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ts val="3456"/>
              </a:lnSpc>
              <a:buNone/>
            </a:pPr>
            <a:r>
              <a:rPr lang="en-US" sz="3200" b="1" dirty="0">
                <a:solidFill>
                  <a:srgbClr val="1D214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Each layer of explanation raised advice-taking</a:t>
            </a:r>
            <a:endParaRPr lang="en-US" sz="3200" dirty="0"/>
          </a:p>
        </p:txBody>
      </p:sp>
      <p:graphicFrame>
        <p:nvGraphicFramePr>
          <p:cNvPr id="3" name="Bar chart" descr=""/>
          <p:cNvGraphicFramePr/>
          <p:nvPr/>
        </p:nvGraphicFramePr>
        <p:xfrm>
          <a:off x="1524030" y="2158990"/>
          <a:ext cx="9144000" cy="330199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1524030" y="5587990"/>
            <a:ext cx="9144000" cy="254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6B709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% of trials on which the advice was followed · sample data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95041" y="6286500"/>
            <a:ext cx="634959" cy="2540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rgbClr val="6B7090"/>
                </a:solidFill>
                <a:latin typeface="Avenir Next"/>
                <a:ea typeface="Avenir Next"/>
                <a:cs typeface="Avenir Next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761970" y="698510"/>
            <a:ext cx="10668030" cy="8889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ts val="3456"/>
              </a:lnSpc>
              <a:buNone/>
            </a:pPr>
            <a:r>
              <a:rPr lang="en-US" sz="3200" b="1" dirty="0">
                <a:solidFill>
                  <a:srgbClr val="1D214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Mixed-effects logistic regression</a:t>
            </a:r>
            <a:endParaRPr lang="en-US" sz="3200" dirty="0"/>
          </a:p>
        </p:txBody>
      </p:sp>
      <p:graphicFrame>
        <p:nvGraphicFramePr>
          <p:cNvPr id="11" name="Results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270010" y="2222541"/>
          <a:ext cx="9652041" cy="914400"/>
        </p:xfrm>
        <a:graphic>
          <a:graphicData uri="http://schemas.openxmlformats.org/drawingml/2006/table">
            <a:tbl>
              <a:tblPr/>
              <a:tblGrid>
                <a:gridCol w="4826020"/>
                <a:gridCol w="1587490"/>
                <a:gridCol w="1587490"/>
                <a:gridCol w="1651041"/>
              </a:tblGrid>
              <a:tr h="53337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spc="100" kern="0" dirty="0">
                          <a:solidFill>
                            <a:srgbClr val="6B7090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PREDICTOR</a:t>
                      </a:r>
                      <a:endParaRPr lang="en-US" sz="12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101590" marR="10159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BFC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i="1" spc="100" kern="0" dirty="0">
                          <a:solidFill>
                            <a:srgbClr val="6B7090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b</a:t>
                      </a:r>
                      <a:endParaRPr lang="en-US" sz="12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101590" marR="10159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BFC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i="1" spc="100" kern="0" dirty="0">
                          <a:solidFill>
                            <a:srgbClr val="6B7090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SE</a:t>
                      </a:r>
                      <a:endParaRPr lang="en-US" sz="12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101590" marR="10159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BFC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i="1" spc="100" kern="0" dirty="0">
                          <a:solidFill>
                            <a:srgbClr val="6B7090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p</a:t>
                      </a:r>
                      <a:endParaRPr lang="en-US" sz="12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101590" marR="10159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BFC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3495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D2140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Reasons (vs none)</a:t>
                      </a:r>
                      <a:endParaRPr lang="en-US" sz="17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101590" marR="10159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700" dirty="0">
                          <a:solidFill>
                            <a:srgbClr val="1D2140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0.94</a:t>
                      </a:r>
                      <a:endParaRPr lang="en-US" sz="17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101590" marR="10159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700" dirty="0">
                          <a:solidFill>
                            <a:srgbClr val="1D2140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0.12</a:t>
                      </a:r>
                      <a:endParaRPr lang="en-US" sz="17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101590" marR="10159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700" dirty="0">
                          <a:solidFill>
                            <a:srgbClr val="1D2140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&lt; .001</a:t>
                      </a:r>
                      <a:endParaRPr lang="en-US" sz="17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101590" marR="10159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3495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D2140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Confidence score</a:t>
                      </a:r>
                      <a:endParaRPr lang="en-US" sz="17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101590" marR="10159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700" dirty="0">
                          <a:solidFill>
                            <a:srgbClr val="1D2140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0.41</a:t>
                      </a:r>
                      <a:endParaRPr lang="en-US" sz="17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101590" marR="10159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700" dirty="0">
                          <a:solidFill>
                            <a:srgbClr val="1D2140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0.11</a:t>
                      </a:r>
                      <a:endParaRPr lang="en-US" sz="17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101590" marR="10159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700" dirty="0">
                          <a:solidFill>
                            <a:srgbClr val="1D2140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&lt; .001</a:t>
                      </a:r>
                      <a:endParaRPr lang="en-US" sz="17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101590" marR="10159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3495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D2140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Reasons × confidence</a:t>
                      </a:r>
                      <a:endParaRPr lang="en-US" sz="17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101590" marR="10159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700" dirty="0">
                          <a:solidFill>
                            <a:srgbClr val="1D2140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0.18</a:t>
                      </a:r>
                      <a:endParaRPr lang="en-US" sz="17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101590" marR="10159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700" dirty="0">
                          <a:solidFill>
                            <a:srgbClr val="1D2140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0.15</a:t>
                      </a:r>
                      <a:endParaRPr lang="en-US" sz="17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101590" marR="10159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700" dirty="0">
                          <a:solidFill>
                            <a:srgbClr val="1D2140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.23</a:t>
                      </a:r>
                      <a:endParaRPr lang="en-US" sz="17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101590" marR="10159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3495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D2140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Error observed</a:t>
                      </a:r>
                      <a:endParaRPr lang="en-US" sz="17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101590" marR="10159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700" dirty="0">
                          <a:solidFill>
                            <a:srgbClr val="1D2140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−0.62</a:t>
                      </a:r>
                      <a:endParaRPr lang="en-US" sz="17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101590" marR="10159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700" dirty="0">
                          <a:solidFill>
                            <a:srgbClr val="1D2140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0.14</a:t>
                      </a:r>
                      <a:endParaRPr lang="en-US" sz="17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101590" marR="10159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700" dirty="0">
                          <a:solidFill>
                            <a:srgbClr val="1D2140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&lt; .001</a:t>
                      </a:r>
                      <a:endParaRPr lang="en-US" sz="17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101590" marR="10159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1270010" y="5460980"/>
            <a:ext cx="9652041" cy="254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6B709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Random intercepts for participants and items. Sample data.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95041" y="6286500"/>
            <a:ext cx="634959" cy="2540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rgbClr val="6B7090"/>
                </a:solidFill>
                <a:latin typeface="Avenir Next"/>
                <a:ea typeface="Avenir Next"/>
                <a:cs typeface="Avenir Next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body" hasCustomPrompt="1"/>
          </p:nvPr>
        </p:nvSpPr>
        <p:spPr>
          <a:xfrm>
            <a:off x="1904970" y="2730490"/>
            <a:ext cx="8382030" cy="1587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376"/>
              </a:lnSpc>
              <a:buNone/>
            </a:pPr>
            <a:r>
              <a:rPr lang="en-US" sz="4800" b="1" dirty="0">
                <a:solidFill>
                  <a:srgbClr val="1D214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I’d follow it if it told me why.</a:t>
            </a:r>
            <a:endParaRPr lang="en-US" sz="4800" dirty="0"/>
          </a:p>
        </p:txBody>
      </p:sp>
      <p:sp>
        <p:nvSpPr>
          <p:cNvPr id="3" name="Text 2"/>
          <p:cNvSpPr/>
          <p:nvPr>
            <p:ph idx="103" type="body" hasCustomPrompt="1"/>
          </p:nvPr>
        </p:nvSpPr>
        <p:spPr>
          <a:xfrm>
            <a:off x="1904970" y="4699010"/>
            <a:ext cx="8255020" cy="381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4B5173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— Participant 214, open response (sample)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95041" y="6286500"/>
            <a:ext cx="634959" cy="2540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rgbClr val="6B7090"/>
                </a:solidFill>
                <a:latin typeface="Avenir Next"/>
                <a:ea typeface="Avenir Next"/>
                <a:cs typeface="Avenir Next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761970" y="698510"/>
            <a:ext cx="10668030" cy="8889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ts val="3456"/>
              </a:lnSpc>
              <a:buNone/>
            </a:pPr>
            <a:r>
              <a:rPr lang="en-US" sz="3200" b="1" dirty="0">
                <a:solidFill>
                  <a:srgbClr val="1D214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References</a:t>
            </a:r>
            <a:endParaRPr lang="en-US" sz="3200" dirty="0"/>
          </a:p>
        </p:txBody>
      </p:sp>
      <p:sp>
        <p:nvSpPr>
          <p:cNvPr id="3" name="Text 2"/>
          <p:cNvSpPr/>
          <p:nvPr>
            <p:ph idx="103" type="body" hasCustomPrompt="1"/>
          </p:nvPr>
        </p:nvSpPr>
        <p:spPr>
          <a:xfrm>
            <a:off x="1270010" y="2222541"/>
            <a:ext cx="9652041" cy="3556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-304800" marL="304800">
              <a:lnSpc>
                <a:spcPts val="1917"/>
              </a:lnSpc>
              <a:spcAft>
                <a:spcPts val="1300"/>
              </a:spcAft>
              <a:buNone/>
            </a:pPr>
            <a:r>
              <a:rPr lang="en-US" sz="1350" dirty="0">
                <a:solidFill>
                  <a:srgbClr val="1D214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Burton, J. W., Stein, M.-K., &amp; Jensen, T. B. (2020). </a:t>
            </a:r>
            <a:r>
              <a:rPr lang="en-US" sz="1350" dirty="0">
                <a:solidFill>
                  <a:srgbClr val="1D214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 systematic review of algorithm aversion in augmented decision making. </a:t>
            </a:r>
            <a:r>
              <a:rPr lang="en-US" sz="1350" i="1" dirty="0">
                <a:solidFill>
                  <a:srgbClr val="1D214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Journal of Behavioral Decision Making, 33</a:t>
            </a:r>
            <a:r>
              <a:rPr lang="en-US" sz="1350" dirty="0">
                <a:solidFill>
                  <a:srgbClr val="1D214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(2), 220–239.</a:t>
            </a:r>
            <a:endParaRPr lang="en-US" sz="1350" dirty="0"/>
          </a:p>
          <a:p>
            <a:pPr algn="l" indent="-304800" marL="304800">
              <a:lnSpc>
                <a:spcPts val="1917"/>
              </a:lnSpc>
              <a:spcAft>
                <a:spcPts val="1300"/>
              </a:spcAft>
              <a:buNone/>
            </a:pPr>
            <a:r>
              <a:rPr lang="en-US" sz="1350" dirty="0">
                <a:solidFill>
                  <a:srgbClr val="1D214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Castelo, N., Bos, M. W., &amp; Lehmann, D. R. (2019). </a:t>
            </a:r>
            <a:r>
              <a:rPr lang="en-US" sz="1350" dirty="0">
                <a:solidFill>
                  <a:srgbClr val="1D214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Task-dependent algorithm aversion. </a:t>
            </a:r>
            <a:r>
              <a:rPr lang="en-US" sz="1350" i="1" dirty="0">
                <a:solidFill>
                  <a:srgbClr val="1D214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Journal of Marketing Research, 56</a:t>
            </a:r>
            <a:r>
              <a:rPr lang="en-US" sz="1350" dirty="0">
                <a:solidFill>
                  <a:srgbClr val="1D214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(5), 809–825.</a:t>
            </a:r>
            <a:endParaRPr lang="en-US" sz="1350" dirty="0"/>
          </a:p>
          <a:p>
            <a:pPr algn="l" indent="-304800" marL="304800">
              <a:lnSpc>
                <a:spcPts val="1917"/>
              </a:lnSpc>
              <a:spcAft>
                <a:spcPts val="1300"/>
              </a:spcAft>
              <a:buNone/>
            </a:pPr>
            <a:r>
              <a:rPr lang="en-US" sz="1350" dirty="0">
                <a:solidFill>
                  <a:srgbClr val="1D214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Dietvorst, B. J., Simmons, J. P., &amp; Massey, C. (2015). </a:t>
            </a:r>
            <a:r>
              <a:rPr lang="en-US" sz="1350" dirty="0">
                <a:solidFill>
                  <a:srgbClr val="1D214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Algorithm aversion: People erroneously avoid algorithms after seeing them err. </a:t>
            </a:r>
            <a:r>
              <a:rPr lang="en-US" sz="1350" i="1" dirty="0">
                <a:solidFill>
                  <a:srgbClr val="1D214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Journal of Experimental Psychology: General, 144</a:t>
            </a:r>
            <a:r>
              <a:rPr lang="en-US" sz="1350" dirty="0">
                <a:solidFill>
                  <a:srgbClr val="1D214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(1), 114–126.</a:t>
            </a:r>
            <a:endParaRPr lang="en-US" sz="1350" dirty="0"/>
          </a:p>
          <a:p>
            <a:pPr algn="l" indent="-304800" marL="304800">
              <a:lnSpc>
                <a:spcPts val="1917"/>
              </a:lnSpc>
              <a:spcAft>
                <a:spcPts val="1300"/>
              </a:spcAft>
              <a:buNone/>
            </a:pPr>
            <a:r>
              <a:rPr lang="en-US" sz="1350" dirty="0">
                <a:solidFill>
                  <a:srgbClr val="1D214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Logg, J. M., Minson, J. A., &amp; Moore, D. A. (2019). </a:t>
            </a:r>
            <a:r>
              <a:rPr lang="en-US" sz="1350" dirty="0">
                <a:solidFill>
                  <a:srgbClr val="1D214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Algorithm appreciation: People prefer algorithmic to human judgment. </a:t>
            </a:r>
            <a:r>
              <a:rPr lang="en-US" sz="1350" i="1" dirty="0">
                <a:solidFill>
                  <a:srgbClr val="1D214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Organizational Behavior and Human Decision Processes, 151</a:t>
            </a:r>
            <a:r>
              <a:rPr lang="en-US" sz="1350" dirty="0">
                <a:solidFill>
                  <a:srgbClr val="1D214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, 90–103.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95041" y="6286500"/>
            <a:ext cx="634959" cy="2540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rgbClr val="6B7090"/>
                </a:solidFill>
                <a:latin typeface="Avenir Next"/>
                <a:ea typeface="Avenir Next"/>
                <a:cs typeface="Avenir Next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1270010" y="1587490"/>
            <a:ext cx="609603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350"/>
              </a:lnSpc>
              <a:buNone/>
            </a:pPr>
            <a:r>
              <a:rPr lang="en-US" sz="7000" b="1" dirty="0">
                <a:solidFill>
                  <a:srgbClr val="1D214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Thank you</a:t>
            </a:r>
            <a:endParaRPr lang="en-US" sz="7000" dirty="0"/>
          </a:p>
        </p:txBody>
      </p:sp>
      <p:sp>
        <p:nvSpPr>
          <p:cNvPr id="3" name="Text 3"/>
          <p:cNvSpPr/>
          <p:nvPr>
            <p:ph idx="104" type="body" hasCustomPrompt="1"/>
          </p:nvPr>
        </p:nvSpPr>
        <p:spPr>
          <a:xfrm>
            <a:off x="1270010" y="2857500"/>
            <a:ext cx="5715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5A3FD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Questions?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270010" y="3810030"/>
            <a:ext cx="6096030" cy="0"/>
          </a:xfrm>
          <a:prstGeom prst="line">
            <a:avLst/>
          </a:prstGeom>
          <a:noFill/>
          <a:ln w="12700">
            <a:solidFill>
              <a:srgbClr val="FFFFFF">
                <a:alpha val="9500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270010" y="4063959"/>
            <a:ext cx="1904970" cy="254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b="1" spc="150" kern="0" dirty="0">
                <a:solidFill>
                  <a:srgbClr val="6B709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EMAIL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1270010" y="4343400"/>
            <a:ext cx="5715000" cy="355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dirty="0">
                <a:solidFill>
                  <a:srgbClr val="1D214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speaker@university.edu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270010" y="4889480"/>
            <a:ext cx="1904970" cy="254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b="1" spc="150" kern="0" dirty="0">
                <a:solidFill>
                  <a:srgbClr val="6B709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WEB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1270010" y="5168920"/>
            <a:ext cx="5715000" cy="355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dirty="0">
                <a:solidFill>
                  <a:srgbClr val="1D214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yourlab.org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iquid Glass">
  <a:themeElements>
    <a:clrScheme name="Liquid Glass">
      <a:dk1>
        <a:srgbClr val="1D2140"/>
      </a:dk1>
      <a:lt1>
        <a:srgbClr val="FFFFFF"/>
      </a:lt1>
      <a:dk2>
        <a:srgbClr val="4B5173"/>
      </a:dk2>
      <a:lt2>
        <a:srgbClr val="F1EEFB"/>
      </a:lt2>
      <a:accent1>
        <a:srgbClr val="5A3FD1"/>
      </a:accent1>
      <a:accent2>
        <a:srgbClr val="8370E6"/>
      </a:accent2>
      <a:accent3>
        <a:srgbClr val="F29BBE"/>
      </a:accent3>
      <a:accent4>
        <a:srgbClr val="7DB8E8"/>
      </a:accent4>
      <a:accent5>
        <a:srgbClr val="7CC99A"/>
      </a:accent5>
      <a:accent6>
        <a:srgbClr val="F3B48C"/>
      </a:accent6>
      <a:hlink>
        <a:srgbClr val="5A3FD1"/>
      </a:hlink>
      <a:folHlink>
        <a:srgbClr val="8370E6"/>
      </a:folHlink>
    </a:clrScheme>
    <a:fontScheme name="Liquid Glass">
      <a:majorFont>
        <a:latin typeface="Avenir Nex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venir Next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Liquid Glass template</dc:title>
  <dc:subject>PptxGenJS Presentation</dc:subject>
  <dc:creator>Template</dc:creator>
  <cp:lastModifiedBy>Template</cp:lastModifiedBy>
  <cp:revision>1</cp:revision>
  <dcterms:created xsi:type="dcterms:W3CDTF">2026-10-18T17:11:12Z</dcterms:created>
  <dcterms:modified xsi:type="dcterms:W3CDTF">2026-10-18T17:11:12Z</dcterms:modified>
</cp:coreProperties>
</file>
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ac361cc-cda1-4eb6-abb1-88013eb99b51}">
          <p14:sldIdLst>
            <p14:sldId id="256"/>
            <p14:sldId id="257"/>
          </p14:sldIdLst>
        </p14:section>
        <p14:section name="Background" id="{6ce25a9e-7254-80b7-2b50-30780db2bbb5}">
          <p14:sldIdLst>
            <p14:sldId id="258"/>
            <p14:sldId id="259"/>
            <p14:sldId id="260"/>
          </p14:sldIdLst>
        </p14:section>
        <p14:section name="Method" id="{2cd42c71-8c66-a5a4-55ab-86f96c5a637e}">
          <p14:sldIdLst>
            <p14:sldId id="261"/>
            <p14:sldId id="262"/>
          </p14:sldIdLst>
        </p14:section>
        <p14:section name="Results" id="{0a6055d2-0848-deb2-1907-487eedeb51e3}">
          <p14:sldIdLst>
            <p14:sldId id="263"/>
            <p14:sldId id="264"/>
            <p14:sldId id="265"/>
            <p14:sldId id="266"/>
          </p14:sldIdLst>
        </p14:section>
        <p14:section name="Close" id="{f0accb5d-edd4-e510-27c1-351ceeab81d9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11228070175438597"/>
          <c:w val="1"/>
          <c:h val="0.72982456140350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8A857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1C1B19"/>
                    </a:solidFill>
                    <a:latin typeface="Baskervill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5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857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857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33A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 explanation</c:v>
                  </c:pt>
                  <c:pt idx="1">
                    <c:v>Confidence score</c:v>
                  </c:pt>
                  <c:pt idx="2">
                    <c:v>Reasons</c:v>
                  </c:pt>
                  <c:pt idx="3">
                    <c:v>Reasons + confidence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52</c:v>
                </c:pt>
                <c:pt idx="2">
                  <c:v>63</c:v>
                </c:pt>
                <c:pt idx="3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2000" u="none">
                  <a:solidFill>
                    <a:srgbClr val="1C1B19"/>
                  </a:solidFill>
                  <a:latin typeface="Baskervill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1C1B19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7534C"/>
                </a:solidFill>
                <a:latin typeface="Optim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Agenda-image-1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Agenda-image-1.jpe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image" Target="../media/Agenda-image-1.jpe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Agenda-image-1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ssets/ink/ens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23041" y="888980"/>
            <a:ext cx="5080041" cy="5080041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15990" y="1270010"/>
            <a:ext cx="5080041" cy="2286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320"/>
              </a:lnSpc>
              <a:buNone/>
              <a:defRPr lang="en-US" sz="1100" spc="250" kern="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defRPr>
            </a:lvl1pPr>
          </a:lstStyle>
          <a:p>
            <a:pPr algn="l" indent="0" marL="0">
              <a:lnSpc>
                <a:spcPts val="1320"/>
              </a:lnSpc>
              <a:buNone/>
            </a:pPr>
            <a:r>
              <a:rPr lang="en-US" sz="1100" spc="250" kern="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EVENT · YEAR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1015990" y="1777959"/>
            <a:ext cx="4953030" cy="25400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5750"/>
              </a:lnSpc>
              <a:buNone/>
              <a:defRPr lang="en-US" sz="46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5750"/>
              </a:lnSpc>
              <a:buNone/>
            </a:pPr>
            <a:r>
              <a:rPr lang="en-US" sz="46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Talk title</a:t>
            </a:r>
            <a:endParaRPr lang="en-US" sz="4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1015990" y="4508541"/>
            <a:ext cx="4953030" cy="6985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480"/>
              </a:lnSpc>
              <a:buNone/>
              <a:defRPr lang="en-US" sz="16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defRPr>
            </a:lvl1pPr>
          </a:lstStyle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Subtitle</a:t>
            </a:r>
            <a:endParaRPr lang="en-US" sz="1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1015990" y="5587990"/>
            <a:ext cx="5715000" cy="634959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145"/>
              </a:lnSpc>
              <a:buNone/>
              <a:defRPr lang="en-US" sz="13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defRPr>
            </a:lvl1pPr>
          </a:lstStyle>
          <a:p>
            <a:pPr algn="l"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Speaker name</a:t>
            </a:r>
            <a:endParaRPr lang="en-US" sz="130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Affiliation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5400000">
            <a:off x="9842510" y="3314700"/>
            <a:ext cx="381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spc="300" kern="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015990" y="761970"/>
            <a:ext cx="952503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4000"/>
              </a:lnSpc>
              <a:buNone/>
              <a:def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ssets/ink/ens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5990" y="1524030"/>
            <a:ext cx="3810030" cy="38100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5400000">
            <a:off x="9842510" y="3314700"/>
            <a:ext cx="381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spc="300" kern="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015990" y="1524030"/>
            <a:ext cx="3810030" cy="381003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ctr" indent="0" marL="0">
              <a:lnSpc>
                <a:spcPts val="9000"/>
              </a:lnSpc>
              <a:buNone/>
              <a:defRPr lang="en-US" sz="7500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ctr" indent="0" marL="0">
              <a:lnSpc>
                <a:spcPts val="9000"/>
              </a:lnSpc>
              <a:buNone/>
            </a:pPr>
            <a:r>
              <a:rPr lang="en-US" sz="7500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01</a:t>
            </a:r>
            <a:endParaRPr lang="en-US" sz="75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587990" y="1904970"/>
            <a:ext cx="5460980" cy="1777959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6325"/>
              </a:lnSpc>
              <a:buNone/>
              <a:defRPr lang="en-US" sz="55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6325"/>
              </a:lnSpc>
              <a:buNone/>
            </a:pPr>
            <a:r>
              <a:rPr lang="en-US" sz="55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Section title</a:t>
            </a:r>
            <a:endParaRPr lang="en-US" sz="55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587990" y="3873490"/>
            <a:ext cx="546098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790"/>
              </a:lnSpc>
              <a:buNone/>
              <a:defRPr lang="en-US" sz="18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defRPr>
            </a:lvl1pPr>
          </a:lstStyle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What this part answers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5400000">
            <a:off x="9842510" y="3314700"/>
            <a:ext cx="381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spc="300" kern="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096030" y="2286000"/>
            <a:ext cx="0" cy="355601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1015990" y="761970"/>
            <a:ext cx="952503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4000"/>
              </a:lnSpc>
              <a:buNone/>
              <a:def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1015990" y="2635209"/>
            <a:ext cx="4572000" cy="9525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904"/>
              </a:lnSpc>
              <a:buNone/>
              <a:defRPr lang="en-US" sz="2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2904"/>
              </a:lnSpc>
              <a:buNone/>
            </a:pPr>
            <a:r>
              <a:rPr lang="en-US" sz="2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Column heading</a:t>
            </a:r>
            <a:endParaRPr lang="en-US" sz="22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1015990" y="3810030"/>
            <a:ext cx="4572000" cy="16510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380"/>
              </a:lnSpc>
              <a:buNone/>
              <a:def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defRPr>
            </a:lvl1pPr>
          </a:lstStyle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Column text</a:t>
            </a:r>
            <a:endParaRPr lang="en-US" sz="14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6603980" y="2635209"/>
            <a:ext cx="4572000" cy="9525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904"/>
              </a:lnSpc>
              <a:buNone/>
              <a:defRPr lang="en-US" sz="2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2904"/>
              </a:lnSpc>
              <a:buNone/>
            </a:pPr>
            <a:r>
              <a:rPr lang="en-US" sz="2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Column heading</a:t>
            </a:r>
            <a:endParaRPr lang="en-US" sz="22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6603980" y="3810030"/>
            <a:ext cx="4572000" cy="16510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380"/>
              </a:lnSpc>
              <a:buNone/>
              <a:def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defRPr>
            </a:lvl1pPr>
          </a:lstStyle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Column text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5400000">
            <a:off x="9842510" y="3314700"/>
            <a:ext cx="381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spc="300" kern="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015990" y="761970"/>
            <a:ext cx="952503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4000"/>
              </a:lnSpc>
              <a:buNone/>
              <a:def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5400000">
            <a:off x="9842510" y="3314700"/>
            <a:ext cx="381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spc="300" kern="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015990" y="761970"/>
            <a:ext cx="952503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4000"/>
              </a:lnSpc>
              <a:buNone/>
              <a:def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5400000">
            <a:off x="9842510" y="3314700"/>
            <a:ext cx="381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spc="300" kern="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015990" y="761970"/>
            <a:ext cx="952503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4000"/>
              </a:lnSpc>
              <a:buNone/>
              <a:def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4" name="Text 1"/>
          <p:cNvSpPr/>
          <p:nvPr>
            <p:ph idx="102" hasCustomPrompt="1"/>
          </p:nvPr>
        </p:nvSpPr>
        <p:spPr>
          <a:xfrm>
            <a:off x="1015990" y="2158990"/>
            <a:ext cx="6603980" cy="3714750"/>
          </a:xfrm>
          <a:prstGeom prst="rect">
            <a:avLst/>
          </a:prstGeom>
          <a:noFill/>
          <a:ln w="12700">
            <a:solidFill>
              <a:srgbClr val="57534C"/>
            </a:solidFill>
          </a:ln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128010" y="2540020"/>
            <a:ext cx="3047970" cy="330199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380"/>
              </a:lnSpc>
              <a:buNone/>
              <a:def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defRPr>
            </a:lvl1pPr>
          </a:lstStyle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Caption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5400000">
            <a:off x="9842510" y="3314700"/>
            <a:ext cx="381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spc="300" kern="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1015990" y="1777959"/>
            <a:ext cx="5715000" cy="228600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15000"/>
              </a:lnSpc>
              <a:buNone/>
              <a:defRPr lang="en-US" sz="150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15000"/>
              </a:lnSpc>
              <a:buNone/>
            </a:pPr>
            <a:r>
              <a:rPr lang="en-US" sz="150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68%</a:t>
            </a:r>
            <a:endParaRPr lang="en-US" sz="15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985010" y="2031980"/>
            <a:ext cx="4063959" cy="1777959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3190"/>
              </a:lnSpc>
              <a:buNone/>
              <a:defRPr lang="en-US" sz="2200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3190"/>
              </a:lnSpc>
              <a:buNone/>
            </a:pPr>
            <a:r>
              <a:rPr lang="en-US" sz="2200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What the number means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5400000">
            <a:off x="9842510" y="3314700"/>
            <a:ext cx="381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spc="300" kern="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015990" y="761970"/>
            <a:ext cx="952503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3625"/>
              </a:lnSpc>
              <a:buNone/>
              <a:defRPr lang="en-US" sz="29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3625"/>
              </a:lnSpc>
              <a:buNone/>
            </a:pPr>
            <a:r>
              <a:rPr lang="en-US" sz="29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Slide title</a:t>
            </a:r>
            <a:endParaRPr lang="en-US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5400000">
            <a:off x="9842510" y="3314700"/>
            <a:ext cx="381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spc="300" kern="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015990" y="761970"/>
            <a:ext cx="952503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4000"/>
              </a:lnSpc>
              <a:buNone/>
              <a:def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5400000">
            <a:off x="9842510" y="3314700"/>
            <a:ext cx="381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spc="300" kern="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1015990" y="2286000"/>
            <a:ext cx="9525030" cy="203198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6250"/>
              </a:lnSpc>
              <a:buNone/>
              <a:defRPr lang="en-US" sz="5000" i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6250"/>
              </a:lnSpc>
              <a:buNone/>
            </a:pPr>
            <a:r>
              <a:rPr lang="en-US" sz="5000" i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Quote</a:t>
            </a:r>
            <a:endParaRPr lang="en-US" sz="5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015990" y="4889480"/>
            <a:ext cx="8889980" cy="2794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680"/>
              </a:lnSpc>
              <a:buNone/>
              <a:def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defRPr>
            </a:lvl1pPr>
          </a:lstStyle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Source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5400000">
            <a:off x="9842510" y="3314700"/>
            <a:ext cx="381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spc="300" kern="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TRUST IN ALGORITHMIC ADVICE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015990" y="761970"/>
            <a:ext cx="952503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4000"/>
              </a:lnSpc>
              <a:buNone/>
              <a:def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015990" y="2158990"/>
            <a:ext cx="10159990" cy="39370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-330200" marL="330200">
              <a:lnSpc>
                <a:spcPts val="2080"/>
              </a:lnSpc>
              <a:spcAft>
                <a:spcPts val="1100"/>
              </a:spcAft>
              <a:buNone/>
              <a:defRPr lang="en-US" sz="1300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defRPr>
            </a:lvl1pPr>
          </a:lstStyle>
          <a:p>
            <a:pPr algn="l" indent="0" marL="0">
              <a:lnSpc>
                <a:spcPts val="208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Author, A. (Year). Title. Journal, Volume(Issue), pages.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ssets/ink/ens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23041" y="888980"/>
            <a:ext cx="5080041" cy="5080041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15990" y="2095530"/>
            <a:ext cx="5080041" cy="127001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7150"/>
              </a:lnSpc>
              <a:buNone/>
              <a:defRPr lang="en-US" sz="65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7150"/>
              </a:lnSpc>
              <a:buNone/>
            </a:pPr>
            <a:r>
              <a:rPr lang="en-US" sz="65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Thank you</a:t>
            </a:r>
            <a:endParaRPr lang="en-US" sz="6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15990" y="3556010"/>
            <a:ext cx="5080041" cy="571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60"/>
              </a:lnSpc>
              <a:buNone/>
              <a:defRPr lang="en-US" sz="2800" dirty="0">
                <a:solidFill>
                  <a:srgbClr val="57534C"/>
                </a:solidFill>
                <a:latin typeface="Baskerville" pitchFamily="34" charset="0"/>
                <a:ea typeface="Hiragino Mincho ProN"/>
                <a:cs typeface="Baskerville" pitchFamily="34" charset="-120"/>
              </a:defRPr>
            </a:lvl1pPr>
          </a:lstStyle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57534C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1015990" y="1270010"/>
            <a:ext cx="50800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spc="250" kern="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CONFERENCE NAME · 2026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1015990" y="1777959"/>
            <a:ext cx="4953030" cy="254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46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When do people trust an algorithm?</a:t>
            </a:r>
            <a:endParaRPr lang="en-US" sz="46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1015990" y="4508541"/>
            <a:ext cx="495303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Three online experiments on explanations and advice-taking</a:t>
            </a:r>
            <a:endParaRPr lang="en-US" sz="16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1015990" y="5587990"/>
            <a:ext cx="571500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300" b="1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Speaker Name</a:t>
            </a:r>
            <a:endParaRPr lang="en-US" sz="130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3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Department of Psychology, University Name</a:t>
            </a:r>
            <a:endParaRPr lang="en-US" sz="1300" dirty="0"/>
          </a:p>
        </p:txBody>
      </p:sp>
      <p:pic>
        <p:nvPicPr>
          <p:cNvPr id="6" name="Seal" descr="Seal reading 信, trus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470" y="5016490"/>
            <a:ext cx="761970" cy="7619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15990" y="761970"/>
            <a:ext cx="952503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Today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15990" y="2158990"/>
            <a:ext cx="88898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8A857C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031980" y="2158990"/>
            <a:ext cx="546098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The puzzle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66041" y="2158990"/>
            <a:ext cx="381003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Aversion and appreciation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15990" y="2984510"/>
            <a:ext cx="10159990" cy="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5990" y="3111520"/>
            <a:ext cx="88898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8A857C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031980" y="3111520"/>
            <a:ext cx="546098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Three experiments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66041" y="3111520"/>
            <a:ext cx="381003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N = 3,412 online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15990" y="3937041"/>
            <a:ext cx="10159990" cy="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15990" y="4063959"/>
            <a:ext cx="88898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8A857C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031980" y="4063959"/>
            <a:ext cx="546098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What we found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366041" y="4063959"/>
            <a:ext cx="381003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Reasons raise advice-taking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15990" y="4889480"/>
            <a:ext cx="10159990" cy="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15990" y="5016490"/>
            <a:ext cx="88898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8A857C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2031980" y="5016490"/>
            <a:ext cx="546098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What it means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366041" y="5016490"/>
            <a:ext cx="381003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For design and policy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15990" y="5842010"/>
            <a:ext cx="10159990" cy="0"/>
          </a:xfrm>
          <a:prstGeom prst="line">
            <a:avLst/>
          </a:prstGeom>
          <a:noFill/>
          <a:ln w="12700">
            <a:solidFill>
              <a:srgbClr val="D6D1C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1015990" y="1524030"/>
            <a:ext cx="3810030" cy="381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0"/>
              </a:lnSpc>
              <a:buNone/>
            </a:pPr>
            <a:r>
              <a:rPr lang="en-US" sz="7500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01</a:t>
            </a:r>
            <a:endParaRPr lang="en-US" sz="75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587990" y="1904970"/>
            <a:ext cx="5460980" cy="17779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325"/>
              </a:lnSpc>
              <a:buNone/>
            </a:pPr>
            <a:r>
              <a:rPr lang="en-US" sz="55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The puzzle</a:t>
            </a:r>
            <a:endParaRPr lang="en-US" sz="55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587990" y="3873490"/>
            <a:ext cx="546098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Why do people follow some algorithms and ignore others?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015990" y="761970"/>
            <a:ext cx="952503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Two findings that don’t fit together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15990" y="2286000"/>
            <a:ext cx="444499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50" kern="0" dirty="0">
                <a:solidFill>
                  <a:srgbClr val="B33A2E"/>
                </a:solidFill>
                <a:latin typeface="Optima" pitchFamily="34" charset="0"/>
                <a:ea typeface="Hiragino Sans"/>
                <a:cs typeface="Optima" pitchFamily="34" charset="-120"/>
              </a:rPr>
              <a:t>AVERSION</a:t>
            </a:r>
            <a:endParaRPr lang="en-US" sz="11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1015990" y="2635209"/>
            <a:ext cx="457200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People abandon algorithms after seeing them err</a:t>
            </a:r>
            <a:endParaRPr lang="en-US" sz="22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1015990" y="3810030"/>
            <a:ext cx="4572000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After watching a forecasting algorithm make mistakes, people chose it less often, even when it still outperformed a human forecaster.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15990" y="5587990"/>
            <a:ext cx="45720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Dietvorst, Simmons &amp; Massey (2015)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603980" y="2286000"/>
            <a:ext cx="444499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250" kern="0" dirty="0">
                <a:solidFill>
                  <a:srgbClr val="B33A2E"/>
                </a:solidFill>
                <a:latin typeface="Optima" pitchFamily="34" charset="0"/>
                <a:ea typeface="Hiragino Sans"/>
                <a:cs typeface="Optima" pitchFamily="34" charset="-120"/>
              </a:rPr>
              <a:t>APPRECIATION</a:t>
            </a:r>
            <a:endParaRPr lang="en-US" sz="1100" dirty="0"/>
          </a:p>
        </p:txBody>
      </p:sp>
      <p:sp>
        <p:nvSpPr>
          <p:cNvPr id="8" name="Text 2"/>
          <p:cNvSpPr/>
          <p:nvPr>
            <p:ph idx="105" type="body" hasCustomPrompt="1"/>
          </p:nvPr>
        </p:nvSpPr>
        <p:spPr>
          <a:xfrm>
            <a:off x="6603980" y="2635209"/>
            <a:ext cx="457200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People prefer algorithmic to human advice</a:t>
            </a:r>
            <a:endParaRPr lang="en-US" sz="2200" dirty="0"/>
          </a:p>
        </p:txBody>
      </p:sp>
      <p:sp>
        <p:nvSpPr>
          <p:cNvPr id="9" name="Text 2"/>
          <p:cNvSpPr/>
          <p:nvPr>
            <p:ph idx="106" type="body" hasCustomPrompt="1"/>
          </p:nvPr>
        </p:nvSpPr>
        <p:spPr>
          <a:xfrm>
            <a:off x="6603980" y="3810030"/>
            <a:ext cx="4572000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In estimation and forecasting tasks, people weighted advice more when they thought it came from an algorithm than from a person.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03980" y="5587990"/>
            <a:ext cx="45720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Logg, Minson &amp; Moore (2019)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15990" y="761970"/>
            <a:ext cx="952503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Our predictions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5990" y="2286000"/>
            <a:ext cx="609630" cy="609630"/>
          </a:xfrm>
          <a:prstGeom prst="roundRect">
            <a:avLst>
              <a:gd name="adj" fmla="val 6255"/>
            </a:avLst>
          </a:prstGeom>
          <a:solidFill>
            <a:srgbClr val="B33A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15990" y="2286000"/>
            <a:ext cx="6096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F0EB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H1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968520" y="2222541"/>
            <a:ext cx="914400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Advice that explains its reasoning is followed more often.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5990" y="3492459"/>
            <a:ext cx="609630" cy="609630"/>
          </a:xfrm>
          <a:prstGeom prst="roundRect">
            <a:avLst>
              <a:gd name="adj" fmla="val 6255"/>
            </a:avLst>
          </a:prstGeom>
          <a:solidFill>
            <a:srgbClr val="B33A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5990" y="3492459"/>
            <a:ext cx="6096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F0EB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H2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968520" y="3429000"/>
            <a:ext cx="914400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A confidence score adds to the effect of the reasons.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15990" y="4699010"/>
            <a:ext cx="609630" cy="609630"/>
          </a:xfrm>
          <a:prstGeom prst="roundRect">
            <a:avLst>
              <a:gd name="adj" fmla="val 6255"/>
            </a:avLst>
          </a:prstGeom>
          <a:solidFill>
            <a:srgbClr val="B33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5990" y="4699010"/>
            <a:ext cx="6096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F0EB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H3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968520" y="4635459"/>
            <a:ext cx="914400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The effect holds after people see the algorithm err.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15990" y="761970"/>
            <a:ext cx="952503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How each session ran</a:t>
            </a:r>
            <a:endParaRPr lang="en-US" sz="3200" dirty="0"/>
          </a:p>
        </p:txBody>
      </p:sp>
      <p:pic>
        <p:nvPicPr>
          <p:cNvPr id="3" name="Image 0" descr="/home/claude/tpl/assets/ink/ru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5990" y="3251241"/>
            <a:ext cx="10159990" cy="3556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15990" y="2286000"/>
            <a:ext cx="190497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8A857C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1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1015990" y="3873490"/>
            <a:ext cx="241301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Consent and demographics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015990" y="4762470"/>
            <a:ext cx="241301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2 min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683020" y="2286000"/>
            <a:ext cx="190497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8A857C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2</a:t>
            </a:r>
            <a:endParaRPr lang="en-US" sz="5200" dirty="0"/>
          </a:p>
        </p:txBody>
      </p:sp>
      <p:sp>
        <p:nvSpPr>
          <p:cNvPr id="8" name="Text 5"/>
          <p:cNvSpPr txBox="1"/>
          <p:nvPr/>
        </p:nvSpPr>
        <p:spPr>
          <a:xfrm>
            <a:off x="3683020" y="3873490"/>
            <a:ext cx="241301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Practice trials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683020" y="4762470"/>
            <a:ext cx="241301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5 min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349959" y="2286000"/>
            <a:ext cx="190497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B33A2E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3</a:t>
            </a:r>
            <a:endParaRPr lang="en-US" sz="5200" dirty="0"/>
          </a:p>
        </p:txBody>
      </p:sp>
      <p:sp>
        <p:nvSpPr>
          <p:cNvPr id="11" name="Text 8"/>
          <p:cNvSpPr txBox="1"/>
          <p:nvPr/>
        </p:nvSpPr>
        <p:spPr>
          <a:xfrm>
            <a:off x="6349959" y="3873490"/>
            <a:ext cx="241301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Advice task, 24 trials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349959" y="4762470"/>
            <a:ext cx="241301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15 min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016990" y="2286000"/>
            <a:ext cx="190497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8A857C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4</a:t>
            </a:r>
            <a:endParaRPr lang="en-US" sz="5200" dirty="0"/>
          </a:p>
        </p:txBody>
      </p:sp>
      <p:sp>
        <p:nvSpPr>
          <p:cNvPr id="14" name="Text 11"/>
          <p:cNvSpPr txBox="1"/>
          <p:nvPr/>
        </p:nvSpPr>
        <p:spPr>
          <a:xfrm>
            <a:off x="9016990" y="3873490"/>
            <a:ext cx="241301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Debrief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016990" y="4762470"/>
            <a:ext cx="241301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3 min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15990" y="761970"/>
            <a:ext cx="952503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What participants saw</a:t>
            </a:r>
            <a:endParaRPr lang="en-US" sz="3200" dirty="0"/>
          </a:p>
        </p:txBody>
      </p:sp>
      <p:pic>
        <p:nvPicPr>
          <p:cNvPr id="3" name="Image 0" descr="Advice screen from the study">    </p:cNvPr>
          <p:cNvPicPr>
            <a:picLocks noChangeAspect="1"/>
          </p:cNvPicPr>
          <p:nvPr>
            <p:ph idx="102" hasCustomPrompt="1"/>
          </p:nvPr>
        </p:nvPicPr>
        <p:blipFill>
          <a:blip r:embed="rId1"/>
          <a:srcRect l="0" r="0" t="0" b="0"/>
          <a:stretch/>
        </p:blipFill>
        <p:spPr>
          <a:xfrm>
            <a:off x="1015990" y="2158990"/>
            <a:ext cx="6603980" cy="3714750"/>
          </a:xfrm>
          <a:prstGeom prst="rect">
            <a:avLst/>
          </a:prstGeom>
          <a:ln w="12700">
            <a:solidFill>
              <a:srgbClr val="57534C"/>
            </a:solidFill>
          </a:ln>
        </p:spPr>
      </p:pic>
      <p:sp>
        <p:nvSpPr>
          <p:cNvPr id="4" name="Text 1"/>
          <p:cNvSpPr txBox="1"/>
          <p:nvPr/>
        </p:nvSpPr>
        <p:spPr>
          <a:xfrm>
            <a:off x="8128010" y="2158990"/>
            <a:ext cx="3047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Figure 2</a:t>
            </a:r>
            <a:endParaRPr lang="en-US" sz="15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128010" y="2540020"/>
            <a:ext cx="3047970" cy="330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The advice screen in the Reasons + confidence condition. On each trial, participants followed the recommendation or chose for themselves.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15990" y="1777959"/>
            <a:ext cx="5715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68%</a:t>
            </a:r>
            <a:endParaRPr lang="en-US" sz="15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985010" y="2031980"/>
            <a:ext cx="4063959" cy="1777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200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of choices followed the algorithm when it explained its reasoning</a:t>
            </a:r>
            <a:endParaRPr lang="en-US" sz="2200" dirty="0"/>
          </a:p>
        </p:txBody>
      </p:sp>
      <p:pic>
        <p:nvPicPr>
          <p:cNvPr id="4" name="Image 0" descr="/home/claude/tpl/assets/ink/ru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5990" y="4381530"/>
            <a:ext cx="5715000" cy="203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15990" y="4826020"/>
            <a:ext cx="76199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vs 41% with no explanation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015990" y="571500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Study 2, N = 1,204 · sample data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15990" y="761970"/>
            <a:ext cx="952503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625"/>
              </a:lnSpc>
              <a:buNone/>
            </a:pPr>
            <a:r>
              <a:rPr lang="en-US" sz="29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Each layer of explanation raised advice-taking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1015990" y="1968520"/>
            <a:ext cx="8889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% of trials on which the advice was followed</a:t>
            </a:r>
            <a:endParaRPr lang="en-US" sz="1200" dirty="0"/>
          </a:p>
        </p:txBody>
      </p:sp>
      <p:graphicFrame>
        <p:nvGraphicFramePr>
          <p:cNvPr id="4" name="Bar chart" descr=""/>
          <p:cNvGraphicFramePr/>
          <p:nvPr/>
        </p:nvGraphicFramePr>
        <p:xfrm>
          <a:off x="1015990" y="2349459"/>
          <a:ext cx="10159990" cy="361947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15990" y="761970"/>
            <a:ext cx="952503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Mixed-effects logistic regression</a:t>
            </a:r>
            <a:endParaRPr lang="en-US" sz="3200" dirty="0"/>
          </a:p>
        </p:txBody>
      </p:sp>
      <p:graphicFrame>
        <p:nvGraphicFramePr>
          <p:cNvPr id="11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5990" y="2222541"/>
          <a:ext cx="10159990" cy="914400"/>
        </p:xfrm>
        <a:graphic>
          <a:graphicData uri="http://schemas.openxmlformats.org/drawingml/2006/table">
            <a:tbl>
              <a:tblPr/>
              <a:tblGrid>
                <a:gridCol w="5206959"/>
                <a:gridCol w="1651041"/>
                <a:gridCol w="1651041"/>
                <a:gridCol w="1651041"/>
              </a:tblGrid>
              <a:tr h="508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7534C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Predictor</a:t>
                      </a:r>
                      <a:endParaRPr lang="en-US" sz="12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C1B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B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57534C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b</a:t>
                      </a:r>
                      <a:endParaRPr lang="en-US" sz="12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C1B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B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57534C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SE</a:t>
                      </a:r>
                      <a:endParaRPr lang="en-US" sz="12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C1B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B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57534C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p</a:t>
                      </a:r>
                      <a:endParaRPr lang="en-US" sz="12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C1B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B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C1B19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Reasons (vs none)</a:t>
                      </a:r>
                      <a:endParaRPr lang="en-US" sz="16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C1B19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0.94</a:t>
                      </a:r>
                      <a:endParaRPr lang="en-US" sz="16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C1B19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0.12</a:t>
                      </a:r>
                      <a:endParaRPr lang="en-US" sz="16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C1B19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&lt; .001</a:t>
                      </a:r>
                      <a:endParaRPr lang="en-US" sz="16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34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C1B19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Confidence score</a:t>
                      </a:r>
                      <a:endParaRPr lang="en-US" sz="16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C1B19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0.41</a:t>
                      </a:r>
                      <a:endParaRPr lang="en-US" sz="16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C1B19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0.11</a:t>
                      </a:r>
                      <a:endParaRPr lang="en-US" sz="16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C1B19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&lt; .001</a:t>
                      </a:r>
                      <a:endParaRPr lang="en-US" sz="16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34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C1B19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Reasons × confidence</a:t>
                      </a:r>
                      <a:endParaRPr lang="en-US" sz="16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C1B19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0.18</a:t>
                      </a:r>
                      <a:endParaRPr lang="en-US" sz="16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C1B19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0.15</a:t>
                      </a:r>
                      <a:endParaRPr lang="en-US" sz="16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C1B19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.23</a:t>
                      </a:r>
                      <a:endParaRPr lang="en-US" sz="16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349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C1B19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Error observed</a:t>
                      </a:r>
                      <a:endParaRPr lang="en-US" sz="16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C1B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C1B19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−0.62</a:t>
                      </a:r>
                      <a:endParaRPr lang="en-US" sz="16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C1B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C1B19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0.14</a:t>
                      </a:r>
                      <a:endParaRPr lang="en-US" sz="16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C1B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C1B19"/>
                          </a:solidFill>
                          <a:latin typeface="Optima" pitchFamily="34" charset="0"/>
                          <a:ea typeface="Hiragino Sans"/>
                          <a:cs typeface="Optima" pitchFamily="34" charset="-120"/>
                        </a:rPr>
                        <a:t>&lt; .001</a:t>
                      </a:r>
                      <a:endParaRPr lang="en-US" sz="1600" dirty="0">
                        <a:latin typeface="Optima" charset="0"/>
                        <a:ea typeface="Hiragino Sans"/>
                        <a:cs typeface="Optima" charset="0"/>
                      </a:endParaRPr>
                    </a:p>
                  </a:txBody>
                  <a:tcPr marL="127010" marR="12701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C1B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015990" y="5460980"/>
            <a:ext cx="1015999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Random intercepts for participants and items. Sample data.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15990" y="2286000"/>
            <a:ext cx="9525030" cy="203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250"/>
              </a:lnSpc>
              <a:buNone/>
            </a:pPr>
            <a:r>
              <a:rPr lang="en-US" sz="5000" i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I’d follow it if it told me why.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015990" y="4673590"/>
            <a:ext cx="634959" cy="0"/>
          </a:xfrm>
          <a:prstGeom prst="line">
            <a:avLst/>
          </a:prstGeom>
          <a:noFill/>
          <a:ln w="19050">
            <a:solidFill>
              <a:srgbClr val="B33A2E"/>
            </a:solidFill>
            <a:prstDash val="solid"/>
          </a:ln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015990" y="4889480"/>
            <a:ext cx="888998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Participant 214, open response (sample)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15990" y="761970"/>
            <a:ext cx="952503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1015990" y="2158990"/>
            <a:ext cx="10159990" cy="393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-330200" marL="330200">
              <a:lnSpc>
                <a:spcPts val="208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Burton, J. W., Stein, M.-K., &amp; Jensen, T. B. (2020). </a:t>
            </a:r>
            <a:r>
              <a:rPr lang="en-US" sz="1300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A systematic review of algorithm aversion in augmented decision making. </a:t>
            </a:r>
            <a:r>
              <a:rPr lang="en-US" sz="1300" i="1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Journal of Behavioral Decision Making, 33</a:t>
            </a:r>
            <a:r>
              <a:rPr lang="en-US" sz="1300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(2), 220–239.</a:t>
            </a:r>
            <a:endParaRPr lang="en-US" sz="1300" dirty="0"/>
          </a:p>
          <a:p>
            <a:pPr algn="l" indent="-330200" marL="330200">
              <a:lnSpc>
                <a:spcPts val="208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Castelo, N., Bos, M. W., &amp; Lehmann, D. R. (2019). </a:t>
            </a:r>
            <a:r>
              <a:rPr lang="en-US" sz="1300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Task-dependent algorithm aversion. </a:t>
            </a:r>
            <a:r>
              <a:rPr lang="en-US" sz="1300" i="1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Journal of Marketing Research, 56</a:t>
            </a:r>
            <a:r>
              <a:rPr lang="en-US" sz="1300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(5), 809–825.</a:t>
            </a:r>
            <a:endParaRPr lang="en-US" sz="1300" dirty="0"/>
          </a:p>
          <a:p>
            <a:pPr algn="l" indent="-330200" marL="330200">
              <a:lnSpc>
                <a:spcPts val="208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Dietvorst, B. J., Simmons, J. P., &amp; Massey, C. (2015). </a:t>
            </a:r>
            <a:r>
              <a:rPr lang="en-US" sz="1300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Algorithm aversion: People erroneously avoid algorithms after seeing them err. </a:t>
            </a:r>
            <a:r>
              <a:rPr lang="en-US" sz="1300" i="1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Journal of Experimental Psychology: General, 144</a:t>
            </a:r>
            <a:r>
              <a:rPr lang="en-US" sz="1300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(1), 114–126.</a:t>
            </a:r>
            <a:endParaRPr lang="en-US" sz="1300" dirty="0"/>
          </a:p>
          <a:p>
            <a:pPr algn="l" indent="-330200" marL="330200">
              <a:lnSpc>
                <a:spcPts val="208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Logg, J. M., Minson, J. A., &amp; Moore, D. A. (2019). </a:t>
            </a:r>
            <a:r>
              <a:rPr lang="en-US" sz="1300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Algorithm appreciation: People prefer algorithmic to human judgment. </a:t>
            </a:r>
            <a:r>
              <a:rPr lang="en-US" sz="1300" i="1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Organizational Behavior and Human Decision Processes, 151</a:t>
            </a:r>
            <a:r>
              <a:rPr lang="en-US" sz="1300" dirty="0">
                <a:solidFill>
                  <a:srgbClr val="1C1B19"/>
                </a:solidFill>
                <a:latin typeface="Optima" pitchFamily="34" charset="0"/>
                <a:ea typeface="Hiragino Sans"/>
                <a:cs typeface="Optima" pitchFamily="34" charset="-120"/>
              </a:rPr>
              <a:t>, 90–103.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93459" y="5715000"/>
            <a:ext cx="508041" cy="2540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00">
                <a:solidFill>
                  <a:srgbClr val="57534C"/>
                </a:solidFill>
                <a:latin typeface="Baskerville"/>
                <a:ea typeface="Hiragino Mincho ProN"/>
                <a:cs typeface="Baskerville"/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15990" y="2095530"/>
            <a:ext cx="5080041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7150"/>
              </a:lnSpc>
              <a:buNone/>
            </a:pPr>
            <a:r>
              <a:rPr lang="en-US" sz="6500" b="1" dirty="0">
                <a:solidFill>
                  <a:srgbClr val="1C1B19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Thank you</a:t>
            </a:r>
            <a:endParaRPr lang="en-US" sz="65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015990" y="3556010"/>
            <a:ext cx="508004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57534C"/>
                </a:solidFill>
                <a:latin typeface="Baskerville" pitchFamily="34" charset="0"/>
                <a:ea typeface="Hiragino Mincho ProN"/>
                <a:cs typeface="Baskerville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15990" y="5460980"/>
            <a:ext cx="5080041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speaker@university.edu</a:t>
            </a:r>
            <a:endParaRPr lang="en-US" sz="1400" dirty="0"/>
          </a:p>
          <a:p>
            <a:pPr algn="l" indent="0" marL="0">
              <a:lnSpc>
                <a:spcPts val="2310"/>
              </a:lnSpc>
              <a:buNone/>
            </a:pPr>
            <a:r>
              <a:rPr lang="en-US" sz="1400" dirty="0">
                <a:solidFill>
                  <a:srgbClr val="57534C"/>
                </a:solidFill>
                <a:latin typeface="Optima" pitchFamily="34" charset="0"/>
                <a:ea typeface="Hiragino Sans"/>
                <a:cs typeface="Optima" pitchFamily="34" charset="-120"/>
              </a:rPr>
              <a:t>yourlab.org</a:t>
            </a:r>
            <a:endParaRPr lang="en-US" sz="1400" dirty="0"/>
          </a:p>
        </p:txBody>
      </p:sp>
      <p:pic>
        <p:nvPicPr>
          <p:cNvPr id="5" name="Seal" descr="Seal reading 信, trus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470" y="5016490"/>
            <a:ext cx="761970" cy="7619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k &amp; Paper">
  <a:themeElements>
    <a:clrScheme name="Ink &amp; Paper">
      <a:dk1>
        <a:srgbClr val="1C1B19"/>
      </a:dk1>
      <a:lt1>
        <a:srgbClr val="F2F0EB"/>
      </a:lt1>
      <a:dk2>
        <a:srgbClr val="57534C"/>
      </a:dk2>
      <a:lt2>
        <a:srgbClr val="E6E2D9"/>
      </a:lt2>
      <a:accent1>
        <a:srgbClr val="B33A2E"/>
      </a:accent1>
      <a:accent2>
        <a:srgbClr val="57534C"/>
      </a:accent2>
      <a:accent3>
        <a:srgbClr val="8A857C"/>
      </a:accent3>
      <a:accent4>
        <a:srgbClr val="4A6B5D"/>
      </a:accent4>
      <a:accent5>
        <a:srgbClr val="2E4A62"/>
      </a:accent5>
      <a:accent6>
        <a:srgbClr val="C9A227"/>
      </a:accent6>
      <a:hlink>
        <a:srgbClr val="2E4A62"/>
      </a:hlink>
      <a:folHlink>
        <a:srgbClr val="57534C"/>
      </a:folHlink>
    </a:clrScheme>
    <a:fontScheme name="Ink &amp; Paper">
      <a:majorFont>
        <a:latin typeface="Baskervil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ti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 &amp; Paper template</dc:title>
  <dc:subject>PptxGenJS Presentation</dc:subject>
  <dc:creator>Template</dc:creator>
  <cp:lastModifiedBy>Template</cp:lastModifiedBy>
  <cp:revision>1</cp:revision>
  <dcterms:created xsi:type="dcterms:W3CDTF">2026-10-18T17:10:44Z</dcterms:created>
  <dcterms:modified xsi:type="dcterms:W3CDTF">2026-10-18T17:10:44Z</dcterms:modified>
</cp:coreProperties>
</file>